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0" i="0" u="none" strike="noStrike">
                <a:solidFill>
                  <a:srgbClr val="E8EDF8"/>
                </a:solidFill>
                <a:latin typeface="Arial"/>
              </a:defRPr>
            </a:pPr>
            <a:r>
              <a:rPr sz="1200" b="0" i="0" u="none" strike="noStrike">
                <a:solidFill>
                  <a:srgbClr val="E8EDF8"/>
                </a:solidFill>
                <a:latin typeface="Arial"/>
              </a:rPr>
              <a:t>Transaction Status Distribution</a:t>
            </a:r>
          </a:p>
        </c:rich>
      </c:tx>
      <c:layout/>
      <c:overlay val="0"/>
    </c:title>
    <c:autoTitleDeleted val="0"/>
    <c:plotArea>
      <c:layout/>
      <c:barChart>
        <c:barDir val="bar"/>
        <c:grouping val="clustered"/>
        <c:varyColors val="0"/>
        <c:ser>
          <c:idx val="0"/>
          <c:order val="0"/>
          <c:tx>
            <c:strRef>
              <c:f>Sheet1!$B$1</c:f>
              <c:strCache>
                <c:ptCount val="1"/>
                <c:pt idx="0">
                  <c:v>Count</c:v>
                </c:pt>
              </c:strCache>
            </c:strRef>
          </c:tx>
          <c:spPr>
            <a:solidFill>
              <a:srgbClr val="22C55E"/>
            </a:solidFill>
            <a:effectLst/>
          </c:spPr>
          <c:invertIfNegative val="0"/>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22C55E"/>
              </a:solidFill>
              <a:effectLst/>
            </c:spPr>
          </c:dPt>
          <c:dPt>
            <c:idx val="1"/>
            <c:invertIfNegative val="0"/>
            <c:bubble3D val="0"/>
            <c:spPr>
              <a:solidFill>
                <a:srgbClr val="EF4444"/>
              </a:solidFill>
              <a:effectLst/>
            </c:spPr>
          </c:dPt>
          <c:dPt>
            <c:idx val="2"/>
            <c:invertIfNegative val="0"/>
            <c:bubble3D val="0"/>
            <c:spPr>
              <a:solidFill>
                <a:srgbClr val="F59E0B"/>
              </a:solidFill>
              <a:effectLst/>
            </c:spPr>
          </c:dPt>
          <c:dPt>
            <c:idx val="3"/>
            <c:invertIfNegative val="0"/>
            <c:bubble3D val="0"/>
            <c:spPr>
              <a:solidFill>
                <a:srgbClr val="8096C4"/>
              </a:solidFill>
              <a:effectLst/>
            </c:spPr>
          </c:dPt>
          <c:cat>
            <c:multiLvlStrRef>
              <c:f>Sheet1!$A$2:$A$5</c:f>
              <c:multiLvlStrCache>
                <c:ptCount val="4"/>
                <c:lvl>
                  <c:pt idx="0">
                    <c:v>success
8,015</c:v>
                  </c:pt>
                  <c:pt idx="1">
                    <c:v>failed
982</c:v>
                  </c:pt>
                  <c:pt idx="2">
                    <c:v>flagged
711</c:v>
                  </c:pt>
                  <c:pt idx="3">
                    <c:v>reversed
337</c:v>
                  </c:pt>
                </c:lvl>
              </c:multiLvlStrCache>
            </c:multiLvlStrRef>
          </c:cat>
          <c:val>
            <c:numRef>
              <c:f>Sheet1!$B$2:$B$5</c:f>
              <c:numCache>
                <c:formatCode>General</c:formatCode>
                <c:ptCount val="4"/>
                <c:pt idx="0">
                  <c:v>8015</c:v>
                </c:pt>
                <c:pt idx="1">
                  <c:v>982</c:v>
                </c:pt>
                <c:pt idx="2">
                  <c:v>711</c:v>
                </c:pt>
                <c:pt idx="3">
                  <c:v>337</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8096C4"/>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E3F9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8096C4"/>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253080"/>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implements a production-architecture payment gateway from first principles — not a tutorial clone, but a system designed against real payment engineering constraints. In the next 15 minutes I'll walk through the problem, the architecture decisions, the AI layer, the operations dashboard, and the measured results. Every number you'll see is from a running system, not a mockup.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has three dimensions. First, correctness — payment systems must never lose money, double-charge, or produce inconsistent ledger state. Second, intelligence — fraud rules written in 2018 don't catch 2026 patterns; AI must be in the loop. Third, operations — support teams waste hours on questions a knowledge base could answer in seconds. The explicit scope boundary: we build the architecture and demonstrate it works; full production hardening is a defined 180-hour roadmap, not a hidden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use these three columns as the organising frame for the rest of the talk. Correctness comes first — the payment domain doesn't care how clever the AI is if a wallet can go negative or a transaction can be double-charged. Intelligence is layered on top: the fraud engine works with zero network calls and upgrades to LLM explanations when available. Operability is how we demonstrate the system is real — everything runs, everything is observable, and a reviewer can reproduce it in 10 minutes from a clean checkout.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what's not here: no Kubernetes, no service mesh, no cloud-managed databases. This is the correct MVP trade-off. The same domain boundaries, API contracts, and database schemas that work in this five-container Compose stack work in a 14-service Kubernetes deployment. ADR-005 records the exact revisit trigger: when the team exceeds 2 engineers or sustained load exceeds 10 RPS.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architectural decision in the project. A modular monolith is the correct starting point when team size and load don't justify 14 separate deployments. The hexagonal structure inside each package ensures that when payment becomes its own service, the domain logic moves unchanged; only the infrastructure adapters are rewritten.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are worth pausing on. First, the Money type: it raises a TypeError if you pass a float. There's no way to accidentally use float money in this codebase. Second, the deliberate absence of a foreign key from ledger.entries.transaction_id to core.transactions. If I add that constraint today, moving the ledger to its own Postgres cluster requires a migration. Leaving it off means the move is operational — change a connection string, update one config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path slowly. The idempotency pre-check at step 2 is critical: if the client sends the same Idempotency-Key twice, we return the cached response before touching the wallet or ledger. The state machine is enforced at the service layer — the database ENUM enforces the valid set of values, but the service is the source of truth for valid transitions. 19 illegal transitions are tested, all blocked. Failed transactions skip the ledger entirely — post-seed SQL verification across all 10,045 rows confirmed 0 imbalanced entries.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design principle is the separation between Tier 1 and Tier 2. Tier 1 cannot fail — 15 synchronous pure functions with no external I/O. The fraud decision is always available in under 1ms. Tier 2 is best-effort enrichment with a 3-second timeout. The llm_used field in every response tells the caller which path was taken. The evidence dictionary — each rule hit returns the raw values that triggered it — is the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embedding model produces 1536-dimensional unit-normalised vectors. Cosine similarity 1-(embedding&lt;=&gt;query_vec) returns values in [0,1]. The HNSW index makes ANN queries take 1-3ms for 48 chunks. The bug: initial implementation used &lt;#&gt; (negative inner product) instead of &lt;=&gt;. For unit-normalised vectors, &lt;#&gt; returns the negative cosine similarity, so 1-&lt;#&gt; gave values in [1,2]. The score normaliser clamped everything to 1.0. Found because we tested the output contract, not just the happy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React 18 with TypeScript strict mode and zero new npm dependencies beyond React and React DOM. Every number is from a live API call — no mocks. The risk spine encodes fraud risk in the structure, not the content. The Score now button calls POST /v1/fraud/score in real time. The loading skeleton uses shimmer animation while the API call is in-flight. Build: 164KB JS, 52KB gzipped, tsc --noEmit: 0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Python service runs a depends_on with a healthcheck condition — the API services won't start until Postgres and Redis are actually accepting connections. The Containerfiles are multi-stage: Node.js build then nginx serve for the frontend. The nginx config has SSE-safe proxy settings — proxy_buffering off, proxy_cache off, Connection empty — important for streaming responses in future phases.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are from 50 sequential calls on a 4-CPU 16GB RAM laptop running Podman Compose. The important figure is fraud scoring latency: under 1ms for the deterministic rule engine. The LLM explanation adds 350-700ms but never blocks the decision. POST /v1/payments at P99 90ms includes 4 sequential Postgres round-trips — the correctness cost. The ledger invariant check is a full SQL scan across all 10,045 transactions confirming zero imbalanced entries.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direct. Payment logic, API design, and AI pipeline are complete and correct. The gaps are infrastructure and security concerns requiring operational decisions beyond a capstone: which identity provider, which cloud, which compliance framework. None are surprises — every one is documented with the exact revisit trigger. Authentication is the most critical gap — a known 3 engineering-day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phase sequencing is deliberate. Phase 1 is a hard gate — before any real money flows, JWT authentication and secrets management must be in place. The critical message on the second callout: none of these phases require restructuring the codebase. Each adds a layer around existing code. The hexagonal architecture was designed with this in mind — route handlers, service layer, repositories, and domain models are unchanged when you add a JWT middleware in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architectural choice is a trade-off. On AI costs: fraud scoring is free — deterministic rules cost nothing per request. The LLM explanation adds ~$0.0002 per transaction. At 1 million transactions per day that's $200/day, which is why the tiered routing strategy matters. On payment latency: the 35ms P50 is the cost of correctness — those 4 Postgres round-trips can't be parallelised without compromising the invariant. On vector storage: pgvector is the right call at 48 chunks. ADR-009 trigger is explicit — 1 million embeddings or P95 over 50ms.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also the recovery plan. Each segment is self-contained — if the frontend has an issue, demonstrate from the API docs. If Azure OpenAI is unconfigured, narrate it as designed-in graceful degradation. Pre-warm the fraud endpoint before the demo starts — the first FastAPI call after container startup can be slightly slower.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 roadmap is a sequenced engineering plan with estimated effort, documented in PRODUCTION_READINESS.md. Total: approximately 180 engineer-hours, 4.5 weeks for a two-person team. Every item can be applied without restructuring the codebase. A capstone that hides its gaps is less impressive than one that identifies them precisely and explains the path to closing them.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45000"/>
          </a:blip>
          <a:stretch>
            <a:fillRect/>
          </a:stretch>
        </p:blipFill>
        <p:spPr>
          <a:xfrm>
            <a:off x="274320" y="182880"/>
            <a:ext cx="822960" cy="822960"/>
          </a:xfrm>
          <a:prstGeom prst="rect">
            <a:avLst/>
          </a:prstGeom>
        </p:spPr>
      </p:pic>
      <p:pic>
        <p:nvPicPr>
          <p:cNvPr id="3" name="Image 1" descr="preencoded.png">    </p:cNvPr>
          <p:cNvPicPr>
            <a:picLocks noChangeAspect="1"/>
          </p:cNvPicPr>
          <p:nvPr/>
        </p:nvPicPr>
        <p:blipFill>
          <a:blip r:embed="rId2">
            <a:alphaModFix amt="45000"/>
          </a:blip>
          <a:stretch>
            <a:fillRect/>
          </a:stretch>
        </p:blipFill>
        <p:spPr>
          <a:xfrm>
            <a:off x="8046720" y="274320"/>
            <a:ext cx="822960" cy="822960"/>
          </a:xfrm>
          <a:prstGeom prst="rect">
            <a:avLst/>
          </a:prstGeom>
        </p:spPr>
      </p:pic>
      <p:pic>
        <p:nvPicPr>
          <p:cNvPr id="4" name="Image 2" descr="preencoded.png">    </p:cNvPr>
          <p:cNvPicPr>
            <a:picLocks noChangeAspect="1"/>
          </p:cNvPicPr>
          <p:nvPr/>
        </p:nvPicPr>
        <p:blipFill>
          <a:blip r:embed="rId3">
            <a:alphaModFix amt="45000"/>
          </a:blip>
          <a:stretch>
            <a:fillRect/>
          </a:stretch>
        </p:blipFill>
        <p:spPr>
          <a:xfrm>
            <a:off x="1371600" y="4389120"/>
            <a:ext cx="822960" cy="822960"/>
          </a:xfrm>
          <a:prstGeom prst="rect">
            <a:avLst/>
          </a:prstGeom>
        </p:spPr>
      </p:pic>
      <p:pic>
        <p:nvPicPr>
          <p:cNvPr id="5" name="Image 3" descr="preencoded.png">    </p:cNvPr>
          <p:cNvPicPr>
            <a:picLocks noChangeAspect="1"/>
          </p:cNvPicPr>
          <p:nvPr/>
        </p:nvPicPr>
        <p:blipFill>
          <a:blip r:embed="rId4">
            <a:alphaModFix amt="45000"/>
          </a:blip>
          <a:stretch>
            <a:fillRect/>
          </a:stretch>
        </p:blipFill>
        <p:spPr>
          <a:xfrm>
            <a:off x="8412480" y="3840480"/>
            <a:ext cx="822960" cy="822960"/>
          </a:xfrm>
          <a:prstGeom prst="rect">
            <a:avLst/>
          </a:prstGeom>
        </p:spPr>
      </p:pic>
      <p:pic>
        <p:nvPicPr>
          <p:cNvPr id="6" name="Image 4" descr="preencoded.png">    </p:cNvPr>
          <p:cNvPicPr>
            <a:picLocks noChangeAspect="1"/>
          </p:cNvPicPr>
          <p:nvPr/>
        </p:nvPicPr>
        <p:blipFill>
          <a:blip r:embed="rId5">
            <a:alphaModFix amt="45000"/>
          </a:blip>
          <a:stretch>
            <a:fillRect/>
          </a:stretch>
        </p:blipFill>
        <p:spPr>
          <a:xfrm>
            <a:off x="4114800" y="137160"/>
            <a:ext cx="822960" cy="822960"/>
          </a:xfrm>
          <a:prstGeom prst="rect">
            <a:avLst/>
          </a:prstGeom>
        </p:spPr>
      </p:pic>
      <p:pic>
        <p:nvPicPr>
          <p:cNvPr id="7" name="Image 5" descr="preencoded.png">    </p:cNvPr>
          <p:cNvPicPr>
            <a:picLocks noChangeAspect="1"/>
          </p:cNvPicPr>
          <p:nvPr/>
        </p:nvPicPr>
        <p:blipFill>
          <a:blip r:embed="rId6">
            <a:alphaModFix amt="45000"/>
          </a:blip>
          <a:stretch>
            <a:fillRect/>
          </a:stretch>
        </p:blipFill>
        <p:spPr>
          <a:xfrm>
            <a:off x="4754880" y="4663440"/>
            <a:ext cx="822960" cy="822960"/>
          </a:xfrm>
          <a:prstGeom prst="rect">
            <a:avLst/>
          </a:prstGeom>
        </p:spPr>
      </p:pic>
      <p:sp>
        <p:nvSpPr>
          <p:cNvPr id="8" name="Text 0"/>
          <p:cNvSpPr/>
          <p:nvPr/>
        </p:nvSpPr>
        <p:spPr>
          <a:xfrm>
            <a:off x="640080" y="1005840"/>
            <a:ext cx="7863840" cy="914400"/>
          </a:xfrm>
          <a:prstGeom prst="rect">
            <a:avLst/>
          </a:prstGeom>
          <a:noFill/>
          <a:ln/>
        </p:spPr>
        <p:txBody>
          <a:bodyPr wrap="square"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AI-Powered Payment Gateway</a:t>
            </a:r>
            <a:endParaRPr lang="en-US" sz="4400" dirty="0"/>
          </a:p>
        </p:txBody>
      </p:sp>
      <p:sp>
        <p:nvSpPr>
          <p:cNvPr id="9" name="Text 1"/>
          <p:cNvSpPr/>
          <p:nvPr/>
        </p:nvSpPr>
        <p:spPr>
          <a:xfrm>
            <a:off x="640080" y="1828800"/>
            <a:ext cx="7863840" cy="685800"/>
          </a:xfrm>
          <a:prstGeom prst="rect">
            <a:avLst/>
          </a:prstGeom>
          <a:noFill/>
          <a:ln/>
        </p:spPr>
        <p:txBody>
          <a:bodyPr wrap="square" rtlCol="0" anchor="ctr"/>
          <a:lstStyle/>
          <a:p>
            <a:pPr algn="ctr" indent="0" marL="0">
              <a:buNone/>
            </a:pPr>
            <a:r>
              <a:rPr lang="en-US" sz="4400" b="1" dirty="0">
                <a:solidFill>
                  <a:srgbClr val="CADCFC"/>
                </a:solidFill>
                <a:latin typeface="Calibri" pitchFamily="34" charset="0"/>
                <a:ea typeface="Calibri" pitchFamily="34" charset="-122"/>
                <a:cs typeface="Calibri" pitchFamily="34" charset="-120"/>
              </a:rPr>
              <a:t>Platform</a:t>
            </a:r>
            <a:endParaRPr lang="en-US" sz="4400" dirty="0"/>
          </a:p>
        </p:txBody>
      </p:sp>
      <p:sp>
        <p:nvSpPr>
          <p:cNvPr id="10" name="Text 2"/>
          <p:cNvSpPr/>
          <p:nvPr/>
        </p:nvSpPr>
        <p:spPr>
          <a:xfrm>
            <a:off x="640080" y="2606040"/>
            <a:ext cx="7863840" cy="365760"/>
          </a:xfrm>
          <a:prstGeom prst="rect">
            <a:avLst/>
          </a:prstGeom>
          <a:noFill/>
          <a:ln/>
        </p:spPr>
        <p:txBody>
          <a:bodyPr wrap="square" rtlCol="0" anchor="ctr"/>
          <a:lstStyle/>
          <a:p>
            <a:pPr algn="ctr" indent="0" marL="0">
              <a:buNone/>
            </a:pPr>
            <a:r>
              <a:rPr lang="en-US" sz="1600" dirty="0">
                <a:solidFill>
                  <a:srgbClr val="8096C4"/>
                </a:solidFill>
                <a:latin typeface="Calibri" pitchFamily="34" charset="0"/>
                <a:ea typeface="Calibri" pitchFamily="34" charset="-122"/>
                <a:cs typeface="Calibri" pitchFamily="34" charset="-120"/>
              </a:rPr>
              <a:t>End-to-End Capstone  ·  Architecture  ·  AI  ·  Operations</a:t>
            </a:r>
            <a:endParaRPr lang="en-US" sz="1600" dirty="0"/>
          </a:p>
        </p:txBody>
      </p:sp>
      <p:sp>
        <p:nvSpPr>
          <p:cNvPr id="11" name="Shape 3"/>
          <p:cNvSpPr/>
          <p:nvPr/>
        </p:nvSpPr>
        <p:spPr>
          <a:xfrm>
            <a:off x="777240" y="3246120"/>
            <a:ext cx="1920240" cy="777240"/>
          </a:xfrm>
          <a:prstGeom prst="roundRect">
            <a:avLst>
              <a:gd name="adj" fmla="val 9412"/>
            </a:avLst>
          </a:prstGeom>
          <a:solidFill>
            <a:srgbClr val="253080"/>
          </a:solidFill>
          <a:ln w="12700">
            <a:solidFill>
              <a:srgbClr val="2E3F9E"/>
            </a:solidFill>
            <a:prstDash val="solid"/>
          </a:ln>
        </p:spPr>
      </p:sp>
      <p:sp>
        <p:nvSpPr>
          <p:cNvPr id="12" name="Text 4"/>
          <p:cNvSpPr/>
          <p:nvPr/>
        </p:nvSpPr>
        <p:spPr>
          <a:xfrm>
            <a:off x="777240" y="3282696"/>
            <a:ext cx="1920240" cy="384048"/>
          </a:xfrm>
          <a:prstGeom prst="rect">
            <a:avLst/>
          </a:prstGeom>
          <a:noFill/>
          <a:ln/>
        </p:spPr>
        <p:txBody>
          <a:bodyPr wrap="square" rtlCol="0" anchor="ctr"/>
          <a:lstStyle/>
          <a:p>
            <a:pPr algn="ctr" indent="0" marL="0">
              <a:buNone/>
            </a:pPr>
            <a:r>
              <a:rPr lang="en-US" sz="2200" b="1" dirty="0">
                <a:solidFill>
                  <a:srgbClr val="CADCFC"/>
                </a:solidFill>
                <a:latin typeface="Calibri" pitchFamily="34" charset="0"/>
                <a:ea typeface="Calibri" pitchFamily="34" charset="-122"/>
                <a:cs typeface="Calibri" pitchFamily="34" charset="-120"/>
              </a:rPr>
              <a:t>10,045</a:t>
            </a:r>
            <a:endParaRPr lang="en-US" sz="2200" dirty="0"/>
          </a:p>
        </p:txBody>
      </p:sp>
      <p:sp>
        <p:nvSpPr>
          <p:cNvPr id="13" name="Text 5"/>
          <p:cNvSpPr/>
          <p:nvPr/>
        </p:nvSpPr>
        <p:spPr>
          <a:xfrm>
            <a:off x="777240" y="3648456"/>
            <a:ext cx="1920240" cy="256032"/>
          </a:xfrm>
          <a:prstGeom prst="rect">
            <a:avLst/>
          </a:prstGeom>
          <a:noFill/>
          <a:ln/>
        </p:spPr>
        <p:txBody>
          <a:bodyPr wrap="square" rtlCol="0" anchor="ctr"/>
          <a:lstStyle/>
          <a:p>
            <a:pPr algn="ctr" indent="0" marL="0">
              <a:buNone/>
            </a:pPr>
            <a:r>
              <a:rPr lang="en-US" sz="1100" dirty="0">
                <a:solidFill>
                  <a:srgbClr val="8096C4"/>
                </a:solidFill>
                <a:latin typeface="Calibri" pitchFamily="34" charset="0"/>
                <a:ea typeface="Calibri" pitchFamily="34" charset="-122"/>
                <a:cs typeface="Calibri" pitchFamily="34" charset="-120"/>
              </a:rPr>
              <a:t>transactions</a:t>
            </a:r>
            <a:endParaRPr lang="en-US" sz="1100" dirty="0"/>
          </a:p>
        </p:txBody>
      </p:sp>
      <p:sp>
        <p:nvSpPr>
          <p:cNvPr id="14" name="Shape 6"/>
          <p:cNvSpPr/>
          <p:nvPr/>
        </p:nvSpPr>
        <p:spPr>
          <a:xfrm>
            <a:off x="2743200" y="3246120"/>
            <a:ext cx="1920240" cy="777240"/>
          </a:xfrm>
          <a:prstGeom prst="roundRect">
            <a:avLst>
              <a:gd name="adj" fmla="val 9412"/>
            </a:avLst>
          </a:prstGeom>
          <a:solidFill>
            <a:srgbClr val="253080"/>
          </a:solidFill>
          <a:ln w="12700">
            <a:solidFill>
              <a:srgbClr val="2E3F9E"/>
            </a:solidFill>
            <a:prstDash val="solid"/>
          </a:ln>
        </p:spPr>
      </p:sp>
      <p:sp>
        <p:nvSpPr>
          <p:cNvPr id="15" name="Text 7"/>
          <p:cNvSpPr/>
          <p:nvPr/>
        </p:nvSpPr>
        <p:spPr>
          <a:xfrm>
            <a:off x="2743200" y="3282696"/>
            <a:ext cx="1920240" cy="384048"/>
          </a:xfrm>
          <a:prstGeom prst="rect">
            <a:avLst/>
          </a:prstGeom>
          <a:noFill/>
          <a:ln/>
        </p:spPr>
        <p:txBody>
          <a:bodyPr wrap="square" rtlCol="0" anchor="ctr"/>
          <a:lstStyle/>
          <a:p>
            <a:pPr algn="ctr" indent="0" marL="0">
              <a:buNone/>
            </a:pPr>
            <a:r>
              <a:rPr lang="en-US" sz="2200" b="1" dirty="0">
                <a:solidFill>
                  <a:srgbClr val="CADCFC"/>
                </a:solidFill>
                <a:latin typeface="Calibri" pitchFamily="34" charset="0"/>
                <a:ea typeface="Calibri" pitchFamily="34" charset="-122"/>
                <a:cs typeface="Calibri" pitchFamily="34" charset="-120"/>
              </a:rPr>
              <a:t>501</a:t>
            </a:r>
            <a:endParaRPr lang="en-US" sz="2200" dirty="0"/>
          </a:p>
        </p:txBody>
      </p:sp>
      <p:sp>
        <p:nvSpPr>
          <p:cNvPr id="16" name="Text 8"/>
          <p:cNvSpPr/>
          <p:nvPr/>
        </p:nvSpPr>
        <p:spPr>
          <a:xfrm>
            <a:off x="2743200" y="3648456"/>
            <a:ext cx="1920240" cy="256032"/>
          </a:xfrm>
          <a:prstGeom prst="rect">
            <a:avLst/>
          </a:prstGeom>
          <a:noFill/>
          <a:ln/>
        </p:spPr>
        <p:txBody>
          <a:bodyPr wrap="square" rtlCol="0" anchor="ctr"/>
          <a:lstStyle/>
          <a:p>
            <a:pPr algn="ctr" indent="0" marL="0">
              <a:buNone/>
            </a:pPr>
            <a:r>
              <a:rPr lang="en-US" sz="1100" dirty="0">
                <a:solidFill>
                  <a:srgbClr val="8096C4"/>
                </a:solidFill>
                <a:latin typeface="Calibri" pitchFamily="34" charset="0"/>
                <a:ea typeface="Calibri" pitchFamily="34" charset="-122"/>
                <a:cs typeface="Calibri" pitchFamily="34" charset="-120"/>
              </a:rPr>
              <a:t>users</a:t>
            </a:r>
            <a:endParaRPr lang="en-US" sz="1100" dirty="0"/>
          </a:p>
        </p:txBody>
      </p:sp>
      <p:sp>
        <p:nvSpPr>
          <p:cNvPr id="17" name="Shape 9"/>
          <p:cNvSpPr/>
          <p:nvPr/>
        </p:nvSpPr>
        <p:spPr>
          <a:xfrm>
            <a:off x="4709160" y="3246120"/>
            <a:ext cx="1920240" cy="777240"/>
          </a:xfrm>
          <a:prstGeom prst="roundRect">
            <a:avLst>
              <a:gd name="adj" fmla="val 9412"/>
            </a:avLst>
          </a:prstGeom>
          <a:solidFill>
            <a:srgbClr val="253080"/>
          </a:solidFill>
          <a:ln w="12700">
            <a:solidFill>
              <a:srgbClr val="2E3F9E"/>
            </a:solidFill>
            <a:prstDash val="solid"/>
          </a:ln>
        </p:spPr>
      </p:sp>
      <p:sp>
        <p:nvSpPr>
          <p:cNvPr id="18" name="Text 10"/>
          <p:cNvSpPr/>
          <p:nvPr/>
        </p:nvSpPr>
        <p:spPr>
          <a:xfrm>
            <a:off x="4709160" y="3282696"/>
            <a:ext cx="1920240" cy="384048"/>
          </a:xfrm>
          <a:prstGeom prst="rect">
            <a:avLst/>
          </a:prstGeom>
          <a:noFill/>
          <a:ln/>
        </p:spPr>
        <p:txBody>
          <a:bodyPr wrap="square" rtlCol="0" anchor="ctr"/>
          <a:lstStyle/>
          <a:p>
            <a:pPr algn="ctr" indent="0" marL="0">
              <a:buNone/>
            </a:pPr>
            <a:r>
              <a:rPr lang="en-US" sz="2200" b="1" dirty="0">
                <a:solidFill>
                  <a:srgbClr val="CADCFC"/>
                </a:solidFill>
                <a:latin typeface="Calibri" pitchFamily="34" charset="0"/>
                <a:ea typeface="Calibri" pitchFamily="34" charset="-122"/>
                <a:cs typeface="Calibri" pitchFamily="34" charset="-120"/>
              </a:rPr>
              <a:t>5</a:t>
            </a:r>
            <a:endParaRPr lang="en-US" sz="2200" dirty="0"/>
          </a:p>
        </p:txBody>
      </p:sp>
      <p:sp>
        <p:nvSpPr>
          <p:cNvPr id="19" name="Text 11"/>
          <p:cNvSpPr/>
          <p:nvPr/>
        </p:nvSpPr>
        <p:spPr>
          <a:xfrm>
            <a:off x="4709160" y="3648456"/>
            <a:ext cx="1920240" cy="256032"/>
          </a:xfrm>
          <a:prstGeom prst="rect">
            <a:avLst/>
          </a:prstGeom>
          <a:noFill/>
          <a:ln/>
        </p:spPr>
        <p:txBody>
          <a:bodyPr wrap="square" rtlCol="0" anchor="ctr"/>
          <a:lstStyle/>
          <a:p>
            <a:pPr algn="ctr" indent="0" marL="0">
              <a:buNone/>
            </a:pPr>
            <a:r>
              <a:rPr lang="en-US" sz="1100" dirty="0">
                <a:solidFill>
                  <a:srgbClr val="8096C4"/>
                </a:solidFill>
                <a:latin typeface="Calibri" pitchFamily="34" charset="0"/>
                <a:ea typeface="Calibri" pitchFamily="34" charset="-122"/>
                <a:cs typeface="Calibri" pitchFamily="34" charset="-120"/>
              </a:rPr>
              <a:t>containers</a:t>
            </a:r>
            <a:endParaRPr lang="en-US" sz="1100" dirty="0"/>
          </a:p>
        </p:txBody>
      </p:sp>
      <p:sp>
        <p:nvSpPr>
          <p:cNvPr id="20" name="Shape 12"/>
          <p:cNvSpPr/>
          <p:nvPr/>
        </p:nvSpPr>
        <p:spPr>
          <a:xfrm>
            <a:off x="6675120" y="3246120"/>
            <a:ext cx="1920240" cy="777240"/>
          </a:xfrm>
          <a:prstGeom prst="roundRect">
            <a:avLst>
              <a:gd name="adj" fmla="val 9412"/>
            </a:avLst>
          </a:prstGeom>
          <a:solidFill>
            <a:srgbClr val="253080"/>
          </a:solidFill>
          <a:ln w="12700">
            <a:solidFill>
              <a:srgbClr val="2E3F9E"/>
            </a:solidFill>
            <a:prstDash val="solid"/>
          </a:ln>
        </p:spPr>
      </p:sp>
      <p:sp>
        <p:nvSpPr>
          <p:cNvPr id="21" name="Text 13"/>
          <p:cNvSpPr/>
          <p:nvPr/>
        </p:nvSpPr>
        <p:spPr>
          <a:xfrm>
            <a:off x="6675120" y="3282696"/>
            <a:ext cx="1920240" cy="384048"/>
          </a:xfrm>
          <a:prstGeom prst="rect">
            <a:avLst/>
          </a:prstGeom>
          <a:noFill/>
          <a:ln/>
        </p:spPr>
        <p:txBody>
          <a:bodyPr wrap="square" rtlCol="0" anchor="ctr"/>
          <a:lstStyle/>
          <a:p>
            <a:pPr algn="ctr" indent="0" marL="0">
              <a:buNone/>
            </a:pPr>
            <a:r>
              <a:rPr lang="en-US" sz="2200" b="1" dirty="0">
                <a:solidFill>
                  <a:srgbClr val="CADCFC"/>
                </a:solidFill>
                <a:latin typeface="Calibri" pitchFamily="34" charset="0"/>
                <a:ea typeface="Calibri" pitchFamily="34" charset="-122"/>
                <a:cs typeface="Calibri" pitchFamily="34" charset="-120"/>
              </a:rPr>
              <a:t>2</a:t>
            </a:r>
            <a:endParaRPr lang="en-US" sz="2200" dirty="0"/>
          </a:p>
        </p:txBody>
      </p:sp>
      <p:sp>
        <p:nvSpPr>
          <p:cNvPr id="22" name="Text 14"/>
          <p:cNvSpPr/>
          <p:nvPr/>
        </p:nvSpPr>
        <p:spPr>
          <a:xfrm>
            <a:off x="6675120" y="3648456"/>
            <a:ext cx="1920240" cy="256032"/>
          </a:xfrm>
          <a:prstGeom prst="rect">
            <a:avLst/>
          </a:prstGeom>
          <a:noFill/>
          <a:ln/>
        </p:spPr>
        <p:txBody>
          <a:bodyPr wrap="square" rtlCol="0" anchor="ctr"/>
          <a:lstStyle/>
          <a:p>
            <a:pPr algn="ctr" indent="0" marL="0">
              <a:buNone/>
            </a:pPr>
            <a:r>
              <a:rPr lang="en-US" sz="1100" dirty="0">
                <a:solidFill>
                  <a:srgbClr val="8096C4"/>
                </a:solidFill>
                <a:latin typeface="Calibri" pitchFamily="34" charset="0"/>
                <a:ea typeface="Calibri" pitchFamily="34" charset="-122"/>
                <a:cs typeface="Calibri" pitchFamily="34" charset="-120"/>
              </a:rPr>
              <a:t>AI models</a:t>
            </a:r>
            <a:endParaRPr lang="en-US" sz="1100" dirty="0"/>
          </a:p>
        </p:txBody>
      </p:sp>
      <p:sp>
        <p:nvSpPr>
          <p:cNvPr id="23" name="Text 15"/>
          <p:cNvSpPr/>
          <p:nvPr/>
        </p:nvSpPr>
        <p:spPr>
          <a:xfrm>
            <a:off x="640080" y="4480560"/>
            <a:ext cx="7863840" cy="274320"/>
          </a:xfrm>
          <a:prstGeom prst="rect">
            <a:avLst/>
          </a:prstGeom>
          <a:noFill/>
          <a:ln/>
        </p:spPr>
        <p:txBody>
          <a:bodyPr wrap="square" rtlCol="0" anchor="ctr"/>
          <a:lstStyle/>
          <a:p>
            <a:pPr algn="ctr" indent="0" marL="0">
              <a:buNone/>
            </a:pPr>
            <a:r>
              <a:rPr lang="en-US" sz="1200" dirty="0">
                <a:solidFill>
                  <a:srgbClr val="8096C4"/>
                </a:solidFill>
                <a:latin typeface="Calibri" pitchFamily="34" charset="0"/>
                <a:ea typeface="Calibri" pitchFamily="34" charset="-122"/>
                <a:cs typeface="Calibri" pitchFamily="34" charset="-120"/>
              </a:rPr>
              <a:t>Jayachandran  ·  Mentor: Siva  ·  June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Why This Problem?</a:t>
            </a:r>
            <a:endParaRPr lang="en-US" sz="3200" dirty="0"/>
          </a:p>
        </p:txBody>
      </p:sp>
      <p:sp>
        <p:nvSpPr>
          <p:cNvPr id="3" name="Shape 1"/>
          <p:cNvSpPr/>
          <p:nvPr/>
        </p:nvSpPr>
        <p:spPr>
          <a:xfrm>
            <a:off x="365760" y="1005840"/>
            <a:ext cx="3931920" cy="3566160"/>
          </a:xfrm>
          <a:prstGeom prst="roundRect">
            <a:avLst>
              <a:gd name="adj" fmla="val 3077"/>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4" name="Text 2"/>
          <p:cNvSpPr/>
          <p:nvPr/>
        </p:nvSpPr>
        <p:spPr>
          <a:xfrm>
            <a:off x="548640" y="1115568"/>
            <a:ext cx="3474720" cy="347472"/>
          </a:xfrm>
          <a:prstGeom prst="rect">
            <a:avLst/>
          </a:prstGeom>
          <a:noFill/>
          <a:ln/>
        </p:spPr>
        <p:txBody>
          <a:bodyPr wrap="square" rtlCol="0" anchor="ctr"/>
          <a:lstStyle/>
          <a:p>
            <a:pPr indent="0" marL="0">
              <a:buNone/>
            </a:pPr>
            <a:r>
              <a:rPr lang="en-US" sz="1500" b="1" dirty="0">
                <a:solidFill>
                  <a:srgbClr val="EF4444"/>
                </a:solidFill>
                <a:latin typeface="Calibri" pitchFamily="34" charset="0"/>
                <a:ea typeface="Calibri" pitchFamily="34" charset="-122"/>
                <a:cs typeface="Calibri" pitchFamily="34" charset="-120"/>
              </a:rPr>
              <a:t>The Pain</a:t>
            </a:r>
            <a:endParaRPr lang="en-US" sz="1500" dirty="0"/>
          </a:p>
        </p:txBody>
      </p:sp>
      <p:sp>
        <p:nvSpPr>
          <p:cNvPr id="5" name="Shape 3"/>
          <p:cNvSpPr/>
          <p:nvPr/>
        </p:nvSpPr>
        <p:spPr>
          <a:xfrm>
            <a:off x="626364" y="1627632"/>
            <a:ext cx="118872" cy="118872"/>
          </a:xfrm>
          <a:prstGeom prst="ellipse">
            <a:avLst/>
          </a:prstGeom>
          <a:solidFill>
            <a:srgbClr val="EF4444"/>
          </a:solidFill>
          <a:ln w="12700">
            <a:solidFill>
              <a:srgbClr val="EF4444"/>
            </a:solidFill>
            <a:prstDash val="solid"/>
          </a:ln>
        </p:spPr>
      </p:sp>
      <p:sp>
        <p:nvSpPr>
          <p:cNvPr id="6" name="Text 4"/>
          <p:cNvSpPr/>
          <p:nvPr/>
        </p:nvSpPr>
        <p:spPr>
          <a:xfrm>
            <a:off x="868680" y="1536192"/>
            <a:ext cx="3246120" cy="566928"/>
          </a:xfrm>
          <a:prstGeom prst="rect">
            <a:avLst/>
          </a:prstGeom>
          <a:noFill/>
          <a:ln/>
        </p:spPr>
        <p:txBody>
          <a:bodyPr wrap="square" lIns="50800" tIns="50800" rIns="50800" bIns="50800" rtlCol="0" anchor="t"/>
          <a:lstStyle/>
          <a:p>
            <a:pPr algn="l" indent="0" marL="0">
              <a:buNone/>
            </a:pPr>
            <a:r>
              <a:rPr lang="en-US" sz="1200" dirty="0">
                <a:solidFill>
                  <a:srgbClr val="E8EDF8"/>
                </a:solidFill>
                <a:latin typeface="Calibri" pitchFamily="34" charset="0"/>
                <a:ea typeface="Calibri" pitchFamily="34" charset="-122"/>
                <a:cs typeface="Calibri" pitchFamily="34" charset="-120"/>
              </a:rPr>
              <a:t>Payment platforms take 3–5 years to build correctly</a:t>
            </a:r>
            <a:endParaRPr lang="en-US" sz="1200" dirty="0"/>
          </a:p>
        </p:txBody>
      </p:sp>
      <p:sp>
        <p:nvSpPr>
          <p:cNvPr id="7" name="Shape 5"/>
          <p:cNvSpPr/>
          <p:nvPr/>
        </p:nvSpPr>
        <p:spPr>
          <a:xfrm>
            <a:off x="626364" y="2286000"/>
            <a:ext cx="118872" cy="118872"/>
          </a:xfrm>
          <a:prstGeom prst="ellipse">
            <a:avLst/>
          </a:prstGeom>
          <a:solidFill>
            <a:srgbClr val="EF4444"/>
          </a:solidFill>
          <a:ln w="12700">
            <a:solidFill>
              <a:srgbClr val="EF4444"/>
            </a:solidFill>
            <a:prstDash val="solid"/>
          </a:ln>
        </p:spPr>
      </p:sp>
      <p:sp>
        <p:nvSpPr>
          <p:cNvPr id="8" name="Text 6"/>
          <p:cNvSpPr/>
          <p:nvPr/>
        </p:nvSpPr>
        <p:spPr>
          <a:xfrm>
            <a:off x="868680" y="2194560"/>
            <a:ext cx="3246120" cy="566928"/>
          </a:xfrm>
          <a:prstGeom prst="rect">
            <a:avLst/>
          </a:prstGeom>
          <a:noFill/>
          <a:ln/>
        </p:spPr>
        <p:txBody>
          <a:bodyPr wrap="square" lIns="50800" tIns="50800" rIns="50800" bIns="50800" rtlCol="0" anchor="t"/>
          <a:lstStyle/>
          <a:p>
            <a:pPr algn="l" indent="0" marL="0">
              <a:buNone/>
            </a:pPr>
            <a:r>
              <a:rPr lang="en-US" sz="1200" dirty="0">
                <a:solidFill>
                  <a:srgbClr val="E8EDF8"/>
                </a:solidFill>
                <a:latin typeface="Calibri" pitchFamily="34" charset="0"/>
                <a:ea typeface="Calibri" pitchFamily="34" charset="-122"/>
                <a:cs typeface="Calibri" pitchFamily="34" charset="-120"/>
              </a:rPr>
              <a:t>Fraud costs India ₹5,000+ crore annually; decisions are manual</a:t>
            </a:r>
            <a:endParaRPr lang="en-US" sz="1200" dirty="0"/>
          </a:p>
        </p:txBody>
      </p:sp>
      <p:sp>
        <p:nvSpPr>
          <p:cNvPr id="9" name="Shape 7"/>
          <p:cNvSpPr/>
          <p:nvPr/>
        </p:nvSpPr>
        <p:spPr>
          <a:xfrm>
            <a:off x="626364" y="2944368"/>
            <a:ext cx="118872" cy="118872"/>
          </a:xfrm>
          <a:prstGeom prst="ellipse">
            <a:avLst/>
          </a:prstGeom>
          <a:solidFill>
            <a:srgbClr val="EF4444"/>
          </a:solidFill>
          <a:ln w="12700">
            <a:solidFill>
              <a:srgbClr val="EF4444"/>
            </a:solidFill>
            <a:prstDash val="solid"/>
          </a:ln>
        </p:spPr>
      </p:sp>
      <p:sp>
        <p:nvSpPr>
          <p:cNvPr id="10" name="Text 8"/>
          <p:cNvSpPr/>
          <p:nvPr/>
        </p:nvSpPr>
        <p:spPr>
          <a:xfrm>
            <a:off x="868680" y="2852928"/>
            <a:ext cx="3246120" cy="566928"/>
          </a:xfrm>
          <a:prstGeom prst="rect">
            <a:avLst/>
          </a:prstGeom>
          <a:noFill/>
          <a:ln/>
        </p:spPr>
        <p:txBody>
          <a:bodyPr wrap="square" lIns="50800" tIns="50800" rIns="50800" bIns="50800" rtlCol="0" anchor="t"/>
          <a:lstStyle/>
          <a:p>
            <a:pPr algn="l" indent="0" marL="0">
              <a:buNone/>
            </a:pPr>
            <a:r>
              <a:rPr lang="en-US" sz="1200" dirty="0">
                <a:solidFill>
                  <a:srgbClr val="E8EDF8"/>
                </a:solidFill>
                <a:latin typeface="Calibri" pitchFamily="34" charset="0"/>
                <a:ea typeface="Calibri" pitchFamily="34" charset="-122"/>
                <a:cs typeface="Calibri" pitchFamily="34" charset="-120"/>
              </a:rPr>
              <a:t>Ops teams answer the same questions hundreds of times a day</a:t>
            </a:r>
            <a:endParaRPr lang="en-US" sz="1200" dirty="0"/>
          </a:p>
        </p:txBody>
      </p:sp>
      <p:sp>
        <p:nvSpPr>
          <p:cNvPr id="11" name="Shape 9"/>
          <p:cNvSpPr/>
          <p:nvPr/>
        </p:nvSpPr>
        <p:spPr>
          <a:xfrm>
            <a:off x="626364" y="3602736"/>
            <a:ext cx="118872" cy="118872"/>
          </a:xfrm>
          <a:prstGeom prst="ellipse">
            <a:avLst/>
          </a:prstGeom>
          <a:solidFill>
            <a:srgbClr val="EF4444"/>
          </a:solidFill>
          <a:ln w="12700">
            <a:solidFill>
              <a:srgbClr val="EF4444"/>
            </a:solidFill>
            <a:prstDash val="solid"/>
          </a:ln>
        </p:spPr>
      </p:sp>
      <p:sp>
        <p:nvSpPr>
          <p:cNvPr id="12" name="Text 10"/>
          <p:cNvSpPr/>
          <p:nvPr/>
        </p:nvSpPr>
        <p:spPr>
          <a:xfrm>
            <a:off x="868680" y="3511296"/>
            <a:ext cx="3246120" cy="566928"/>
          </a:xfrm>
          <a:prstGeom prst="rect">
            <a:avLst/>
          </a:prstGeom>
          <a:noFill/>
          <a:ln/>
        </p:spPr>
        <p:txBody>
          <a:bodyPr wrap="square" lIns="50800" tIns="50800" rIns="50800" bIns="50800" rtlCol="0" anchor="t"/>
          <a:lstStyle/>
          <a:p>
            <a:pPr algn="l" indent="0" marL="0">
              <a:buNone/>
            </a:pPr>
            <a:r>
              <a:rPr lang="en-US" sz="1200" dirty="0">
                <a:solidFill>
                  <a:srgbClr val="E8EDF8"/>
                </a:solidFill>
                <a:latin typeface="Calibri" pitchFamily="34" charset="0"/>
                <a:ea typeface="Calibri" pitchFamily="34" charset="-122"/>
                <a:cs typeface="Calibri" pitchFamily="34" charset="-120"/>
              </a:rPr>
              <a:t>Existing gateways: monolithic, opaque, hard to instrument</a:t>
            </a:r>
            <a:endParaRPr lang="en-US" sz="1200" dirty="0"/>
          </a:p>
        </p:txBody>
      </p:sp>
      <p:sp>
        <p:nvSpPr>
          <p:cNvPr id="13" name="Shape 11"/>
          <p:cNvSpPr/>
          <p:nvPr/>
        </p:nvSpPr>
        <p:spPr>
          <a:xfrm>
            <a:off x="4846320" y="1005840"/>
            <a:ext cx="3931920" cy="3566160"/>
          </a:xfrm>
          <a:prstGeom prst="roundRect">
            <a:avLst>
              <a:gd name="adj" fmla="val 3077"/>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14" name="Text 12"/>
          <p:cNvSpPr/>
          <p:nvPr/>
        </p:nvSpPr>
        <p:spPr>
          <a:xfrm>
            <a:off x="5029200" y="1115568"/>
            <a:ext cx="3474720" cy="347472"/>
          </a:xfrm>
          <a:prstGeom prst="rect">
            <a:avLst/>
          </a:prstGeom>
          <a:noFill/>
          <a:ln/>
        </p:spPr>
        <p:txBody>
          <a:bodyPr wrap="square" rtlCol="0" anchor="ctr"/>
          <a:lstStyle/>
          <a:p>
            <a:pPr indent="0" marL="0">
              <a:buNone/>
            </a:pPr>
            <a:r>
              <a:rPr lang="en-US" sz="1500" b="1" dirty="0">
                <a:solidFill>
                  <a:srgbClr val="22C55E"/>
                </a:solidFill>
                <a:latin typeface="Calibri" pitchFamily="34" charset="0"/>
                <a:ea typeface="Calibri" pitchFamily="34" charset="-122"/>
                <a:cs typeface="Calibri" pitchFamily="34" charset="-120"/>
              </a:rPr>
              <a:t>The Thesis</a:t>
            </a:r>
            <a:endParaRPr lang="en-US" sz="1500" dirty="0"/>
          </a:p>
        </p:txBody>
      </p:sp>
      <p:sp>
        <p:nvSpPr>
          <p:cNvPr id="15" name="Shape 13"/>
          <p:cNvSpPr/>
          <p:nvPr/>
        </p:nvSpPr>
        <p:spPr>
          <a:xfrm>
            <a:off x="5106924" y="1627632"/>
            <a:ext cx="118872" cy="118872"/>
          </a:xfrm>
          <a:prstGeom prst="ellipse">
            <a:avLst/>
          </a:prstGeom>
          <a:solidFill>
            <a:srgbClr val="22C55E"/>
          </a:solidFill>
          <a:ln w="12700">
            <a:solidFill>
              <a:srgbClr val="22C55E"/>
            </a:solidFill>
            <a:prstDash val="solid"/>
          </a:ln>
        </p:spPr>
      </p:sp>
      <p:sp>
        <p:nvSpPr>
          <p:cNvPr id="16" name="Text 14"/>
          <p:cNvSpPr/>
          <p:nvPr/>
        </p:nvSpPr>
        <p:spPr>
          <a:xfrm>
            <a:off x="5349240" y="1536192"/>
            <a:ext cx="3246120" cy="566928"/>
          </a:xfrm>
          <a:prstGeom prst="rect">
            <a:avLst/>
          </a:prstGeom>
          <a:noFill/>
          <a:ln/>
        </p:spPr>
        <p:txBody>
          <a:bodyPr wrap="square" lIns="50800" tIns="50800" rIns="50800" bIns="50800" rtlCol="0" anchor="t"/>
          <a:lstStyle/>
          <a:p>
            <a:pPr algn="l" indent="0" marL="0">
              <a:buNone/>
            </a:pPr>
            <a:r>
              <a:rPr lang="en-US" sz="1200" dirty="0">
                <a:solidFill>
                  <a:srgbClr val="E8EDF8"/>
                </a:solidFill>
                <a:latin typeface="Calibri" pitchFamily="34" charset="0"/>
                <a:ea typeface="Calibri" pitchFamily="34" charset="-122"/>
                <a:cs typeface="Calibri" pitchFamily="34" charset="-120"/>
              </a:rPr>
              <a:t>Hexagonal architecture makes each domain independently evolvable</a:t>
            </a:r>
            <a:endParaRPr lang="en-US" sz="1200" dirty="0"/>
          </a:p>
        </p:txBody>
      </p:sp>
      <p:sp>
        <p:nvSpPr>
          <p:cNvPr id="17" name="Shape 15"/>
          <p:cNvSpPr/>
          <p:nvPr/>
        </p:nvSpPr>
        <p:spPr>
          <a:xfrm>
            <a:off x="5106924" y="2286000"/>
            <a:ext cx="118872" cy="118872"/>
          </a:xfrm>
          <a:prstGeom prst="ellipse">
            <a:avLst/>
          </a:prstGeom>
          <a:solidFill>
            <a:srgbClr val="22C55E"/>
          </a:solidFill>
          <a:ln w="12700">
            <a:solidFill>
              <a:srgbClr val="22C55E"/>
            </a:solidFill>
            <a:prstDash val="solid"/>
          </a:ln>
        </p:spPr>
      </p:sp>
      <p:sp>
        <p:nvSpPr>
          <p:cNvPr id="18" name="Text 16"/>
          <p:cNvSpPr/>
          <p:nvPr/>
        </p:nvSpPr>
        <p:spPr>
          <a:xfrm>
            <a:off x="5349240" y="2194560"/>
            <a:ext cx="3246120" cy="566928"/>
          </a:xfrm>
          <a:prstGeom prst="rect">
            <a:avLst/>
          </a:prstGeom>
          <a:noFill/>
          <a:ln/>
        </p:spPr>
        <p:txBody>
          <a:bodyPr wrap="square" lIns="50800" tIns="50800" rIns="50800" bIns="50800" rtlCol="0" anchor="t"/>
          <a:lstStyle/>
          <a:p>
            <a:pPr algn="l" indent="0" marL="0">
              <a:buNone/>
            </a:pPr>
            <a:r>
              <a:rPr lang="en-US" sz="1200" dirty="0">
                <a:solidFill>
                  <a:srgbClr val="E8EDF8"/>
                </a:solidFill>
                <a:latin typeface="Calibri" pitchFamily="34" charset="0"/>
                <a:ea typeface="Calibri" pitchFamily="34" charset="-122"/>
                <a:cs typeface="Calibri" pitchFamily="34" charset="-120"/>
              </a:rPr>
              <a:t>AI delivers fraud decisions in &lt;1ms — faster and more consistent</a:t>
            </a:r>
            <a:endParaRPr lang="en-US" sz="1200" dirty="0"/>
          </a:p>
        </p:txBody>
      </p:sp>
      <p:sp>
        <p:nvSpPr>
          <p:cNvPr id="19" name="Shape 17"/>
          <p:cNvSpPr/>
          <p:nvPr/>
        </p:nvSpPr>
        <p:spPr>
          <a:xfrm>
            <a:off x="5106924" y="2944368"/>
            <a:ext cx="118872" cy="118872"/>
          </a:xfrm>
          <a:prstGeom prst="ellipse">
            <a:avLst/>
          </a:prstGeom>
          <a:solidFill>
            <a:srgbClr val="22C55E"/>
          </a:solidFill>
          <a:ln w="12700">
            <a:solidFill>
              <a:srgbClr val="22C55E"/>
            </a:solidFill>
            <a:prstDash val="solid"/>
          </a:ln>
        </p:spPr>
      </p:sp>
      <p:sp>
        <p:nvSpPr>
          <p:cNvPr id="20" name="Text 18"/>
          <p:cNvSpPr/>
          <p:nvPr/>
        </p:nvSpPr>
        <p:spPr>
          <a:xfrm>
            <a:off x="5349240" y="2852928"/>
            <a:ext cx="3246120" cy="566928"/>
          </a:xfrm>
          <a:prstGeom prst="rect">
            <a:avLst/>
          </a:prstGeom>
          <a:noFill/>
          <a:ln/>
        </p:spPr>
        <p:txBody>
          <a:bodyPr wrap="square" lIns="50800" tIns="50800" rIns="50800" bIns="50800" rtlCol="0" anchor="t"/>
          <a:lstStyle/>
          <a:p>
            <a:pPr algn="l" indent="0" marL="0">
              <a:buNone/>
            </a:pPr>
            <a:r>
              <a:rPr lang="en-US" sz="1200" dirty="0">
                <a:solidFill>
                  <a:srgbClr val="E8EDF8"/>
                </a:solidFill>
                <a:latin typeface="Calibri" pitchFamily="34" charset="0"/>
                <a:ea typeface="Calibri" pitchFamily="34" charset="-122"/>
                <a:cs typeface="Calibri" pitchFamily="34" charset="-120"/>
              </a:rPr>
              <a:t>Vector knowledge base turns policy docs into a queryable assistant</a:t>
            </a:r>
            <a:endParaRPr lang="en-US" sz="1200" dirty="0"/>
          </a:p>
        </p:txBody>
      </p:sp>
      <p:sp>
        <p:nvSpPr>
          <p:cNvPr id="21" name="Shape 19"/>
          <p:cNvSpPr/>
          <p:nvPr/>
        </p:nvSpPr>
        <p:spPr>
          <a:xfrm>
            <a:off x="5106924" y="3602736"/>
            <a:ext cx="118872" cy="118872"/>
          </a:xfrm>
          <a:prstGeom prst="ellipse">
            <a:avLst/>
          </a:prstGeom>
          <a:solidFill>
            <a:srgbClr val="22C55E"/>
          </a:solidFill>
          <a:ln w="12700">
            <a:solidFill>
              <a:srgbClr val="22C55E"/>
            </a:solidFill>
            <a:prstDash val="solid"/>
          </a:ln>
        </p:spPr>
      </p:sp>
      <p:sp>
        <p:nvSpPr>
          <p:cNvPr id="22" name="Text 20"/>
          <p:cNvSpPr/>
          <p:nvPr/>
        </p:nvSpPr>
        <p:spPr>
          <a:xfrm>
            <a:off x="5349240" y="3511296"/>
            <a:ext cx="3246120" cy="566928"/>
          </a:xfrm>
          <a:prstGeom prst="rect">
            <a:avLst/>
          </a:prstGeom>
          <a:noFill/>
          <a:ln/>
        </p:spPr>
        <p:txBody>
          <a:bodyPr wrap="square" lIns="50800" tIns="50800" rIns="50800" bIns="50800" rtlCol="0" anchor="t"/>
          <a:lstStyle/>
          <a:p>
            <a:pPr algn="l" indent="0" marL="0">
              <a:buNone/>
            </a:pPr>
            <a:r>
              <a:rPr lang="en-US" sz="1200" dirty="0">
                <a:solidFill>
                  <a:srgbClr val="E8EDF8"/>
                </a:solidFill>
                <a:latin typeface="Calibri" pitchFamily="34" charset="0"/>
                <a:ea typeface="Calibri" pitchFamily="34" charset="-122"/>
                <a:cs typeface="Calibri" pitchFamily="34" charset="-120"/>
              </a:rPr>
              <a:t>Architecture is production-ready in shape; gaps are documented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What the System Must Do</a:t>
            </a:r>
            <a:endParaRPr lang="en-US" sz="3200" dirty="0"/>
          </a:p>
        </p:txBody>
      </p:sp>
      <p:sp>
        <p:nvSpPr>
          <p:cNvPr id="3" name="Shape 1"/>
          <p:cNvSpPr/>
          <p:nvPr/>
        </p:nvSpPr>
        <p:spPr>
          <a:xfrm>
            <a:off x="365760" y="1005840"/>
            <a:ext cx="2697480" cy="3749040"/>
          </a:xfrm>
          <a:prstGeom prst="roundRect">
            <a:avLst>
              <a:gd name="adj" fmla="val 4068"/>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pic>
        <p:nvPicPr>
          <p:cNvPr id="4" name="Image 0" descr="preencoded.png">    </p:cNvPr>
          <p:cNvPicPr>
            <a:picLocks noChangeAspect="1"/>
          </p:cNvPicPr>
          <p:nvPr/>
        </p:nvPicPr>
        <p:blipFill>
          <a:blip r:embed="rId1"/>
          <a:stretch>
            <a:fillRect/>
          </a:stretch>
        </p:blipFill>
        <p:spPr>
          <a:xfrm>
            <a:off x="530352" y="1115568"/>
            <a:ext cx="384048" cy="384048"/>
          </a:xfrm>
          <a:prstGeom prst="rect">
            <a:avLst/>
          </a:prstGeom>
        </p:spPr>
      </p:pic>
      <p:sp>
        <p:nvSpPr>
          <p:cNvPr id="5" name="Text 2"/>
          <p:cNvSpPr/>
          <p:nvPr/>
        </p:nvSpPr>
        <p:spPr>
          <a:xfrm>
            <a:off x="987552" y="1143000"/>
            <a:ext cx="1920240" cy="347472"/>
          </a:xfrm>
          <a:prstGeom prst="rect">
            <a:avLst/>
          </a:prstGeom>
          <a:noFill/>
          <a:ln/>
        </p:spPr>
        <p:txBody>
          <a:bodyPr wrap="square" rtlCol="0" anchor="ctr"/>
          <a:lstStyle/>
          <a:p>
            <a:pPr indent="0" marL="0">
              <a:buNone/>
            </a:pPr>
            <a:r>
              <a:rPr lang="en-US" sz="1500" b="1" dirty="0">
                <a:solidFill>
                  <a:srgbClr val="38BDF8"/>
                </a:solidFill>
                <a:latin typeface="Calibri" pitchFamily="34" charset="0"/>
                <a:ea typeface="Calibri" pitchFamily="34" charset="-122"/>
                <a:cs typeface="Calibri" pitchFamily="34" charset="-120"/>
              </a:rPr>
              <a:t>Correctness</a:t>
            </a:r>
            <a:endParaRPr lang="en-US" sz="1500" dirty="0"/>
          </a:p>
        </p:txBody>
      </p:sp>
      <p:sp>
        <p:nvSpPr>
          <p:cNvPr id="6" name="Shape 3"/>
          <p:cNvSpPr/>
          <p:nvPr/>
        </p:nvSpPr>
        <p:spPr>
          <a:xfrm>
            <a:off x="626364" y="1719072"/>
            <a:ext cx="118872" cy="118872"/>
          </a:xfrm>
          <a:prstGeom prst="ellipse">
            <a:avLst/>
          </a:prstGeom>
          <a:solidFill>
            <a:srgbClr val="38BDF8"/>
          </a:solidFill>
          <a:ln w="12700">
            <a:solidFill>
              <a:srgbClr val="38BDF8"/>
            </a:solidFill>
            <a:prstDash val="solid"/>
          </a:ln>
        </p:spPr>
      </p:sp>
      <p:sp>
        <p:nvSpPr>
          <p:cNvPr id="7" name="Text 4"/>
          <p:cNvSpPr/>
          <p:nvPr/>
        </p:nvSpPr>
        <p:spPr>
          <a:xfrm>
            <a:off x="868680" y="1627632"/>
            <a:ext cx="2011680" cy="640080"/>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Decimal-precise monetary values — no float</a:t>
            </a:r>
            <a:endParaRPr lang="en-US" sz="1150" dirty="0"/>
          </a:p>
        </p:txBody>
      </p:sp>
      <p:sp>
        <p:nvSpPr>
          <p:cNvPr id="8" name="Shape 5"/>
          <p:cNvSpPr/>
          <p:nvPr/>
        </p:nvSpPr>
        <p:spPr>
          <a:xfrm>
            <a:off x="626364" y="2432304"/>
            <a:ext cx="118872" cy="118872"/>
          </a:xfrm>
          <a:prstGeom prst="ellipse">
            <a:avLst/>
          </a:prstGeom>
          <a:solidFill>
            <a:srgbClr val="38BDF8"/>
          </a:solidFill>
          <a:ln w="12700">
            <a:solidFill>
              <a:srgbClr val="38BDF8"/>
            </a:solidFill>
            <a:prstDash val="solid"/>
          </a:ln>
        </p:spPr>
      </p:sp>
      <p:sp>
        <p:nvSpPr>
          <p:cNvPr id="9" name="Text 6"/>
          <p:cNvSpPr/>
          <p:nvPr/>
        </p:nvSpPr>
        <p:spPr>
          <a:xfrm>
            <a:off x="868680" y="2340864"/>
            <a:ext cx="2011680" cy="640080"/>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Double-entry ledger: 2 entries per payment, always balanced</a:t>
            </a:r>
            <a:endParaRPr lang="en-US" sz="1150" dirty="0"/>
          </a:p>
        </p:txBody>
      </p:sp>
      <p:sp>
        <p:nvSpPr>
          <p:cNvPr id="10" name="Shape 7"/>
          <p:cNvSpPr/>
          <p:nvPr/>
        </p:nvSpPr>
        <p:spPr>
          <a:xfrm>
            <a:off x="626364" y="3145536"/>
            <a:ext cx="118872" cy="118872"/>
          </a:xfrm>
          <a:prstGeom prst="ellipse">
            <a:avLst/>
          </a:prstGeom>
          <a:solidFill>
            <a:srgbClr val="38BDF8"/>
          </a:solidFill>
          <a:ln w="12700">
            <a:solidFill>
              <a:srgbClr val="38BDF8"/>
            </a:solidFill>
            <a:prstDash val="solid"/>
          </a:ln>
        </p:spPr>
      </p:sp>
      <p:sp>
        <p:nvSpPr>
          <p:cNvPr id="11" name="Text 8"/>
          <p:cNvSpPr/>
          <p:nvPr/>
        </p:nvSpPr>
        <p:spPr>
          <a:xfrm>
            <a:off x="868680" y="3054096"/>
            <a:ext cx="2011680" cy="640080"/>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Idempotency: same request → same result</a:t>
            </a:r>
            <a:endParaRPr lang="en-US" sz="1150" dirty="0"/>
          </a:p>
        </p:txBody>
      </p:sp>
      <p:sp>
        <p:nvSpPr>
          <p:cNvPr id="12" name="Shape 9"/>
          <p:cNvSpPr/>
          <p:nvPr/>
        </p:nvSpPr>
        <p:spPr>
          <a:xfrm>
            <a:off x="626364" y="3858768"/>
            <a:ext cx="118872" cy="118872"/>
          </a:xfrm>
          <a:prstGeom prst="ellipse">
            <a:avLst/>
          </a:prstGeom>
          <a:solidFill>
            <a:srgbClr val="38BDF8"/>
          </a:solidFill>
          <a:ln w="12700">
            <a:solidFill>
              <a:srgbClr val="38BDF8"/>
            </a:solidFill>
            <a:prstDash val="solid"/>
          </a:ln>
        </p:spPr>
      </p:sp>
      <p:sp>
        <p:nvSpPr>
          <p:cNvPr id="13" name="Text 10"/>
          <p:cNvSpPr/>
          <p:nvPr/>
        </p:nvSpPr>
        <p:spPr>
          <a:xfrm>
            <a:off x="868680" y="3767328"/>
            <a:ext cx="2011680" cy="640080"/>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Optimistic concurrency: two debits cannot both succeed</a:t>
            </a:r>
            <a:endParaRPr lang="en-US" sz="1150" dirty="0"/>
          </a:p>
        </p:txBody>
      </p:sp>
      <p:sp>
        <p:nvSpPr>
          <p:cNvPr id="14" name="Shape 11"/>
          <p:cNvSpPr/>
          <p:nvPr/>
        </p:nvSpPr>
        <p:spPr>
          <a:xfrm>
            <a:off x="3291840" y="1005840"/>
            <a:ext cx="2697480" cy="3749040"/>
          </a:xfrm>
          <a:prstGeom prst="roundRect">
            <a:avLst>
              <a:gd name="adj" fmla="val 4068"/>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pic>
        <p:nvPicPr>
          <p:cNvPr id="15" name="Image 1" descr="preencoded.png">    </p:cNvPr>
          <p:cNvPicPr>
            <a:picLocks noChangeAspect="1"/>
          </p:cNvPicPr>
          <p:nvPr/>
        </p:nvPicPr>
        <p:blipFill>
          <a:blip r:embed="rId2"/>
          <a:stretch>
            <a:fillRect/>
          </a:stretch>
        </p:blipFill>
        <p:spPr>
          <a:xfrm>
            <a:off x="3456432" y="1115568"/>
            <a:ext cx="384048" cy="384048"/>
          </a:xfrm>
          <a:prstGeom prst="rect">
            <a:avLst/>
          </a:prstGeom>
        </p:spPr>
      </p:pic>
      <p:sp>
        <p:nvSpPr>
          <p:cNvPr id="16" name="Text 12"/>
          <p:cNvSpPr/>
          <p:nvPr/>
        </p:nvSpPr>
        <p:spPr>
          <a:xfrm>
            <a:off x="3913632" y="1143000"/>
            <a:ext cx="1920240" cy="347472"/>
          </a:xfrm>
          <a:prstGeom prst="rect">
            <a:avLst/>
          </a:prstGeom>
          <a:noFill/>
          <a:ln/>
        </p:spPr>
        <p:txBody>
          <a:bodyPr wrap="square" rtlCol="0" anchor="ctr"/>
          <a:lstStyle/>
          <a:p>
            <a:pPr indent="0" marL="0">
              <a:buNone/>
            </a:pPr>
            <a:r>
              <a:rPr lang="en-US" sz="1500" b="1" dirty="0">
                <a:solidFill>
                  <a:srgbClr val="CADCFC"/>
                </a:solidFill>
                <a:latin typeface="Calibri" pitchFamily="34" charset="0"/>
                <a:ea typeface="Calibri" pitchFamily="34" charset="-122"/>
                <a:cs typeface="Calibri" pitchFamily="34" charset="-120"/>
              </a:rPr>
              <a:t>Intelligence</a:t>
            </a:r>
            <a:endParaRPr lang="en-US" sz="1500" dirty="0"/>
          </a:p>
        </p:txBody>
      </p:sp>
      <p:sp>
        <p:nvSpPr>
          <p:cNvPr id="17" name="Shape 13"/>
          <p:cNvSpPr/>
          <p:nvPr/>
        </p:nvSpPr>
        <p:spPr>
          <a:xfrm>
            <a:off x="3552444" y="1719072"/>
            <a:ext cx="118872" cy="118872"/>
          </a:xfrm>
          <a:prstGeom prst="ellipse">
            <a:avLst/>
          </a:prstGeom>
          <a:solidFill>
            <a:srgbClr val="CADCFC"/>
          </a:solidFill>
          <a:ln w="12700">
            <a:solidFill>
              <a:srgbClr val="CADCFC"/>
            </a:solidFill>
            <a:prstDash val="solid"/>
          </a:ln>
        </p:spPr>
      </p:sp>
      <p:sp>
        <p:nvSpPr>
          <p:cNvPr id="18" name="Text 14"/>
          <p:cNvSpPr/>
          <p:nvPr/>
        </p:nvSpPr>
        <p:spPr>
          <a:xfrm>
            <a:off x="3794760" y="1627632"/>
            <a:ext cx="2011680" cy="640080"/>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Score every transaction for fraud in &lt;10ms</a:t>
            </a:r>
            <a:endParaRPr lang="en-US" sz="1150" dirty="0"/>
          </a:p>
        </p:txBody>
      </p:sp>
      <p:sp>
        <p:nvSpPr>
          <p:cNvPr id="19" name="Shape 15"/>
          <p:cNvSpPr/>
          <p:nvPr/>
        </p:nvSpPr>
        <p:spPr>
          <a:xfrm>
            <a:off x="3552444" y="2432304"/>
            <a:ext cx="118872" cy="118872"/>
          </a:xfrm>
          <a:prstGeom prst="ellipse">
            <a:avLst/>
          </a:prstGeom>
          <a:solidFill>
            <a:srgbClr val="CADCFC"/>
          </a:solidFill>
          <a:ln w="12700">
            <a:solidFill>
              <a:srgbClr val="CADCFC"/>
            </a:solidFill>
            <a:prstDash val="solid"/>
          </a:ln>
        </p:spPr>
      </p:sp>
      <p:sp>
        <p:nvSpPr>
          <p:cNvPr id="20" name="Text 16"/>
          <p:cNvSpPr/>
          <p:nvPr/>
        </p:nvSpPr>
        <p:spPr>
          <a:xfrm>
            <a:off x="3794760" y="2340864"/>
            <a:ext cx="2011680" cy="640080"/>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Explain decisions in plain language via Azure OpenAI</a:t>
            </a:r>
            <a:endParaRPr lang="en-US" sz="1150" dirty="0"/>
          </a:p>
        </p:txBody>
      </p:sp>
      <p:sp>
        <p:nvSpPr>
          <p:cNvPr id="21" name="Shape 17"/>
          <p:cNvSpPr/>
          <p:nvPr/>
        </p:nvSpPr>
        <p:spPr>
          <a:xfrm>
            <a:off x="3552444" y="3145536"/>
            <a:ext cx="118872" cy="118872"/>
          </a:xfrm>
          <a:prstGeom prst="ellipse">
            <a:avLst/>
          </a:prstGeom>
          <a:solidFill>
            <a:srgbClr val="CADCFC"/>
          </a:solidFill>
          <a:ln w="12700">
            <a:solidFill>
              <a:srgbClr val="CADCFC"/>
            </a:solidFill>
            <a:prstDash val="solid"/>
          </a:ln>
        </p:spPr>
      </p:sp>
      <p:sp>
        <p:nvSpPr>
          <p:cNvPr id="22" name="Text 18"/>
          <p:cNvSpPr/>
          <p:nvPr/>
        </p:nvSpPr>
        <p:spPr>
          <a:xfrm>
            <a:off x="3794760" y="3054096"/>
            <a:ext cx="2011680" cy="640080"/>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Answer policy questions from a vector knowledge base</a:t>
            </a:r>
            <a:endParaRPr lang="en-US" sz="1150" dirty="0"/>
          </a:p>
        </p:txBody>
      </p:sp>
      <p:sp>
        <p:nvSpPr>
          <p:cNvPr id="23" name="Shape 19"/>
          <p:cNvSpPr/>
          <p:nvPr/>
        </p:nvSpPr>
        <p:spPr>
          <a:xfrm>
            <a:off x="3552444" y="3858768"/>
            <a:ext cx="118872" cy="118872"/>
          </a:xfrm>
          <a:prstGeom prst="ellipse">
            <a:avLst/>
          </a:prstGeom>
          <a:solidFill>
            <a:srgbClr val="CADCFC"/>
          </a:solidFill>
          <a:ln w="12700">
            <a:solidFill>
              <a:srgbClr val="CADCFC"/>
            </a:solidFill>
            <a:prstDash val="solid"/>
          </a:ln>
        </p:spPr>
      </p:sp>
      <p:sp>
        <p:nvSpPr>
          <p:cNvPr id="24" name="Text 20"/>
          <p:cNvSpPr/>
          <p:nvPr/>
        </p:nvSpPr>
        <p:spPr>
          <a:xfrm>
            <a:off x="3794760" y="3767328"/>
            <a:ext cx="2011680" cy="640080"/>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Degrade gracefully when AI services are unavailable</a:t>
            </a:r>
            <a:endParaRPr lang="en-US" sz="1150" dirty="0"/>
          </a:p>
        </p:txBody>
      </p:sp>
      <p:sp>
        <p:nvSpPr>
          <p:cNvPr id="25" name="Shape 21"/>
          <p:cNvSpPr/>
          <p:nvPr/>
        </p:nvSpPr>
        <p:spPr>
          <a:xfrm>
            <a:off x="6217920" y="1005840"/>
            <a:ext cx="2697480" cy="3749040"/>
          </a:xfrm>
          <a:prstGeom prst="roundRect">
            <a:avLst>
              <a:gd name="adj" fmla="val 4068"/>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pic>
        <p:nvPicPr>
          <p:cNvPr id="26" name="Image 2" descr="preencoded.png">    </p:cNvPr>
          <p:cNvPicPr>
            <a:picLocks noChangeAspect="1"/>
          </p:cNvPicPr>
          <p:nvPr/>
        </p:nvPicPr>
        <p:blipFill>
          <a:blip r:embed="rId3"/>
          <a:stretch>
            <a:fillRect/>
          </a:stretch>
        </p:blipFill>
        <p:spPr>
          <a:xfrm>
            <a:off x="6382512" y="1115568"/>
            <a:ext cx="384048" cy="384048"/>
          </a:xfrm>
          <a:prstGeom prst="rect">
            <a:avLst/>
          </a:prstGeom>
        </p:spPr>
      </p:pic>
      <p:sp>
        <p:nvSpPr>
          <p:cNvPr id="27" name="Text 22"/>
          <p:cNvSpPr/>
          <p:nvPr/>
        </p:nvSpPr>
        <p:spPr>
          <a:xfrm>
            <a:off x="6839712" y="1143000"/>
            <a:ext cx="1920240" cy="347472"/>
          </a:xfrm>
          <a:prstGeom prst="rect">
            <a:avLst/>
          </a:prstGeom>
          <a:noFill/>
          <a:ln/>
        </p:spPr>
        <p:txBody>
          <a:bodyPr wrap="square" rtlCol="0" anchor="ctr"/>
          <a:lstStyle/>
          <a:p>
            <a:pPr indent="0" marL="0">
              <a:buNone/>
            </a:pPr>
            <a:r>
              <a:rPr lang="en-US" sz="1500" b="1" dirty="0">
                <a:solidFill>
                  <a:srgbClr val="22C55E"/>
                </a:solidFill>
                <a:latin typeface="Calibri" pitchFamily="34" charset="0"/>
                <a:ea typeface="Calibri" pitchFamily="34" charset="-122"/>
                <a:cs typeface="Calibri" pitchFamily="34" charset="-120"/>
              </a:rPr>
              <a:t>Operability</a:t>
            </a:r>
            <a:endParaRPr lang="en-US" sz="1500" dirty="0"/>
          </a:p>
        </p:txBody>
      </p:sp>
      <p:sp>
        <p:nvSpPr>
          <p:cNvPr id="28" name="Shape 23"/>
          <p:cNvSpPr/>
          <p:nvPr/>
        </p:nvSpPr>
        <p:spPr>
          <a:xfrm>
            <a:off x="6478524" y="1719072"/>
            <a:ext cx="118872" cy="118872"/>
          </a:xfrm>
          <a:prstGeom prst="ellipse">
            <a:avLst/>
          </a:prstGeom>
          <a:solidFill>
            <a:srgbClr val="22C55E"/>
          </a:solidFill>
          <a:ln w="12700">
            <a:solidFill>
              <a:srgbClr val="22C55E"/>
            </a:solidFill>
            <a:prstDash val="solid"/>
          </a:ln>
        </p:spPr>
      </p:sp>
      <p:sp>
        <p:nvSpPr>
          <p:cNvPr id="29" name="Text 24"/>
          <p:cNvSpPr/>
          <p:nvPr/>
        </p:nvSpPr>
        <p:spPr>
          <a:xfrm>
            <a:off x="6720840" y="1627632"/>
            <a:ext cx="2011680" cy="640080"/>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Single-command startup: make up</a:t>
            </a:r>
            <a:endParaRPr lang="en-US" sz="1150" dirty="0"/>
          </a:p>
        </p:txBody>
      </p:sp>
      <p:sp>
        <p:nvSpPr>
          <p:cNvPr id="30" name="Shape 25"/>
          <p:cNvSpPr/>
          <p:nvPr/>
        </p:nvSpPr>
        <p:spPr>
          <a:xfrm>
            <a:off x="6478524" y="2432304"/>
            <a:ext cx="118872" cy="118872"/>
          </a:xfrm>
          <a:prstGeom prst="ellipse">
            <a:avLst/>
          </a:prstGeom>
          <a:solidFill>
            <a:srgbClr val="22C55E"/>
          </a:solidFill>
          <a:ln w="12700">
            <a:solidFill>
              <a:srgbClr val="22C55E"/>
            </a:solidFill>
            <a:prstDash val="solid"/>
          </a:ln>
        </p:spPr>
      </p:sp>
      <p:sp>
        <p:nvSpPr>
          <p:cNvPr id="31" name="Text 26"/>
          <p:cNvSpPr/>
          <p:nvPr/>
        </p:nvSpPr>
        <p:spPr>
          <a:xfrm>
            <a:off x="6720840" y="2340864"/>
            <a:ext cx="2011680" cy="640080"/>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Health + readiness endpoints on every service</a:t>
            </a:r>
            <a:endParaRPr lang="en-US" sz="1150" dirty="0"/>
          </a:p>
        </p:txBody>
      </p:sp>
      <p:sp>
        <p:nvSpPr>
          <p:cNvPr id="32" name="Shape 27"/>
          <p:cNvSpPr/>
          <p:nvPr/>
        </p:nvSpPr>
        <p:spPr>
          <a:xfrm>
            <a:off x="6478524" y="3145536"/>
            <a:ext cx="118872" cy="118872"/>
          </a:xfrm>
          <a:prstGeom prst="ellipse">
            <a:avLst/>
          </a:prstGeom>
          <a:solidFill>
            <a:srgbClr val="22C55E"/>
          </a:solidFill>
          <a:ln w="12700">
            <a:solidFill>
              <a:srgbClr val="22C55E"/>
            </a:solidFill>
            <a:prstDash val="solid"/>
          </a:ln>
        </p:spPr>
      </p:sp>
      <p:sp>
        <p:nvSpPr>
          <p:cNvPr id="33" name="Text 28"/>
          <p:cNvSpPr/>
          <p:nvPr/>
        </p:nvSpPr>
        <p:spPr>
          <a:xfrm>
            <a:off x="6720840" y="3054096"/>
            <a:ext cx="2011680" cy="640080"/>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Structured JSON logging with trace IDs</a:t>
            </a:r>
            <a:endParaRPr lang="en-US" sz="1150" dirty="0"/>
          </a:p>
        </p:txBody>
      </p:sp>
      <p:sp>
        <p:nvSpPr>
          <p:cNvPr id="34" name="Shape 29"/>
          <p:cNvSpPr/>
          <p:nvPr/>
        </p:nvSpPr>
        <p:spPr>
          <a:xfrm>
            <a:off x="6478524" y="3858768"/>
            <a:ext cx="118872" cy="118872"/>
          </a:xfrm>
          <a:prstGeom prst="ellipse">
            <a:avLst/>
          </a:prstGeom>
          <a:solidFill>
            <a:srgbClr val="22C55E"/>
          </a:solidFill>
          <a:ln w="12700">
            <a:solidFill>
              <a:srgbClr val="22C55E"/>
            </a:solidFill>
            <a:prstDash val="solid"/>
          </a:ln>
        </p:spPr>
      </p:sp>
      <p:sp>
        <p:nvSpPr>
          <p:cNvPr id="35" name="Text 30"/>
          <p:cNvSpPr/>
          <p:nvPr/>
        </p:nvSpPr>
        <p:spPr>
          <a:xfrm>
            <a:off x="6720840" y="3767328"/>
            <a:ext cx="2011680" cy="640080"/>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React dashboard: live transactions, risk, AI panels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Five Containers, One Command</a:t>
            </a:r>
            <a:endParaRPr lang="en-US" sz="3200" dirty="0"/>
          </a:p>
        </p:txBody>
      </p:sp>
      <p:sp>
        <p:nvSpPr>
          <p:cNvPr id="3" name="Shape 1"/>
          <p:cNvSpPr/>
          <p:nvPr/>
        </p:nvSpPr>
        <p:spPr>
          <a:xfrm>
            <a:off x="320040" y="914400"/>
            <a:ext cx="8503920" cy="3337560"/>
          </a:xfrm>
          <a:prstGeom prst="roundRect">
            <a:avLst>
              <a:gd name="adj" fmla="val 3288"/>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4" name="Text 2"/>
          <p:cNvSpPr/>
          <p:nvPr/>
        </p:nvSpPr>
        <p:spPr>
          <a:xfrm>
            <a:off x="2743200" y="987552"/>
            <a:ext cx="3657600" cy="274320"/>
          </a:xfrm>
          <a:prstGeom prst="rect">
            <a:avLst/>
          </a:prstGeom>
          <a:noFill/>
          <a:ln/>
        </p:spPr>
        <p:txBody>
          <a:bodyPr wrap="square" rtlCol="0" anchor="ctr"/>
          <a:lstStyle/>
          <a:p>
            <a:pPr algn="ctr" indent="0" marL="0">
              <a:buNone/>
            </a:pPr>
            <a:r>
              <a:rPr lang="en-US" sz="1100" i="1" dirty="0">
                <a:solidFill>
                  <a:srgbClr val="8096C4"/>
                </a:solidFill>
                <a:latin typeface="Calibri" pitchFamily="34" charset="0"/>
                <a:ea typeface="Calibri" pitchFamily="34" charset="-122"/>
                <a:cs typeface="Calibri" pitchFamily="34" charset="-120"/>
              </a:rPr>
              <a:t>pg-net (internal bridge network)</a:t>
            </a:r>
            <a:endParaRPr lang="en-US" sz="1100" dirty="0"/>
          </a:p>
        </p:txBody>
      </p:sp>
      <p:sp>
        <p:nvSpPr>
          <p:cNvPr id="5" name="Shape 3"/>
          <p:cNvSpPr/>
          <p:nvPr/>
        </p:nvSpPr>
        <p:spPr>
          <a:xfrm>
            <a:off x="640080" y="1463040"/>
            <a:ext cx="2468880" cy="1143000"/>
          </a:xfrm>
          <a:prstGeom prst="roundRect">
            <a:avLst>
              <a:gd name="adj" fmla="val 8000"/>
            </a:avLst>
          </a:prstGeom>
          <a:solidFill>
            <a:srgbClr val="2E3F9E"/>
          </a:solidFill>
          <a:ln w="19050">
            <a:solidFill>
              <a:srgbClr val="38BDF8"/>
            </a:solidFill>
            <a:prstDash val="solid"/>
          </a:ln>
        </p:spPr>
      </p:sp>
      <p:pic>
        <p:nvPicPr>
          <p:cNvPr id="6" name="Image 0" descr="preencoded.png">    </p:cNvPr>
          <p:cNvPicPr>
            <a:picLocks noChangeAspect="1"/>
          </p:cNvPicPr>
          <p:nvPr/>
        </p:nvPicPr>
        <p:blipFill>
          <a:blip r:embed="rId1"/>
          <a:stretch>
            <a:fillRect/>
          </a:stretch>
        </p:blipFill>
        <p:spPr>
          <a:xfrm>
            <a:off x="731520" y="1810512"/>
            <a:ext cx="384048" cy="384048"/>
          </a:xfrm>
          <a:prstGeom prst="rect">
            <a:avLst/>
          </a:prstGeom>
        </p:spPr>
      </p:pic>
      <p:sp>
        <p:nvSpPr>
          <p:cNvPr id="7" name="Text 4"/>
          <p:cNvSpPr/>
          <p:nvPr/>
        </p:nvSpPr>
        <p:spPr>
          <a:xfrm>
            <a:off x="1188720" y="1572768"/>
            <a:ext cx="1828800" cy="292608"/>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pg-frontend</a:t>
            </a:r>
            <a:endParaRPr lang="en-US" sz="1100" dirty="0"/>
          </a:p>
        </p:txBody>
      </p:sp>
      <p:sp>
        <p:nvSpPr>
          <p:cNvPr id="8" name="Text 5"/>
          <p:cNvSpPr/>
          <p:nvPr/>
        </p:nvSpPr>
        <p:spPr>
          <a:xfrm>
            <a:off x="1188720" y="1865376"/>
            <a:ext cx="1828800" cy="256032"/>
          </a:xfrm>
          <a:prstGeom prst="rect">
            <a:avLst/>
          </a:prstGeom>
          <a:noFill/>
          <a:ln/>
        </p:spPr>
        <p:txBody>
          <a:bodyPr wrap="square" rtlCol="0" anchor="ctr"/>
          <a:lstStyle/>
          <a:p>
            <a:pPr indent="0" marL="0">
              <a:buNone/>
            </a:pPr>
            <a:r>
              <a:rPr lang="en-US" sz="950" dirty="0">
                <a:solidFill>
                  <a:srgbClr val="E8EDF8"/>
                </a:solidFill>
                <a:latin typeface="Calibri" pitchFamily="34" charset="0"/>
                <a:ea typeface="Calibri" pitchFamily="34" charset="-122"/>
                <a:cs typeface="Calibri" pitchFamily="34" charset="-120"/>
              </a:rPr>
              <a:t>React + nginx</a:t>
            </a:r>
            <a:endParaRPr lang="en-US" sz="950" dirty="0"/>
          </a:p>
        </p:txBody>
      </p:sp>
      <p:sp>
        <p:nvSpPr>
          <p:cNvPr id="9" name="Text 6"/>
          <p:cNvSpPr/>
          <p:nvPr/>
        </p:nvSpPr>
        <p:spPr>
          <a:xfrm>
            <a:off x="1188720" y="2139696"/>
            <a:ext cx="1371600" cy="237744"/>
          </a:xfrm>
          <a:prstGeom prst="rect">
            <a:avLst/>
          </a:prstGeom>
          <a:noFill/>
          <a:ln/>
        </p:spPr>
        <p:txBody>
          <a:bodyPr wrap="square" rtlCol="0" anchor="ctr"/>
          <a:lstStyle/>
          <a:p>
            <a:pPr indent="0" marL="0">
              <a:buNone/>
            </a:pPr>
            <a:r>
              <a:rPr lang="en-US" sz="1000" dirty="0">
                <a:solidFill>
                  <a:srgbClr val="8096C4"/>
                </a:solidFill>
                <a:latin typeface="Courier New" pitchFamily="34" charset="0"/>
                <a:ea typeface="Courier New" pitchFamily="34" charset="-122"/>
                <a:cs typeface="Courier New" pitchFamily="34" charset="-120"/>
              </a:rPr>
              <a:t>:3000</a:t>
            </a:r>
            <a:endParaRPr lang="en-US" sz="1000" dirty="0"/>
          </a:p>
        </p:txBody>
      </p:sp>
      <p:sp>
        <p:nvSpPr>
          <p:cNvPr id="10" name="Shape 7"/>
          <p:cNvSpPr/>
          <p:nvPr/>
        </p:nvSpPr>
        <p:spPr>
          <a:xfrm>
            <a:off x="2834640" y="1463040"/>
            <a:ext cx="2468880" cy="1143000"/>
          </a:xfrm>
          <a:prstGeom prst="roundRect">
            <a:avLst>
              <a:gd name="adj" fmla="val 8000"/>
            </a:avLst>
          </a:prstGeom>
          <a:solidFill>
            <a:srgbClr val="2E3F9E"/>
          </a:solidFill>
          <a:ln w="19050">
            <a:solidFill>
              <a:srgbClr val="22C55E"/>
            </a:solidFill>
            <a:prstDash val="solid"/>
          </a:ln>
        </p:spPr>
      </p:sp>
      <p:pic>
        <p:nvPicPr>
          <p:cNvPr id="11" name="Image 1" descr="preencoded.png">    </p:cNvPr>
          <p:cNvPicPr>
            <a:picLocks noChangeAspect="1"/>
          </p:cNvPicPr>
          <p:nvPr/>
        </p:nvPicPr>
        <p:blipFill>
          <a:blip r:embed="rId2"/>
          <a:stretch>
            <a:fillRect/>
          </a:stretch>
        </p:blipFill>
        <p:spPr>
          <a:xfrm>
            <a:off x="2926080" y="1810512"/>
            <a:ext cx="384048" cy="384048"/>
          </a:xfrm>
          <a:prstGeom prst="rect">
            <a:avLst/>
          </a:prstGeom>
        </p:spPr>
      </p:pic>
      <p:sp>
        <p:nvSpPr>
          <p:cNvPr id="12" name="Text 8"/>
          <p:cNvSpPr/>
          <p:nvPr/>
        </p:nvSpPr>
        <p:spPr>
          <a:xfrm>
            <a:off x="3383280" y="1572768"/>
            <a:ext cx="1828800" cy="292608"/>
          </a:xfrm>
          <a:prstGeom prst="rect">
            <a:avLst/>
          </a:prstGeom>
          <a:noFill/>
          <a:ln/>
        </p:spPr>
        <p:txBody>
          <a:bodyPr wrap="square" rtlCol="0" anchor="ctr"/>
          <a:lstStyle/>
          <a:p>
            <a:pPr indent="0" marL="0">
              <a:buNone/>
            </a:pPr>
            <a:r>
              <a:rPr lang="en-US" sz="1100" b="1" dirty="0">
                <a:solidFill>
                  <a:srgbClr val="22C55E"/>
                </a:solidFill>
                <a:latin typeface="Calibri" pitchFamily="34" charset="0"/>
                <a:ea typeface="Calibri" pitchFamily="34" charset="-122"/>
                <a:cs typeface="Calibri" pitchFamily="34" charset="-120"/>
              </a:rPr>
              <a:t>pg-core-api</a:t>
            </a:r>
            <a:endParaRPr lang="en-US" sz="1100" dirty="0"/>
          </a:p>
        </p:txBody>
      </p:sp>
      <p:sp>
        <p:nvSpPr>
          <p:cNvPr id="13" name="Text 9"/>
          <p:cNvSpPr/>
          <p:nvPr/>
        </p:nvSpPr>
        <p:spPr>
          <a:xfrm>
            <a:off x="3383280" y="1865376"/>
            <a:ext cx="1828800" cy="256032"/>
          </a:xfrm>
          <a:prstGeom prst="rect">
            <a:avLst/>
          </a:prstGeom>
          <a:noFill/>
          <a:ln/>
        </p:spPr>
        <p:txBody>
          <a:bodyPr wrap="square" rtlCol="0" anchor="ctr"/>
          <a:lstStyle/>
          <a:p>
            <a:pPr indent="0" marL="0">
              <a:buNone/>
            </a:pPr>
            <a:r>
              <a:rPr lang="en-US" sz="950" dirty="0">
                <a:solidFill>
                  <a:srgbClr val="E8EDF8"/>
                </a:solidFill>
                <a:latin typeface="Calibri" pitchFamily="34" charset="0"/>
                <a:ea typeface="Calibri" pitchFamily="34" charset="-122"/>
                <a:cs typeface="Calibri" pitchFamily="34" charset="-120"/>
              </a:rPr>
              <a:t>FastAPI + SQLAlchemy</a:t>
            </a:r>
            <a:endParaRPr lang="en-US" sz="950" dirty="0"/>
          </a:p>
        </p:txBody>
      </p:sp>
      <p:sp>
        <p:nvSpPr>
          <p:cNvPr id="14" name="Text 10"/>
          <p:cNvSpPr/>
          <p:nvPr/>
        </p:nvSpPr>
        <p:spPr>
          <a:xfrm>
            <a:off x="3383280" y="2139696"/>
            <a:ext cx="1371600" cy="237744"/>
          </a:xfrm>
          <a:prstGeom prst="rect">
            <a:avLst/>
          </a:prstGeom>
          <a:noFill/>
          <a:ln/>
        </p:spPr>
        <p:txBody>
          <a:bodyPr wrap="square" rtlCol="0" anchor="ctr"/>
          <a:lstStyle/>
          <a:p>
            <a:pPr indent="0" marL="0">
              <a:buNone/>
            </a:pPr>
            <a:r>
              <a:rPr lang="en-US" sz="1000" dirty="0">
                <a:solidFill>
                  <a:srgbClr val="8096C4"/>
                </a:solidFill>
                <a:latin typeface="Courier New" pitchFamily="34" charset="0"/>
                <a:ea typeface="Courier New" pitchFamily="34" charset="-122"/>
                <a:cs typeface="Courier New" pitchFamily="34" charset="-120"/>
              </a:rPr>
              <a:t>:8000</a:t>
            </a:r>
            <a:endParaRPr lang="en-US" sz="1000" dirty="0"/>
          </a:p>
        </p:txBody>
      </p:sp>
      <p:sp>
        <p:nvSpPr>
          <p:cNvPr id="15" name="Shape 11"/>
          <p:cNvSpPr/>
          <p:nvPr/>
        </p:nvSpPr>
        <p:spPr>
          <a:xfrm>
            <a:off x="2834640" y="2834640"/>
            <a:ext cx="2468880" cy="1143000"/>
          </a:xfrm>
          <a:prstGeom prst="roundRect">
            <a:avLst>
              <a:gd name="adj" fmla="val 8000"/>
            </a:avLst>
          </a:prstGeom>
          <a:solidFill>
            <a:srgbClr val="2E3F9E"/>
          </a:solidFill>
          <a:ln w="19050">
            <a:solidFill>
              <a:srgbClr val="CADCFC"/>
            </a:solidFill>
            <a:prstDash val="solid"/>
          </a:ln>
        </p:spPr>
      </p:sp>
      <p:pic>
        <p:nvPicPr>
          <p:cNvPr id="16" name="Image 2" descr="preencoded.png">    </p:cNvPr>
          <p:cNvPicPr>
            <a:picLocks noChangeAspect="1"/>
          </p:cNvPicPr>
          <p:nvPr/>
        </p:nvPicPr>
        <p:blipFill>
          <a:blip r:embed="rId3"/>
          <a:stretch>
            <a:fillRect/>
          </a:stretch>
        </p:blipFill>
        <p:spPr>
          <a:xfrm>
            <a:off x="2926080" y="3182112"/>
            <a:ext cx="384048" cy="384048"/>
          </a:xfrm>
          <a:prstGeom prst="rect">
            <a:avLst/>
          </a:prstGeom>
        </p:spPr>
      </p:pic>
      <p:sp>
        <p:nvSpPr>
          <p:cNvPr id="17" name="Text 12"/>
          <p:cNvSpPr/>
          <p:nvPr/>
        </p:nvSpPr>
        <p:spPr>
          <a:xfrm>
            <a:off x="3383280" y="2944368"/>
            <a:ext cx="1828800" cy="292608"/>
          </a:xfrm>
          <a:prstGeom prst="rect">
            <a:avLst/>
          </a:prstGeom>
          <a:noFill/>
          <a:ln/>
        </p:spPr>
        <p:txBody>
          <a:bodyPr wrap="square" rtlCol="0" anchor="ctr"/>
          <a:lstStyle/>
          <a:p>
            <a:pPr indent="0" marL="0">
              <a:buNone/>
            </a:pPr>
            <a:r>
              <a:rPr lang="en-US" sz="1100" b="1" dirty="0">
                <a:solidFill>
                  <a:srgbClr val="CADCFC"/>
                </a:solidFill>
                <a:latin typeface="Calibri" pitchFamily="34" charset="0"/>
                <a:ea typeface="Calibri" pitchFamily="34" charset="-122"/>
                <a:cs typeface="Calibri" pitchFamily="34" charset="-120"/>
              </a:rPr>
              <a:t>pg-postgres</a:t>
            </a:r>
            <a:endParaRPr lang="en-US" sz="1100" dirty="0"/>
          </a:p>
        </p:txBody>
      </p:sp>
      <p:sp>
        <p:nvSpPr>
          <p:cNvPr id="18" name="Text 13"/>
          <p:cNvSpPr/>
          <p:nvPr/>
        </p:nvSpPr>
        <p:spPr>
          <a:xfrm>
            <a:off x="3383280" y="3236976"/>
            <a:ext cx="1828800" cy="256032"/>
          </a:xfrm>
          <a:prstGeom prst="rect">
            <a:avLst/>
          </a:prstGeom>
          <a:noFill/>
          <a:ln/>
        </p:spPr>
        <p:txBody>
          <a:bodyPr wrap="square" rtlCol="0" anchor="ctr"/>
          <a:lstStyle/>
          <a:p>
            <a:pPr indent="0" marL="0">
              <a:buNone/>
            </a:pPr>
            <a:r>
              <a:rPr lang="en-US" sz="950" dirty="0">
                <a:solidFill>
                  <a:srgbClr val="E8EDF8"/>
                </a:solidFill>
                <a:latin typeface="Calibri" pitchFamily="34" charset="0"/>
                <a:ea typeface="Calibri" pitchFamily="34" charset="-122"/>
                <a:cs typeface="Calibri" pitchFamily="34" charset="-120"/>
              </a:rPr>
              <a:t>PostgreSQL 16 + pgvector</a:t>
            </a:r>
            <a:endParaRPr lang="en-US" sz="950" dirty="0"/>
          </a:p>
        </p:txBody>
      </p:sp>
      <p:sp>
        <p:nvSpPr>
          <p:cNvPr id="19" name="Text 14"/>
          <p:cNvSpPr/>
          <p:nvPr/>
        </p:nvSpPr>
        <p:spPr>
          <a:xfrm>
            <a:off x="3383280" y="3511296"/>
            <a:ext cx="1371600" cy="237744"/>
          </a:xfrm>
          <a:prstGeom prst="rect">
            <a:avLst/>
          </a:prstGeom>
          <a:noFill/>
          <a:ln/>
        </p:spPr>
        <p:txBody>
          <a:bodyPr wrap="square" rtlCol="0" anchor="ctr"/>
          <a:lstStyle/>
          <a:p>
            <a:pPr indent="0" marL="0">
              <a:buNone/>
            </a:pPr>
            <a:r>
              <a:rPr lang="en-US" sz="1000" dirty="0">
                <a:solidFill>
                  <a:srgbClr val="8096C4"/>
                </a:solidFill>
                <a:latin typeface="Courier New" pitchFamily="34" charset="0"/>
                <a:ea typeface="Courier New" pitchFamily="34" charset="-122"/>
                <a:cs typeface="Courier New" pitchFamily="34" charset="-120"/>
              </a:rPr>
              <a:t>:5432</a:t>
            </a:r>
            <a:endParaRPr lang="en-US" sz="1000" dirty="0"/>
          </a:p>
        </p:txBody>
      </p:sp>
      <p:sp>
        <p:nvSpPr>
          <p:cNvPr id="20" name="Shape 15"/>
          <p:cNvSpPr/>
          <p:nvPr/>
        </p:nvSpPr>
        <p:spPr>
          <a:xfrm>
            <a:off x="5852160" y="1463040"/>
            <a:ext cx="2468880" cy="1143000"/>
          </a:xfrm>
          <a:prstGeom prst="roundRect">
            <a:avLst>
              <a:gd name="adj" fmla="val 8000"/>
            </a:avLst>
          </a:prstGeom>
          <a:solidFill>
            <a:srgbClr val="2E3F9E"/>
          </a:solidFill>
          <a:ln w="19050">
            <a:solidFill>
              <a:srgbClr val="F59E0B"/>
            </a:solidFill>
            <a:prstDash val="solid"/>
          </a:ln>
        </p:spPr>
      </p:sp>
      <p:pic>
        <p:nvPicPr>
          <p:cNvPr id="21" name="Image 3" descr="preencoded.png">    </p:cNvPr>
          <p:cNvPicPr>
            <a:picLocks noChangeAspect="1"/>
          </p:cNvPicPr>
          <p:nvPr/>
        </p:nvPicPr>
        <p:blipFill>
          <a:blip r:embed="rId4"/>
          <a:stretch>
            <a:fillRect/>
          </a:stretch>
        </p:blipFill>
        <p:spPr>
          <a:xfrm>
            <a:off x="5943600" y="1810512"/>
            <a:ext cx="384048" cy="384048"/>
          </a:xfrm>
          <a:prstGeom prst="rect">
            <a:avLst/>
          </a:prstGeom>
        </p:spPr>
      </p:pic>
      <p:sp>
        <p:nvSpPr>
          <p:cNvPr id="22" name="Text 16"/>
          <p:cNvSpPr/>
          <p:nvPr/>
        </p:nvSpPr>
        <p:spPr>
          <a:xfrm>
            <a:off x="6400800" y="1572768"/>
            <a:ext cx="1828800" cy="292608"/>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pg-ai-service</a:t>
            </a:r>
            <a:endParaRPr lang="en-US" sz="1100" dirty="0"/>
          </a:p>
        </p:txBody>
      </p:sp>
      <p:sp>
        <p:nvSpPr>
          <p:cNvPr id="23" name="Text 17"/>
          <p:cNvSpPr/>
          <p:nvPr/>
        </p:nvSpPr>
        <p:spPr>
          <a:xfrm>
            <a:off x="6400800" y="1865376"/>
            <a:ext cx="1828800" cy="256032"/>
          </a:xfrm>
          <a:prstGeom prst="rect">
            <a:avLst/>
          </a:prstGeom>
          <a:noFill/>
          <a:ln/>
        </p:spPr>
        <p:txBody>
          <a:bodyPr wrap="square" rtlCol="0" anchor="ctr"/>
          <a:lstStyle/>
          <a:p>
            <a:pPr indent="0" marL="0">
              <a:buNone/>
            </a:pPr>
            <a:r>
              <a:rPr lang="en-US" sz="950" dirty="0">
                <a:solidFill>
                  <a:srgbClr val="E8EDF8"/>
                </a:solidFill>
                <a:latin typeface="Calibri" pitchFamily="34" charset="0"/>
                <a:ea typeface="Calibri" pitchFamily="34" charset="-122"/>
                <a:cs typeface="Calibri" pitchFamily="34" charset="-120"/>
              </a:rPr>
              <a:t>FastAPI + Azure OpenAI</a:t>
            </a:r>
            <a:endParaRPr lang="en-US" sz="950" dirty="0"/>
          </a:p>
        </p:txBody>
      </p:sp>
      <p:sp>
        <p:nvSpPr>
          <p:cNvPr id="24" name="Text 18"/>
          <p:cNvSpPr/>
          <p:nvPr/>
        </p:nvSpPr>
        <p:spPr>
          <a:xfrm>
            <a:off x="6400800" y="2139696"/>
            <a:ext cx="1371600" cy="237744"/>
          </a:xfrm>
          <a:prstGeom prst="rect">
            <a:avLst/>
          </a:prstGeom>
          <a:noFill/>
          <a:ln/>
        </p:spPr>
        <p:txBody>
          <a:bodyPr wrap="square" rtlCol="0" anchor="ctr"/>
          <a:lstStyle/>
          <a:p>
            <a:pPr indent="0" marL="0">
              <a:buNone/>
            </a:pPr>
            <a:r>
              <a:rPr lang="en-US" sz="1000" dirty="0">
                <a:solidFill>
                  <a:srgbClr val="8096C4"/>
                </a:solidFill>
                <a:latin typeface="Courier New" pitchFamily="34" charset="0"/>
                <a:ea typeface="Courier New" pitchFamily="34" charset="-122"/>
                <a:cs typeface="Courier New" pitchFamily="34" charset="-120"/>
              </a:rPr>
              <a:t>:8100</a:t>
            </a:r>
            <a:endParaRPr lang="en-US" sz="1000" dirty="0"/>
          </a:p>
        </p:txBody>
      </p:sp>
      <p:sp>
        <p:nvSpPr>
          <p:cNvPr id="25" name="Shape 19"/>
          <p:cNvSpPr/>
          <p:nvPr/>
        </p:nvSpPr>
        <p:spPr>
          <a:xfrm>
            <a:off x="5852160" y="2834640"/>
            <a:ext cx="2468880" cy="1143000"/>
          </a:xfrm>
          <a:prstGeom prst="roundRect">
            <a:avLst>
              <a:gd name="adj" fmla="val 8000"/>
            </a:avLst>
          </a:prstGeom>
          <a:solidFill>
            <a:srgbClr val="2E3F9E"/>
          </a:solidFill>
          <a:ln w="19050">
            <a:solidFill>
              <a:srgbClr val="EF4444"/>
            </a:solidFill>
            <a:prstDash val="solid"/>
          </a:ln>
        </p:spPr>
      </p:sp>
      <p:pic>
        <p:nvPicPr>
          <p:cNvPr id="26" name="Image 4" descr="preencoded.png">    </p:cNvPr>
          <p:cNvPicPr>
            <a:picLocks noChangeAspect="1"/>
          </p:cNvPicPr>
          <p:nvPr/>
        </p:nvPicPr>
        <p:blipFill>
          <a:blip r:embed="rId5"/>
          <a:stretch>
            <a:fillRect/>
          </a:stretch>
        </p:blipFill>
        <p:spPr>
          <a:xfrm>
            <a:off x="5943600" y="3182112"/>
            <a:ext cx="384048" cy="384048"/>
          </a:xfrm>
          <a:prstGeom prst="rect">
            <a:avLst/>
          </a:prstGeom>
        </p:spPr>
      </p:pic>
      <p:sp>
        <p:nvSpPr>
          <p:cNvPr id="27" name="Text 20"/>
          <p:cNvSpPr/>
          <p:nvPr/>
        </p:nvSpPr>
        <p:spPr>
          <a:xfrm>
            <a:off x="6400800" y="2944368"/>
            <a:ext cx="1828800" cy="292608"/>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pg-redis</a:t>
            </a:r>
            <a:endParaRPr lang="en-US" sz="1100" dirty="0"/>
          </a:p>
        </p:txBody>
      </p:sp>
      <p:sp>
        <p:nvSpPr>
          <p:cNvPr id="28" name="Text 21"/>
          <p:cNvSpPr/>
          <p:nvPr/>
        </p:nvSpPr>
        <p:spPr>
          <a:xfrm>
            <a:off x="6400800" y="3236976"/>
            <a:ext cx="1828800" cy="256032"/>
          </a:xfrm>
          <a:prstGeom prst="rect">
            <a:avLst/>
          </a:prstGeom>
          <a:noFill/>
          <a:ln/>
        </p:spPr>
        <p:txBody>
          <a:bodyPr wrap="square" rtlCol="0" anchor="ctr"/>
          <a:lstStyle/>
          <a:p>
            <a:pPr indent="0" marL="0">
              <a:buNone/>
            </a:pPr>
            <a:r>
              <a:rPr lang="en-US" sz="950" dirty="0">
                <a:solidFill>
                  <a:srgbClr val="E8EDF8"/>
                </a:solidFill>
                <a:latin typeface="Calibri" pitchFamily="34" charset="0"/>
                <a:ea typeface="Calibri" pitchFamily="34" charset="-122"/>
                <a:cs typeface="Calibri" pitchFamily="34" charset="-120"/>
              </a:rPr>
              <a:t>Redis 7 · AOF</a:t>
            </a:r>
            <a:endParaRPr lang="en-US" sz="950" dirty="0"/>
          </a:p>
        </p:txBody>
      </p:sp>
      <p:sp>
        <p:nvSpPr>
          <p:cNvPr id="29" name="Text 22"/>
          <p:cNvSpPr/>
          <p:nvPr/>
        </p:nvSpPr>
        <p:spPr>
          <a:xfrm>
            <a:off x="6400800" y="3511296"/>
            <a:ext cx="1371600" cy="237744"/>
          </a:xfrm>
          <a:prstGeom prst="rect">
            <a:avLst/>
          </a:prstGeom>
          <a:noFill/>
          <a:ln/>
        </p:spPr>
        <p:txBody>
          <a:bodyPr wrap="square" rtlCol="0" anchor="ctr"/>
          <a:lstStyle/>
          <a:p>
            <a:pPr indent="0" marL="0">
              <a:buNone/>
            </a:pPr>
            <a:r>
              <a:rPr lang="en-US" sz="1000" dirty="0">
                <a:solidFill>
                  <a:srgbClr val="8096C4"/>
                </a:solidFill>
                <a:latin typeface="Courier New" pitchFamily="34" charset="0"/>
                <a:ea typeface="Courier New" pitchFamily="34" charset="-122"/>
                <a:cs typeface="Courier New" pitchFamily="34" charset="-120"/>
              </a:rPr>
              <a:t>:6379</a:t>
            </a:r>
            <a:endParaRPr lang="en-US" sz="1000" dirty="0"/>
          </a:p>
        </p:txBody>
      </p:sp>
      <p:sp>
        <p:nvSpPr>
          <p:cNvPr id="30" name="Shape 23"/>
          <p:cNvSpPr/>
          <p:nvPr/>
        </p:nvSpPr>
        <p:spPr>
          <a:xfrm>
            <a:off x="3108960" y="2029968"/>
            <a:ext cx="0" cy="0"/>
          </a:xfrm>
          <a:prstGeom prst="line">
            <a:avLst/>
          </a:prstGeom>
          <a:noFill/>
          <a:ln w="19050">
            <a:solidFill>
              <a:srgbClr val="8096C4"/>
            </a:solidFill>
            <a:prstDash val="solid"/>
            <a:tailEnd type="open"/>
          </a:ln>
        </p:spPr>
      </p:sp>
      <p:sp>
        <p:nvSpPr>
          <p:cNvPr id="31" name="Shape 24"/>
          <p:cNvSpPr/>
          <p:nvPr/>
        </p:nvSpPr>
        <p:spPr>
          <a:xfrm>
            <a:off x="3108960" y="2039112"/>
            <a:ext cx="0" cy="0"/>
          </a:xfrm>
          <a:prstGeom prst="line">
            <a:avLst/>
          </a:prstGeom>
          <a:noFill/>
          <a:ln w="15240">
            <a:solidFill>
              <a:srgbClr val="8096C4"/>
            </a:solidFill>
            <a:prstDash val="solid"/>
          </a:ln>
        </p:spPr>
      </p:sp>
      <p:sp>
        <p:nvSpPr>
          <p:cNvPr id="32" name="Shape 25"/>
          <p:cNvSpPr/>
          <p:nvPr/>
        </p:nvSpPr>
        <p:spPr>
          <a:xfrm>
            <a:off x="3108960" y="2039112"/>
            <a:ext cx="-466344" cy="0"/>
          </a:xfrm>
          <a:prstGeom prst="line">
            <a:avLst/>
          </a:prstGeom>
          <a:noFill/>
          <a:ln w="19050">
            <a:solidFill>
              <a:srgbClr val="8BAEE8"/>
            </a:solidFill>
            <a:prstDash val="solid"/>
            <a:tailEnd type="open"/>
          </a:ln>
        </p:spPr>
      </p:sp>
      <p:sp>
        <p:nvSpPr>
          <p:cNvPr id="33" name="Shape 26"/>
          <p:cNvSpPr/>
          <p:nvPr/>
        </p:nvSpPr>
        <p:spPr>
          <a:xfrm>
            <a:off x="3108960" y="2039112"/>
            <a:ext cx="365760" cy="0"/>
          </a:xfrm>
          <a:prstGeom prst="line">
            <a:avLst/>
          </a:prstGeom>
          <a:noFill/>
          <a:ln w="19050">
            <a:solidFill>
              <a:srgbClr val="8BAEE8"/>
            </a:solidFill>
            <a:prstDash val="solid"/>
            <a:tailEnd type="open"/>
          </a:ln>
        </p:spPr>
      </p:sp>
      <p:sp>
        <p:nvSpPr>
          <p:cNvPr id="34" name="Shape 27"/>
          <p:cNvSpPr/>
          <p:nvPr/>
        </p:nvSpPr>
        <p:spPr>
          <a:xfrm>
            <a:off x="3108960" y="2039112"/>
            <a:ext cx="384048" cy="0"/>
          </a:xfrm>
          <a:prstGeom prst="line">
            <a:avLst/>
          </a:prstGeom>
          <a:noFill/>
          <a:ln w="19050">
            <a:solidFill>
              <a:srgbClr val="8BAEE8"/>
            </a:solidFill>
            <a:prstDash val="solid"/>
            <a:tailEnd type="open"/>
          </a:ln>
        </p:spPr>
      </p:sp>
      <p:sp>
        <p:nvSpPr>
          <p:cNvPr id="35" name="Shape 28"/>
          <p:cNvSpPr/>
          <p:nvPr/>
        </p:nvSpPr>
        <p:spPr>
          <a:xfrm>
            <a:off x="5303520" y="2039112"/>
            <a:ext cx="566928" cy="0"/>
          </a:xfrm>
          <a:prstGeom prst="line">
            <a:avLst/>
          </a:prstGeom>
          <a:noFill/>
          <a:ln w="19050">
            <a:solidFill>
              <a:srgbClr val="8BAEE8"/>
            </a:solidFill>
            <a:prstDash val="solid"/>
            <a:tailEnd type="open"/>
          </a:ln>
        </p:spPr>
      </p:sp>
      <p:sp>
        <p:nvSpPr>
          <p:cNvPr id="36" name="Shape 29"/>
          <p:cNvSpPr/>
          <p:nvPr/>
        </p:nvSpPr>
        <p:spPr>
          <a:xfrm>
            <a:off x="960120" y="2606040"/>
            <a:ext cx="0" cy="804672"/>
          </a:xfrm>
          <a:prstGeom prst="line">
            <a:avLst/>
          </a:prstGeom>
          <a:noFill/>
          <a:ln w="19050">
            <a:solidFill>
              <a:srgbClr val="8BAEE8"/>
            </a:solidFill>
            <a:prstDash val="solid"/>
            <a:tailEnd type="open"/>
          </a:ln>
        </p:spPr>
      </p:sp>
      <p:sp>
        <p:nvSpPr>
          <p:cNvPr id="37" name="Shape 30"/>
          <p:cNvSpPr/>
          <p:nvPr/>
        </p:nvSpPr>
        <p:spPr>
          <a:xfrm>
            <a:off x="960120" y="3410712"/>
            <a:ext cx="4892040" cy="0"/>
          </a:xfrm>
          <a:prstGeom prst="line">
            <a:avLst/>
          </a:prstGeom>
          <a:noFill/>
          <a:ln w="19050">
            <a:solidFill>
              <a:srgbClr val="8BAEE8"/>
            </a:solidFill>
            <a:prstDash val="solid"/>
            <a:tailEnd type="open"/>
          </a:ln>
        </p:spPr>
      </p:sp>
      <p:sp>
        <p:nvSpPr>
          <p:cNvPr id="38" name="Shape 31"/>
          <p:cNvSpPr/>
          <p:nvPr/>
        </p:nvSpPr>
        <p:spPr>
          <a:xfrm>
            <a:off x="4069080" y="2606040"/>
            <a:ext cx="0" cy="228600"/>
          </a:xfrm>
          <a:prstGeom prst="line">
            <a:avLst/>
          </a:prstGeom>
          <a:noFill/>
          <a:ln w="19050">
            <a:solidFill>
              <a:srgbClr val="8BAEE8"/>
            </a:solidFill>
            <a:prstDash val="solid"/>
            <a:tailEnd type="open"/>
          </a:ln>
        </p:spPr>
      </p:sp>
      <p:sp>
        <p:nvSpPr>
          <p:cNvPr id="39" name="Shape 32"/>
          <p:cNvSpPr/>
          <p:nvPr/>
        </p:nvSpPr>
        <p:spPr>
          <a:xfrm>
            <a:off x="7086600" y="2606040"/>
            <a:ext cx="0" cy="228600"/>
          </a:xfrm>
          <a:prstGeom prst="line">
            <a:avLst/>
          </a:prstGeom>
          <a:noFill/>
          <a:ln w="19050">
            <a:solidFill>
              <a:srgbClr val="8BAEE8"/>
            </a:solidFill>
            <a:prstDash val="solid"/>
            <a:tailEnd type="open"/>
          </a:ln>
        </p:spPr>
      </p:sp>
      <p:sp>
        <p:nvSpPr>
          <p:cNvPr id="40" name="Text 33"/>
          <p:cNvSpPr/>
          <p:nvPr/>
        </p:nvSpPr>
        <p:spPr>
          <a:xfrm>
            <a:off x="457200" y="4343400"/>
            <a:ext cx="8229600" cy="320040"/>
          </a:xfrm>
          <a:prstGeom prst="rect">
            <a:avLst/>
          </a:prstGeom>
          <a:noFill/>
          <a:ln/>
        </p:spPr>
        <p:txBody>
          <a:bodyPr wrap="square" rtlCol="0" anchor="ctr"/>
          <a:lstStyle/>
          <a:p>
            <a:pPr algn="ctr" indent="0" marL="0">
              <a:buNone/>
            </a:pPr>
            <a:r>
              <a:rPr lang="en-US" sz="1100" dirty="0">
                <a:solidFill>
                  <a:srgbClr val="8096C4"/>
                </a:solidFill>
                <a:latin typeface="Calibri" pitchFamily="34" charset="0"/>
                <a:ea typeface="Calibri" pitchFamily="34" charset="-122"/>
                <a:cs typeface="Calibri" pitchFamily="34" charset="-120"/>
              </a:rPr>
              <a:t>Ports 3000, 8000, 8100 exposed  ·  Postgres &amp; Redis internal-only  ·  depends_on healthcheck ordering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Modular Monolith → Extraction Path</a:t>
            </a:r>
            <a:endParaRPr lang="en-US" sz="3200" dirty="0"/>
          </a:p>
        </p:txBody>
      </p:sp>
      <p:sp>
        <p:nvSpPr>
          <p:cNvPr id="3" name="Shape 1"/>
          <p:cNvSpPr/>
          <p:nvPr/>
        </p:nvSpPr>
        <p:spPr>
          <a:xfrm>
            <a:off x="365760" y="1005840"/>
            <a:ext cx="3840480" cy="3657600"/>
          </a:xfrm>
          <a:prstGeom prst="roundRect">
            <a:avLst>
              <a:gd name="adj" fmla="val 3000"/>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4" name="Text 2"/>
          <p:cNvSpPr/>
          <p:nvPr/>
        </p:nvSpPr>
        <p:spPr>
          <a:xfrm>
            <a:off x="594360" y="1097280"/>
            <a:ext cx="3291840" cy="347472"/>
          </a:xfrm>
          <a:prstGeom prst="rect">
            <a:avLst/>
          </a:prstGeom>
          <a:noFill/>
          <a:ln/>
        </p:spPr>
        <p:txBody>
          <a:bodyPr wrap="square" rtlCol="0" anchor="ctr"/>
          <a:lstStyle/>
          <a:p>
            <a:pPr indent="0" marL="0">
              <a:buNone/>
            </a:pPr>
            <a:r>
              <a:rPr lang="en-US" sz="1400" b="1" dirty="0">
                <a:solidFill>
                  <a:srgbClr val="38BDF8"/>
                </a:solidFill>
                <a:latin typeface="Calibri" pitchFamily="34" charset="0"/>
                <a:ea typeface="Calibri" pitchFamily="34" charset="-122"/>
                <a:cs typeface="Calibri" pitchFamily="34" charset="-120"/>
              </a:rPr>
              <a:t>MVP  (Built Today)</a:t>
            </a:r>
            <a:endParaRPr lang="en-US" sz="1400" dirty="0"/>
          </a:p>
        </p:txBody>
      </p:sp>
      <p:sp>
        <p:nvSpPr>
          <p:cNvPr id="5" name="Shape 3"/>
          <p:cNvSpPr/>
          <p:nvPr/>
        </p:nvSpPr>
        <p:spPr>
          <a:xfrm>
            <a:off x="594360" y="1572768"/>
            <a:ext cx="3383280" cy="548640"/>
          </a:xfrm>
          <a:prstGeom prst="roundRect">
            <a:avLst>
              <a:gd name="adj" fmla="val 11667"/>
            </a:avLst>
          </a:prstGeom>
          <a:solidFill>
            <a:srgbClr val="2E3F9E"/>
          </a:solidFill>
          <a:ln w="12700">
            <a:solidFill>
              <a:srgbClr val="253080"/>
            </a:solidFill>
            <a:prstDash val="solid"/>
          </a:ln>
        </p:spPr>
      </p:sp>
      <p:sp>
        <p:nvSpPr>
          <p:cNvPr id="6" name="Text 4"/>
          <p:cNvSpPr/>
          <p:nvPr/>
        </p:nvSpPr>
        <p:spPr>
          <a:xfrm>
            <a:off x="777240" y="1645920"/>
            <a:ext cx="1097280" cy="365760"/>
          </a:xfrm>
          <a:prstGeom prst="rect">
            <a:avLst/>
          </a:prstGeom>
          <a:noFill/>
          <a:ln/>
        </p:spPr>
        <p:txBody>
          <a:bodyPr wrap="square" lIns="50800" tIns="50800" rIns="50800" bIns="50800" rtlCol="0" anchor="t"/>
          <a:lstStyle/>
          <a:p>
            <a:pPr algn="l" indent="0" marL="0">
              <a:buNone/>
            </a:pPr>
            <a:r>
              <a:rPr lang="en-US" sz="1200" dirty="0">
                <a:solidFill>
                  <a:srgbClr val="CADCFC"/>
                </a:solidFill>
                <a:latin typeface="Courier New" pitchFamily="34" charset="0"/>
                <a:ea typeface="Courier New" pitchFamily="34" charset="-122"/>
                <a:cs typeface="Courier New" pitchFamily="34" charset="-120"/>
              </a:rPr>
              <a:t>identity/</a:t>
            </a:r>
            <a:endParaRPr lang="en-US" sz="1200" dirty="0"/>
          </a:p>
        </p:txBody>
      </p:sp>
      <p:sp>
        <p:nvSpPr>
          <p:cNvPr id="7" name="Text 5"/>
          <p:cNvSpPr/>
          <p:nvPr/>
        </p:nvSpPr>
        <p:spPr>
          <a:xfrm>
            <a:off x="1920240" y="1645920"/>
            <a:ext cx="1920240" cy="347472"/>
          </a:xfrm>
          <a:prstGeom prst="rect">
            <a:avLst/>
          </a:prstGeom>
          <a:noFill/>
          <a:ln/>
        </p:spPr>
        <p:txBody>
          <a:bodyPr wrap="square" lIns="50800" tIns="50800" rIns="50800" bIns="50800" rtlCol="0" anchor="t"/>
          <a:lstStyle/>
          <a:p>
            <a:pPr algn="l" indent="0" marL="0">
              <a:buNone/>
            </a:pPr>
            <a:r>
              <a:rPr lang="en-US" sz="1150" dirty="0">
                <a:solidFill>
                  <a:srgbClr val="8096C4"/>
                </a:solidFill>
                <a:latin typeface="Calibri" pitchFamily="34" charset="0"/>
                <a:ea typeface="Calibri" pitchFamily="34" charset="-122"/>
                <a:cs typeface="Calibri" pitchFamily="34" charset="-120"/>
              </a:rPr>
              <a:t>users, KYC status</a:t>
            </a:r>
            <a:endParaRPr lang="en-US" sz="1150" dirty="0"/>
          </a:p>
        </p:txBody>
      </p:sp>
      <p:sp>
        <p:nvSpPr>
          <p:cNvPr id="8" name="Shape 6"/>
          <p:cNvSpPr/>
          <p:nvPr/>
        </p:nvSpPr>
        <p:spPr>
          <a:xfrm>
            <a:off x="594360" y="2258568"/>
            <a:ext cx="3383280" cy="548640"/>
          </a:xfrm>
          <a:prstGeom prst="roundRect">
            <a:avLst>
              <a:gd name="adj" fmla="val 11667"/>
            </a:avLst>
          </a:prstGeom>
          <a:solidFill>
            <a:srgbClr val="2E3F9E"/>
          </a:solidFill>
          <a:ln w="12700">
            <a:solidFill>
              <a:srgbClr val="253080"/>
            </a:solidFill>
            <a:prstDash val="solid"/>
          </a:ln>
        </p:spPr>
      </p:sp>
      <p:sp>
        <p:nvSpPr>
          <p:cNvPr id="9" name="Text 7"/>
          <p:cNvSpPr/>
          <p:nvPr/>
        </p:nvSpPr>
        <p:spPr>
          <a:xfrm>
            <a:off x="777240" y="2331720"/>
            <a:ext cx="1097280" cy="365760"/>
          </a:xfrm>
          <a:prstGeom prst="rect">
            <a:avLst/>
          </a:prstGeom>
          <a:noFill/>
          <a:ln/>
        </p:spPr>
        <p:txBody>
          <a:bodyPr wrap="square" lIns="50800" tIns="50800" rIns="50800" bIns="50800" rtlCol="0" anchor="t"/>
          <a:lstStyle/>
          <a:p>
            <a:pPr algn="l" indent="0" marL="0">
              <a:buNone/>
            </a:pPr>
            <a:r>
              <a:rPr lang="en-US" sz="1200" dirty="0">
                <a:solidFill>
                  <a:srgbClr val="CADCFC"/>
                </a:solidFill>
                <a:latin typeface="Courier New" pitchFamily="34" charset="0"/>
                <a:ea typeface="Courier New" pitchFamily="34" charset="-122"/>
                <a:cs typeface="Courier New" pitchFamily="34" charset="-120"/>
              </a:rPr>
              <a:t>wallet/</a:t>
            </a:r>
            <a:endParaRPr lang="en-US" sz="1200" dirty="0"/>
          </a:p>
        </p:txBody>
      </p:sp>
      <p:sp>
        <p:nvSpPr>
          <p:cNvPr id="10" name="Text 8"/>
          <p:cNvSpPr/>
          <p:nvPr/>
        </p:nvSpPr>
        <p:spPr>
          <a:xfrm>
            <a:off x="1920240" y="2331720"/>
            <a:ext cx="1920240" cy="347472"/>
          </a:xfrm>
          <a:prstGeom prst="rect">
            <a:avLst/>
          </a:prstGeom>
          <a:noFill/>
          <a:ln/>
        </p:spPr>
        <p:txBody>
          <a:bodyPr wrap="square" lIns="50800" tIns="50800" rIns="50800" bIns="50800" rtlCol="0" anchor="t"/>
          <a:lstStyle/>
          <a:p>
            <a:pPr algn="l" indent="0" marL="0">
              <a:buNone/>
            </a:pPr>
            <a:r>
              <a:rPr lang="en-US" sz="1150" dirty="0">
                <a:solidFill>
                  <a:srgbClr val="8096C4"/>
                </a:solidFill>
                <a:latin typeface="Calibri" pitchFamily="34" charset="0"/>
                <a:ea typeface="Calibri" pitchFamily="34" charset="-122"/>
                <a:cs typeface="Calibri" pitchFamily="34" charset="-120"/>
              </a:rPr>
              <a:t>balances, currencies</a:t>
            </a:r>
            <a:endParaRPr lang="en-US" sz="1150" dirty="0"/>
          </a:p>
        </p:txBody>
      </p:sp>
      <p:sp>
        <p:nvSpPr>
          <p:cNvPr id="11" name="Shape 9"/>
          <p:cNvSpPr/>
          <p:nvPr/>
        </p:nvSpPr>
        <p:spPr>
          <a:xfrm>
            <a:off x="594360" y="2944368"/>
            <a:ext cx="3383280" cy="548640"/>
          </a:xfrm>
          <a:prstGeom prst="roundRect">
            <a:avLst>
              <a:gd name="adj" fmla="val 11667"/>
            </a:avLst>
          </a:prstGeom>
          <a:solidFill>
            <a:srgbClr val="2E3F9E"/>
          </a:solidFill>
          <a:ln w="12700">
            <a:solidFill>
              <a:srgbClr val="253080"/>
            </a:solidFill>
            <a:prstDash val="solid"/>
          </a:ln>
        </p:spPr>
      </p:sp>
      <p:sp>
        <p:nvSpPr>
          <p:cNvPr id="12" name="Text 10"/>
          <p:cNvSpPr/>
          <p:nvPr/>
        </p:nvSpPr>
        <p:spPr>
          <a:xfrm>
            <a:off x="777240" y="3017520"/>
            <a:ext cx="1097280" cy="365760"/>
          </a:xfrm>
          <a:prstGeom prst="rect">
            <a:avLst/>
          </a:prstGeom>
          <a:noFill/>
          <a:ln/>
        </p:spPr>
        <p:txBody>
          <a:bodyPr wrap="square" lIns="50800" tIns="50800" rIns="50800" bIns="50800" rtlCol="0" anchor="t"/>
          <a:lstStyle/>
          <a:p>
            <a:pPr algn="l" indent="0" marL="0">
              <a:buNone/>
            </a:pPr>
            <a:r>
              <a:rPr lang="en-US" sz="1200" dirty="0">
                <a:solidFill>
                  <a:srgbClr val="CADCFC"/>
                </a:solidFill>
                <a:latin typeface="Courier New" pitchFamily="34" charset="0"/>
                <a:ea typeface="Courier New" pitchFamily="34" charset="-122"/>
                <a:cs typeface="Courier New" pitchFamily="34" charset="-120"/>
              </a:rPr>
              <a:t>payment/</a:t>
            </a:r>
            <a:endParaRPr lang="en-US" sz="1200" dirty="0"/>
          </a:p>
        </p:txBody>
      </p:sp>
      <p:sp>
        <p:nvSpPr>
          <p:cNvPr id="13" name="Text 11"/>
          <p:cNvSpPr/>
          <p:nvPr/>
        </p:nvSpPr>
        <p:spPr>
          <a:xfrm>
            <a:off x="1920240" y="3017520"/>
            <a:ext cx="1920240" cy="347472"/>
          </a:xfrm>
          <a:prstGeom prst="rect">
            <a:avLst/>
          </a:prstGeom>
          <a:noFill/>
          <a:ln/>
        </p:spPr>
        <p:txBody>
          <a:bodyPr wrap="square" lIns="50800" tIns="50800" rIns="50800" bIns="50800" rtlCol="0" anchor="t"/>
          <a:lstStyle/>
          <a:p>
            <a:pPr algn="l" indent="0" marL="0">
              <a:buNone/>
            </a:pPr>
            <a:r>
              <a:rPr lang="en-US" sz="1150" dirty="0">
                <a:solidFill>
                  <a:srgbClr val="8096C4"/>
                </a:solidFill>
                <a:latin typeface="Calibri" pitchFamily="34" charset="0"/>
                <a:ea typeface="Calibri" pitchFamily="34" charset="-122"/>
                <a:cs typeface="Calibri" pitchFamily="34" charset="-120"/>
              </a:rPr>
              <a:t>transactions, lifecycle</a:t>
            </a:r>
            <a:endParaRPr lang="en-US" sz="1150" dirty="0"/>
          </a:p>
        </p:txBody>
      </p:sp>
      <p:sp>
        <p:nvSpPr>
          <p:cNvPr id="14" name="Shape 12"/>
          <p:cNvSpPr/>
          <p:nvPr/>
        </p:nvSpPr>
        <p:spPr>
          <a:xfrm>
            <a:off x="594360" y="3630168"/>
            <a:ext cx="3383280" cy="548640"/>
          </a:xfrm>
          <a:prstGeom prst="roundRect">
            <a:avLst>
              <a:gd name="adj" fmla="val 11667"/>
            </a:avLst>
          </a:prstGeom>
          <a:solidFill>
            <a:srgbClr val="2E3F9E"/>
          </a:solidFill>
          <a:ln w="12700">
            <a:solidFill>
              <a:srgbClr val="253080"/>
            </a:solidFill>
            <a:prstDash val="solid"/>
          </a:ln>
        </p:spPr>
      </p:sp>
      <p:sp>
        <p:nvSpPr>
          <p:cNvPr id="15" name="Text 13"/>
          <p:cNvSpPr/>
          <p:nvPr/>
        </p:nvSpPr>
        <p:spPr>
          <a:xfrm>
            <a:off x="777240" y="3703320"/>
            <a:ext cx="1097280" cy="365760"/>
          </a:xfrm>
          <a:prstGeom prst="rect">
            <a:avLst/>
          </a:prstGeom>
          <a:noFill/>
          <a:ln/>
        </p:spPr>
        <p:txBody>
          <a:bodyPr wrap="square" lIns="50800" tIns="50800" rIns="50800" bIns="50800" rtlCol="0" anchor="t"/>
          <a:lstStyle/>
          <a:p>
            <a:pPr algn="l" indent="0" marL="0">
              <a:buNone/>
            </a:pPr>
            <a:r>
              <a:rPr lang="en-US" sz="1200" dirty="0">
                <a:solidFill>
                  <a:srgbClr val="CADCFC"/>
                </a:solidFill>
                <a:latin typeface="Courier New" pitchFamily="34" charset="0"/>
                <a:ea typeface="Courier New" pitchFamily="34" charset="-122"/>
                <a:cs typeface="Courier New" pitchFamily="34" charset="-120"/>
              </a:rPr>
              <a:t>ledger/</a:t>
            </a:r>
            <a:endParaRPr lang="en-US" sz="1200" dirty="0"/>
          </a:p>
        </p:txBody>
      </p:sp>
      <p:sp>
        <p:nvSpPr>
          <p:cNvPr id="16" name="Text 14"/>
          <p:cNvSpPr/>
          <p:nvPr/>
        </p:nvSpPr>
        <p:spPr>
          <a:xfrm>
            <a:off x="1920240" y="3703320"/>
            <a:ext cx="1920240" cy="347472"/>
          </a:xfrm>
          <a:prstGeom prst="rect">
            <a:avLst/>
          </a:prstGeom>
          <a:noFill/>
          <a:ln/>
        </p:spPr>
        <p:txBody>
          <a:bodyPr wrap="square" lIns="50800" tIns="50800" rIns="50800" bIns="50800" rtlCol="0" anchor="t"/>
          <a:lstStyle/>
          <a:p>
            <a:pPr algn="l" indent="0" marL="0">
              <a:buNone/>
            </a:pPr>
            <a:r>
              <a:rPr lang="en-US" sz="1150" dirty="0">
                <a:solidFill>
                  <a:srgbClr val="8096C4"/>
                </a:solidFill>
                <a:latin typeface="Calibri" pitchFamily="34" charset="0"/>
                <a:ea typeface="Calibri" pitchFamily="34" charset="-122"/>
                <a:cs typeface="Calibri" pitchFamily="34" charset="-120"/>
              </a:rPr>
              <a:t>double-entry entries</a:t>
            </a:r>
            <a:endParaRPr lang="en-US" sz="1150" dirty="0"/>
          </a:p>
        </p:txBody>
      </p:sp>
      <p:sp>
        <p:nvSpPr>
          <p:cNvPr id="17" name="Text 15"/>
          <p:cNvSpPr/>
          <p:nvPr/>
        </p:nvSpPr>
        <p:spPr>
          <a:xfrm>
            <a:off x="594360" y="4370832"/>
            <a:ext cx="3383280" cy="228600"/>
          </a:xfrm>
          <a:prstGeom prst="rect">
            <a:avLst/>
          </a:prstGeom>
          <a:noFill/>
          <a:ln/>
        </p:spPr>
        <p:txBody>
          <a:bodyPr wrap="square" rtlCol="0" anchor="ctr"/>
          <a:lstStyle/>
          <a:p>
            <a:pPr indent="0" marL="0">
              <a:buNone/>
            </a:pPr>
            <a:r>
              <a:rPr lang="en-US" sz="950" i="1" dirty="0">
                <a:solidFill>
                  <a:srgbClr val="8096C4"/>
                </a:solidFill>
                <a:latin typeface="Calibri" pitchFamily="34" charset="0"/>
                <a:ea typeface="Calibri" pitchFamily="34" charset="-122"/>
                <a:cs typeface="Calibri" pitchFamily="34" charset="-120"/>
              </a:rPr>
              <a:t>Each: api/ · application/ · domain/ · infrastructure/</a:t>
            </a:r>
            <a:endParaRPr lang="en-US" sz="950" dirty="0"/>
          </a:p>
        </p:txBody>
      </p:sp>
      <p:sp>
        <p:nvSpPr>
          <p:cNvPr id="18" name="Text 16"/>
          <p:cNvSpPr/>
          <p:nvPr/>
        </p:nvSpPr>
        <p:spPr>
          <a:xfrm>
            <a:off x="4206240" y="2468880"/>
            <a:ext cx="822960" cy="365760"/>
          </a:xfrm>
          <a:prstGeom prst="rect">
            <a:avLst/>
          </a:prstGeom>
          <a:noFill/>
          <a:ln/>
        </p:spPr>
        <p:txBody>
          <a:bodyPr wrap="square" rtlCol="0" anchor="ctr"/>
          <a:lstStyle/>
          <a:p>
            <a:pPr algn="ctr" indent="0" marL="0">
              <a:buNone/>
            </a:pPr>
            <a:r>
              <a:rPr lang="en-US" sz="1000" b="1" dirty="0">
                <a:solidFill>
                  <a:srgbClr val="F59E0B"/>
                </a:solidFill>
                <a:latin typeface="Calibri" pitchFamily="34" charset="0"/>
                <a:ea typeface="Calibri" pitchFamily="34" charset="-122"/>
                <a:cs typeface="Calibri" pitchFamily="34" charset="-120"/>
              </a:rPr>
              <a:t>ADR-008 →</a:t>
            </a:r>
            <a:endParaRPr lang="en-US" sz="1000" dirty="0"/>
          </a:p>
        </p:txBody>
      </p:sp>
      <p:sp>
        <p:nvSpPr>
          <p:cNvPr id="19" name="Text 17"/>
          <p:cNvSpPr/>
          <p:nvPr/>
        </p:nvSpPr>
        <p:spPr>
          <a:xfrm>
            <a:off x="4160520" y="2834640"/>
            <a:ext cx="896112" cy="685800"/>
          </a:xfrm>
          <a:prstGeom prst="rect">
            <a:avLst/>
          </a:prstGeom>
          <a:noFill/>
          <a:ln/>
        </p:spPr>
        <p:txBody>
          <a:bodyPr wrap="square" rtlCol="0" anchor="ctr"/>
          <a:lstStyle/>
          <a:p>
            <a:pPr algn="ctr" indent="0" marL="0">
              <a:buNone/>
            </a:pPr>
            <a:r>
              <a:rPr lang="en-US" sz="900" dirty="0">
                <a:solidFill>
                  <a:srgbClr val="8096C4"/>
                </a:solidFill>
                <a:latin typeface="Calibri" pitchFamily="34" charset="0"/>
                <a:ea typeface="Calibri" pitchFamily="34" charset="-122"/>
                <a:cs typeface="Calibri" pitchFamily="34" charset="-120"/>
              </a:rPr>
              <a:t>Revisit when</a:t>
            </a:r>
            <a:endParaRPr lang="en-US" sz="900" dirty="0"/>
          </a:p>
          <a:p>
            <a:pPr algn="ctr" indent="0" marL="0">
              <a:buNone/>
            </a:pPr>
            <a:r>
              <a:rPr lang="en-US" sz="900" dirty="0">
                <a:solidFill>
                  <a:srgbClr val="8096C4"/>
                </a:solidFill>
                <a:latin typeface="Calibri" pitchFamily="34" charset="0"/>
                <a:ea typeface="Calibri" pitchFamily="34" charset="-122"/>
                <a:cs typeface="Calibri" pitchFamily="34" charset="-120"/>
              </a:rPr>
              <a:t>team boundaries</a:t>
            </a:r>
            <a:endParaRPr lang="en-US" sz="900" dirty="0"/>
          </a:p>
          <a:p>
            <a:pPr algn="ctr" indent="0" marL="0">
              <a:buNone/>
            </a:pPr>
            <a:r>
              <a:rPr lang="en-US" sz="900" dirty="0">
                <a:solidFill>
                  <a:srgbClr val="8096C4"/>
                </a:solidFill>
                <a:latin typeface="Calibri" pitchFamily="34" charset="0"/>
                <a:ea typeface="Calibri" pitchFamily="34" charset="-122"/>
                <a:cs typeface="Calibri" pitchFamily="34" charset="-120"/>
              </a:rPr>
              <a:t>emerge</a:t>
            </a:r>
            <a:endParaRPr lang="en-US" sz="900" dirty="0"/>
          </a:p>
        </p:txBody>
      </p:sp>
      <p:sp>
        <p:nvSpPr>
          <p:cNvPr id="20" name="Shape 18"/>
          <p:cNvSpPr/>
          <p:nvPr/>
        </p:nvSpPr>
        <p:spPr>
          <a:xfrm>
            <a:off x="5074920" y="1005840"/>
            <a:ext cx="3703320" cy="3657600"/>
          </a:xfrm>
          <a:prstGeom prst="roundRect">
            <a:avLst>
              <a:gd name="adj" fmla="val 3000"/>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21" name="Text 19"/>
          <p:cNvSpPr/>
          <p:nvPr/>
        </p:nvSpPr>
        <p:spPr>
          <a:xfrm>
            <a:off x="5257800" y="1097280"/>
            <a:ext cx="3291840" cy="347472"/>
          </a:xfrm>
          <a:prstGeom prst="rect">
            <a:avLst/>
          </a:prstGeom>
          <a:noFill/>
          <a:ln/>
        </p:spPr>
        <p:txBody>
          <a:bodyPr wrap="square"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Production Target  (14 services)</a:t>
            </a:r>
            <a:endParaRPr lang="en-US" sz="1400" dirty="0"/>
          </a:p>
        </p:txBody>
      </p:sp>
      <p:sp>
        <p:nvSpPr>
          <p:cNvPr id="22" name="Shape 20"/>
          <p:cNvSpPr/>
          <p:nvPr/>
        </p:nvSpPr>
        <p:spPr>
          <a:xfrm>
            <a:off x="5289804" y="1609344"/>
            <a:ext cx="118872" cy="118872"/>
          </a:xfrm>
          <a:prstGeom prst="ellipse">
            <a:avLst/>
          </a:prstGeom>
          <a:solidFill>
            <a:srgbClr val="F59E0B"/>
          </a:solidFill>
          <a:ln w="12700">
            <a:solidFill>
              <a:srgbClr val="F59E0B"/>
            </a:solidFill>
            <a:prstDash val="solid"/>
          </a:ln>
        </p:spPr>
      </p:sp>
      <p:sp>
        <p:nvSpPr>
          <p:cNvPr id="23" name="Text 21"/>
          <p:cNvSpPr/>
          <p:nvPr/>
        </p:nvSpPr>
        <p:spPr>
          <a:xfrm>
            <a:off x="5532120" y="1527048"/>
            <a:ext cx="3063240" cy="384048"/>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identity-service  · merchant-service</a:t>
            </a:r>
            <a:endParaRPr lang="en-US" sz="1100" dirty="0"/>
          </a:p>
        </p:txBody>
      </p:sp>
      <p:sp>
        <p:nvSpPr>
          <p:cNvPr id="24" name="Shape 22"/>
          <p:cNvSpPr/>
          <p:nvPr/>
        </p:nvSpPr>
        <p:spPr>
          <a:xfrm>
            <a:off x="5289804" y="2048256"/>
            <a:ext cx="118872" cy="118872"/>
          </a:xfrm>
          <a:prstGeom prst="ellipse">
            <a:avLst/>
          </a:prstGeom>
          <a:solidFill>
            <a:srgbClr val="F59E0B"/>
          </a:solidFill>
          <a:ln w="12700">
            <a:solidFill>
              <a:srgbClr val="F59E0B"/>
            </a:solidFill>
            <a:prstDash val="solid"/>
          </a:ln>
        </p:spPr>
      </p:sp>
      <p:sp>
        <p:nvSpPr>
          <p:cNvPr id="25" name="Text 23"/>
          <p:cNvSpPr/>
          <p:nvPr/>
        </p:nvSpPr>
        <p:spPr>
          <a:xfrm>
            <a:off x="5532120" y="1965960"/>
            <a:ext cx="3063240" cy="384048"/>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payment-service  · refund-service  · dispute-service</a:t>
            </a:r>
            <a:endParaRPr lang="en-US" sz="1100" dirty="0"/>
          </a:p>
        </p:txBody>
      </p:sp>
      <p:sp>
        <p:nvSpPr>
          <p:cNvPr id="26" name="Shape 24"/>
          <p:cNvSpPr/>
          <p:nvPr/>
        </p:nvSpPr>
        <p:spPr>
          <a:xfrm>
            <a:off x="5289804" y="2487168"/>
            <a:ext cx="118872" cy="118872"/>
          </a:xfrm>
          <a:prstGeom prst="ellipse">
            <a:avLst/>
          </a:prstGeom>
          <a:solidFill>
            <a:srgbClr val="F59E0B"/>
          </a:solidFill>
          <a:ln w="12700">
            <a:solidFill>
              <a:srgbClr val="F59E0B"/>
            </a:solidFill>
            <a:prstDash val="solid"/>
          </a:ln>
        </p:spPr>
      </p:sp>
      <p:sp>
        <p:nvSpPr>
          <p:cNvPr id="27" name="Text 25"/>
          <p:cNvSpPr/>
          <p:nvPr/>
        </p:nvSpPr>
        <p:spPr>
          <a:xfrm>
            <a:off x="5532120" y="2404872"/>
            <a:ext cx="3063240" cy="384048"/>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wallet-service  · settlement-service</a:t>
            </a:r>
            <a:endParaRPr lang="en-US" sz="1100" dirty="0"/>
          </a:p>
        </p:txBody>
      </p:sp>
      <p:sp>
        <p:nvSpPr>
          <p:cNvPr id="28" name="Shape 26"/>
          <p:cNvSpPr/>
          <p:nvPr/>
        </p:nvSpPr>
        <p:spPr>
          <a:xfrm>
            <a:off x="5289804" y="2926080"/>
            <a:ext cx="118872" cy="118872"/>
          </a:xfrm>
          <a:prstGeom prst="ellipse">
            <a:avLst/>
          </a:prstGeom>
          <a:solidFill>
            <a:srgbClr val="F59E0B"/>
          </a:solidFill>
          <a:ln w="12700">
            <a:solidFill>
              <a:srgbClr val="F59E0B"/>
            </a:solidFill>
            <a:prstDash val="solid"/>
          </a:ln>
        </p:spPr>
      </p:sp>
      <p:sp>
        <p:nvSpPr>
          <p:cNvPr id="29" name="Text 27"/>
          <p:cNvSpPr/>
          <p:nvPr/>
        </p:nvSpPr>
        <p:spPr>
          <a:xfrm>
            <a:off x="5532120" y="2843784"/>
            <a:ext cx="3063240" cy="384048"/>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ledger-service  (separate Postgres cluster)</a:t>
            </a:r>
            <a:endParaRPr lang="en-US" sz="1100" dirty="0"/>
          </a:p>
        </p:txBody>
      </p:sp>
      <p:sp>
        <p:nvSpPr>
          <p:cNvPr id="30" name="Shape 28"/>
          <p:cNvSpPr/>
          <p:nvPr/>
        </p:nvSpPr>
        <p:spPr>
          <a:xfrm>
            <a:off x="5289804" y="3364992"/>
            <a:ext cx="118872" cy="118872"/>
          </a:xfrm>
          <a:prstGeom prst="ellipse">
            <a:avLst/>
          </a:prstGeom>
          <a:solidFill>
            <a:srgbClr val="F59E0B"/>
          </a:solidFill>
          <a:ln w="12700">
            <a:solidFill>
              <a:srgbClr val="F59E0B"/>
            </a:solidFill>
            <a:prstDash val="solid"/>
          </a:ln>
        </p:spPr>
      </p:sp>
      <p:sp>
        <p:nvSpPr>
          <p:cNvPr id="31" name="Text 29"/>
          <p:cNvSpPr/>
          <p:nvPr/>
        </p:nvSpPr>
        <p:spPr>
          <a:xfrm>
            <a:off x="5532120" y="3282696"/>
            <a:ext cx="3063240" cy="384048"/>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fraud-service  · risk-scoring-service</a:t>
            </a:r>
            <a:endParaRPr lang="en-US" sz="1100" dirty="0"/>
          </a:p>
        </p:txBody>
      </p:sp>
      <p:sp>
        <p:nvSpPr>
          <p:cNvPr id="32" name="Shape 30"/>
          <p:cNvSpPr/>
          <p:nvPr/>
        </p:nvSpPr>
        <p:spPr>
          <a:xfrm>
            <a:off x="5289804" y="3803904"/>
            <a:ext cx="118872" cy="118872"/>
          </a:xfrm>
          <a:prstGeom prst="ellipse">
            <a:avLst/>
          </a:prstGeom>
          <a:solidFill>
            <a:srgbClr val="F59E0B"/>
          </a:solidFill>
          <a:ln w="12700">
            <a:solidFill>
              <a:srgbClr val="F59E0B"/>
            </a:solidFill>
            <a:prstDash val="solid"/>
          </a:ln>
        </p:spPr>
      </p:sp>
      <p:sp>
        <p:nvSpPr>
          <p:cNvPr id="33" name="Text 31"/>
          <p:cNvSpPr/>
          <p:nvPr/>
        </p:nvSpPr>
        <p:spPr>
          <a:xfrm>
            <a:off x="5532120" y="3721608"/>
            <a:ext cx="3063240" cy="384048"/>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notification-service  · webhook-service</a:t>
            </a:r>
            <a:endParaRPr lang="en-US" sz="1100" dirty="0"/>
          </a:p>
        </p:txBody>
      </p:sp>
      <p:sp>
        <p:nvSpPr>
          <p:cNvPr id="34" name="Shape 32"/>
          <p:cNvSpPr/>
          <p:nvPr/>
        </p:nvSpPr>
        <p:spPr>
          <a:xfrm>
            <a:off x="5289804" y="4242816"/>
            <a:ext cx="118872" cy="118872"/>
          </a:xfrm>
          <a:prstGeom prst="ellipse">
            <a:avLst/>
          </a:prstGeom>
          <a:solidFill>
            <a:srgbClr val="F59E0B"/>
          </a:solidFill>
          <a:ln w="12700">
            <a:solidFill>
              <a:srgbClr val="F59E0B"/>
            </a:solidFill>
            <a:prstDash val="solid"/>
          </a:ln>
        </p:spPr>
      </p:sp>
      <p:sp>
        <p:nvSpPr>
          <p:cNvPr id="35" name="Text 33"/>
          <p:cNvSpPr/>
          <p:nvPr/>
        </p:nvSpPr>
        <p:spPr>
          <a:xfrm>
            <a:off x="5532120" y="4160520"/>
            <a:ext cx="3063240" cy="384048"/>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analytics-service  · admin-service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Four Schemas, Clear Boundaries</a:t>
            </a:r>
            <a:endParaRPr lang="en-US" sz="3200" dirty="0"/>
          </a:p>
        </p:txBody>
      </p:sp>
      <p:sp>
        <p:nvSpPr>
          <p:cNvPr id="3" name="Shape 1"/>
          <p:cNvSpPr/>
          <p:nvPr/>
        </p:nvSpPr>
        <p:spPr>
          <a:xfrm>
            <a:off x="365760" y="1005840"/>
            <a:ext cx="3657600" cy="749808"/>
          </a:xfrm>
          <a:prstGeom prst="roundRect">
            <a:avLst>
              <a:gd name="adj" fmla="val 14634"/>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4" name="Text 2"/>
          <p:cNvSpPr/>
          <p:nvPr/>
        </p:nvSpPr>
        <p:spPr>
          <a:xfrm>
            <a:off x="594360" y="1078992"/>
            <a:ext cx="914400" cy="320040"/>
          </a:xfrm>
          <a:prstGeom prst="rect">
            <a:avLst/>
          </a:prstGeom>
          <a:noFill/>
          <a:ln/>
        </p:spPr>
        <p:txBody>
          <a:bodyPr wrap="square" rtlCol="0" anchor="ctr"/>
          <a:lstStyle/>
          <a:p>
            <a:pPr indent="0" marL="0">
              <a:buNone/>
            </a:pPr>
            <a:r>
              <a:rPr lang="en-US" sz="1400" b="1" dirty="0">
                <a:solidFill>
                  <a:srgbClr val="38BDF8"/>
                </a:solidFill>
                <a:latin typeface="Courier New" pitchFamily="34" charset="0"/>
                <a:ea typeface="Courier New" pitchFamily="34" charset="-122"/>
                <a:cs typeface="Courier New" pitchFamily="34" charset="-120"/>
              </a:rPr>
              <a:t>core</a:t>
            </a:r>
            <a:endParaRPr lang="en-US" sz="1400" dirty="0"/>
          </a:p>
        </p:txBody>
      </p:sp>
      <p:sp>
        <p:nvSpPr>
          <p:cNvPr id="5" name="Text 3"/>
          <p:cNvSpPr/>
          <p:nvPr/>
        </p:nvSpPr>
        <p:spPr>
          <a:xfrm>
            <a:off x="1600200" y="1078992"/>
            <a:ext cx="2286000" cy="594360"/>
          </a:xfrm>
          <a:prstGeom prst="rect">
            <a:avLst/>
          </a:prstGeom>
          <a:noFill/>
          <a:ln/>
        </p:spPr>
        <p:txBody>
          <a:bodyPr wrap="square" rtlCol="0" anchor="ctr"/>
          <a:lstStyle/>
          <a:p>
            <a:pPr indent="0" marL="0">
              <a:buNone/>
            </a:pPr>
            <a:r>
              <a:rPr lang="en-US" sz="1200" dirty="0">
                <a:solidFill>
                  <a:srgbClr val="E8EDF8"/>
                </a:solidFill>
                <a:latin typeface="Calibri" pitchFamily="34" charset="0"/>
                <a:ea typeface="Calibri" pitchFamily="34" charset="-122"/>
                <a:cs typeface="Calibri" pitchFamily="34" charset="-120"/>
              </a:rPr>
              <a:t>users · wallets · transactions</a:t>
            </a:r>
            <a:endParaRPr lang="en-US" sz="1200" dirty="0"/>
          </a:p>
        </p:txBody>
      </p:sp>
      <p:sp>
        <p:nvSpPr>
          <p:cNvPr id="6" name="Shape 4"/>
          <p:cNvSpPr/>
          <p:nvPr/>
        </p:nvSpPr>
        <p:spPr>
          <a:xfrm>
            <a:off x="365760" y="1892808"/>
            <a:ext cx="3657600" cy="749808"/>
          </a:xfrm>
          <a:prstGeom prst="roundRect">
            <a:avLst>
              <a:gd name="adj" fmla="val 14634"/>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7" name="Text 5"/>
          <p:cNvSpPr/>
          <p:nvPr/>
        </p:nvSpPr>
        <p:spPr>
          <a:xfrm>
            <a:off x="594360" y="1965960"/>
            <a:ext cx="914400" cy="320040"/>
          </a:xfrm>
          <a:prstGeom prst="rect">
            <a:avLst/>
          </a:prstGeom>
          <a:noFill/>
          <a:ln/>
        </p:spPr>
        <p:txBody>
          <a:bodyPr wrap="square" rtlCol="0" anchor="ctr"/>
          <a:lstStyle/>
          <a:p>
            <a:pPr indent="0" marL="0">
              <a:buNone/>
            </a:pPr>
            <a:r>
              <a:rPr lang="en-US" sz="1400" b="1" dirty="0">
                <a:solidFill>
                  <a:srgbClr val="CADCFC"/>
                </a:solidFill>
                <a:latin typeface="Courier New" pitchFamily="34" charset="0"/>
                <a:ea typeface="Courier New" pitchFamily="34" charset="-122"/>
                <a:cs typeface="Courier New" pitchFamily="34" charset="-120"/>
              </a:rPr>
              <a:t>ledger</a:t>
            </a:r>
            <a:endParaRPr lang="en-US" sz="1400" dirty="0"/>
          </a:p>
        </p:txBody>
      </p:sp>
      <p:sp>
        <p:nvSpPr>
          <p:cNvPr id="8" name="Text 6"/>
          <p:cNvSpPr/>
          <p:nvPr/>
        </p:nvSpPr>
        <p:spPr>
          <a:xfrm>
            <a:off x="1600200" y="1965960"/>
            <a:ext cx="2286000" cy="594360"/>
          </a:xfrm>
          <a:prstGeom prst="rect">
            <a:avLst/>
          </a:prstGeom>
          <a:noFill/>
          <a:ln/>
        </p:spPr>
        <p:txBody>
          <a:bodyPr wrap="square" rtlCol="0" anchor="ctr"/>
          <a:lstStyle/>
          <a:p>
            <a:pPr indent="0" marL="0">
              <a:buNone/>
            </a:pPr>
            <a:r>
              <a:rPr lang="en-US" sz="1200" dirty="0">
                <a:solidFill>
                  <a:srgbClr val="E8EDF8"/>
                </a:solidFill>
                <a:latin typeface="Calibri" pitchFamily="34" charset="0"/>
                <a:ea typeface="Calibri" pitchFamily="34" charset="-122"/>
                <a:cs typeface="Calibri" pitchFamily="34" charset="-120"/>
              </a:rPr>
              <a:t>entries  (no FK to core — by design)</a:t>
            </a:r>
            <a:endParaRPr lang="en-US" sz="1200" dirty="0"/>
          </a:p>
        </p:txBody>
      </p:sp>
      <p:sp>
        <p:nvSpPr>
          <p:cNvPr id="9" name="Shape 7"/>
          <p:cNvSpPr/>
          <p:nvPr/>
        </p:nvSpPr>
        <p:spPr>
          <a:xfrm>
            <a:off x="365760" y="2779776"/>
            <a:ext cx="3657600" cy="749808"/>
          </a:xfrm>
          <a:prstGeom prst="roundRect">
            <a:avLst>
              <a:gd name="adj" fmla="val 14634"/>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10" name="Text 8"/>
          <p:cNvSpPr/>
          <p:nvPr/>
        </p:nvSpPr>
        <p:spPr>
          <a:xfrm>
            <a:off x="594360" y="2852928"/>
            <a:ext cx="914400" cy="320040"/>
          </a:xfrm>
          <a:prstGeom prst="rect">
            <a:avLst/>
          </a:prstGeom>
          <a:noFill/>
          <a:ln/>
        </p:spPr>
        <p:txBody>
          <a:bodyPr wrap="square" rtlCol="0" anchor="ctr"/>
          <a:lstStyle/>
          <a:p>
            <a:pPr indent="0" marL="0">
              <a:buNone/>
            </a:pPr>
            <a:r>
              <a:rPr lang="en-US" sz="1400" b="1" dirty="0">
                <a:solidFill>
                  <a:srgbClr val="F59E0B"/>
                </a:solidFill>
                <a:latin typeface="Courier New" pitchFamily="34" charset="0"/>
                <a:ea typeface="Courier New" pitchFamily="34" charset="-122"/>
                <a:cs typeface="Courier New" pitchFamily="34" charset="-120"/>
              </a:rPr>
              <a:t>ai</a:t>
            </a:r>
            <a:endParaRPr lang="en-US" sz="1400" dirty="0"/>
          </a:p>
        </p:txBody>
      </p:sp>
      <p:sp>
        <p:nvSpPr>
          <p:cNvPr id="11" name="Text 9"/>
          <p:cNvSpPr/>
          <p:nvPr/>
        </p:nvSpPr>
        <p:spPr>
          <a:xfrm>
            <a:off x="1600200" y="2852928"/>
            <a:ext cx="2286000" cy="594360"/>
          </a:xfrm>
          <a:prstGeom prst="rect">
            <a:avLst/>
          </a:prstGeom>
          <a:noFill/>
          <a:ln/>
        </p:spPr>
        <p:txBody>
          <a:bodyPr wrap="square" rtlCol="0" anchor="ctr"/>
          <a:lstStyle/>
          <a:p>
            <a:pPr indent="0" marL="0">
              <a:buNone/>
            </a:pPr>
            <a:r>
              <a:rPr lang="en-US" sz="1200" dirty="0">
                <a:solidFill>
                  <a:srgbClr val="E8EDF8"/>
                </a:solidFill>
                <a:latin typeface="Calibri" pitchFamily="34" charset="0"/>
                <a:ea typeface="Calibri" pitchFamily="34" charset="-122"/>
                <a:cs typeface="Calibri" pitchFamily="34" charset="-120"/>
              </a:rPr>
              <a:t>knowledge_chunks  vector(1536)</a:t>
            </a:r>
            <a:endParaRPr lang="en-US" sz="1200" dirty="0"/>
          </a:p>
        </p:txBody>
      </p:sp>
      <p:sp>
        <p:nvSpPr>
          <p:cNvPr id="12" name="Shape 10"/>
          <p:cNvSpPr/>
          <p:nvPr/>
        </p:nvSpPr>
        <p:spPr>
          <a:xfrm>
            <a:off x="365760" y="3666744"/>
            <a:ext cx="3657600" cy="749808"/>
          </a:xfrm>
          <a:prstGeom prst="roundRect">
            <a:avLst>
              <a:gd name="adj" fmla="val 14634"/>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13" name="Text 11"/>
          <p:cNvSpPr/>
          <p:nvPr/>
        </p:nvSpPr>
        <p:spPr>
          <a:xfrm>
            <a:off x="594360" y="3739896"/>
            <a:ext cx="914400" cy="320040"/>
          </a:xfrm>
          <a:prstGeom prst="rect">
            <a:avLst/>
          </a:prstGeom>
          <a:noFill/>
          <a:ln/>
        </p:spPr>
        <p:txBody>
          <a:bodyPr wrap="square" rtlCol="0" anchor="ctr"/>
          <a:lstStyle/>
          <a:p>
            <a:pPr indent="0" marL="0">
              <a:buNone/>
            </a:pPr>
            <a:r>
              <a:rPr lang="en-US" sz="1400" b="1" dirty="0">
                <a:solidFill>
                  <a:srgbClr val="8096C4"/>
                </a:solidFill>
                <a:latin typeface="Courier New" pitchFamily="34" charset="0"/>
                <a:ea typeface="Courier New" pitchFamily="34" charset="-122"/>
                <a:cs typeface="Courier New" pitchFamily="34" charset="-120"/>
              </a:rPr>
              <a:t>ops</a:t>
            </a:r>
            <a:endParaRPr lang="en-US" sz="1400" dirty="0"/>
          </a:p>
        </p:txBody>
      </p:sp>
      <p:sp>
        <p:nvSpPr>
          <p:cNvPr id="14" name="Text 12"/>
          <p:cNvSpPr/>
          <p:nvPr/>
        </p:nvSpPr>
        <p:spPr>
          <a:xfrm>
            <a:off x="1600200" y="3739896"/>
            <a:ext cx="2286000" cy="594360"/>
          </a:xfrm>
          <a:prstGeom prst="rect">
            <a:avLst/>
          </a:prstGeom>
          <a:noFill/>
          <a:ln/>
        </p:spPr>
        <p:txBody>
          <a:bodyPr wrap="square" rtlCol="0" anchor="ctr"/>
          <a:lstStyle/>
          <a:p>
            <a:pPr indent="0" marL="0">
              <a:buNone/>
            </a:pPr>
            <a:r>
              <a:rPr lang="en-US" sz="1200" dirty="0">
                <a:solidFill>
                  <a:srgbClr val="E8EDF8"/>
                </a:solidFill>
                <a:latin typeface="Calibri" pitchFamily="34" charset="0"/>
                <a:ea typeface="Calibri" pitchFamily="34" charset="-122"/>
                <a:cs typeface="Calibri" pitchFamily="34" charset="-120"/>
              </a:rPr>
              <a:t>health_probe · audit_log</a:t>
            </a:r>
            <a:endParaRPr lang="en-US" sz="1200" dirty="0"/>
          </a:p>
        </p:txBody>
      </p:sp>
      <p:pic>
        <p:nvPicPr>
          <p:cNvPr id="15" name="Image 0" descr="preencoded.png">    </p:cNvPr>
          <p:cNvPicPr>
            <a:picLocks noChangeAspect="1"/>
          </p:cNvPicPr>
          <p:nvPr/>
        </p:nvPicPr>
        <p:blipFill>
          <a:blip r:embed="rId1">
            <a:alphaModFix amt="80000"/>
          </a:blip>
          <a:stretch>
            <a:fillRect/>
          </a:stretch>
        </p:blipFill>
        <p:spPr>
          <a:xfrm>
            <a:off x="4160520" y="1508760"/>
            <a:ext cx="594360" cy="594360"/>
          </a:xfrm>
          <a:prstGeom prst="rect">
            <a:avLst/>
          </a:prstGeom>
        </p:spPr>
      </p:pic>
      <p:sp>
        <p:nvSpPr>
          <p:cNvPr id="16" name="Shape 13"/>
          <p:cNvSpPr/>
          <p:nvPr/>
        </p:nvSpPr>
        <p:spPr>
          <a:xfrm>
            <a:off x="4389120" y="1005840"/>
            <a:ext cx="4389120" cy="3657600"/>
          </a:xfrm>
          <a:prstGeom prst="roundRect">
            <a:avLst>
              <a:gd name="adj" fmla="val 3000"/>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17" name="Text 14"/>
          <p:cNvSpPr/>
          <p:nvPr/>
        </p:nvSpPr>
        <p:spPr>
          <a:xfrm>
            <a:off x="4572000" y="1097280"/>
            <a:ext cx="3931920" cy="347472"/>
          </a:xfrm>
          <a:prstGeom prst="rect">
            <a:avLst/>
          </a:prstGeom>
          <a:noFill/>
          <a:ln/>
        </p:spPr>
        <p:txBody>
          <a:bodyPr wrap="square"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Key Design Choices</a:t>
            </a:r>
            <a:endParaRPr lang="en-US" sz="1400" dirty="0"/>
          </a:p>
        </p:txBody>
      </p:sp>
      <p:sp>
        <p:nvSpPr>
          <p:cNvPr id="18" name="Shape 15"/>
          <p:cNvSpPr/>
          <p:nvPr/>
        </p:nvSpPr>
        <p:spPr>
          <a:xfrm>
            <a:off x="4572000" y="1572768"/>
            <a:ext cx="3977640" cy="502920"/>
          </a:xfrm>
          <a:prstGeom prst="roundRect">
            <a:avLst>
              <a:gd name="adj" fmla="val 12727"/>
            </a:avLst>
          </a:prstGeom>
          <a:solidFill>
            <a:srgbClr val="2E3F9E"/>
          </a:solidFill>
          <a:ln w="12700">
            <a:solidFill>
              <a:srgbClr val="253080"/>
            </a:solidFill>
            <a:prstDash val="solid"/>
          </a:ln>
        </p:spPr>
      </p:sp>
      <p:sp>
        <p:nvSpPr>
          <p:cNvPr id="19" name="Text 16"/>
          <p:cNvSpPr/>
          <p:nvPr/>
        </p:nvSpPr>
        <p:spPr>
          <a:xfrm>
            <a:off x="4709160" y="1618488"/>
            <a:ext cx="1417320" cy="41148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Money type</a:t>
            </a:r>
            <a:endParaRPr lang="en-US" sz="1100" dirty="0"/>
          </a:p>
        </p:txBody>
      </p:sp>
      <p:sp>
        <p:nvSpPr>
          <p:cNvPr id="20" name="Text 17"/>
          <p:cNvSpPr/>
          <p:nvPr/>
        </p:nvSpPr>
        <p:spPr>
          <a:xfrm>
            <a:off x="6172200" y="1618488"/>
            <a:ext cx="2240280" cy="411480"/>
          </a:xfrm>
          <a:prstGeom prst="rect">
            <a:avLst/>
          </a:prstGeom>
          <a:noFill/>
          <a:ln/>
        </p:spPr>
        <p:txBody>
          <a:bodyPr wrap="square" rtlCol="0" anchor="ctr"/>
          <a:lstStyle/>
          <a:p>
            <a:pPr indent="0" marL="0">
              <a:buNone/>
            </a:pPr>
            <a:r>
              <a:rPr lang="en-US" sz="1100" dirty="0">
                <a:solidFill>
                  <a:srgbClr val="E8EDF8"/>
                </a:solidFill>
                <a:latin typeface="Calibri" pitchFamily="34" charset="0"/>
                <a:ea typeface="Calibri" pitchFamily="34" charset="-122"/>
                <a:cs typeface="Calibri" pitchFamily="34" charset="-120"/>
              </a:rPr>
              <a:t>NUMERIC(18,4) · raises TypeError on float</a:t>
            </a:r>
            <a:endParaRPr lang="en-US" sz="1100" dirty="0"/>
          </a:p>
        </p:txBody>
      </p:sp>
      <p:sp>
        <p:nvSpPr>
          <p:cNvPr id="21" name="Shape 18"/>
          <p:cNvSpPr/>
          <p:nvPr/>
        </p:nvSpPr>
        <p:spPr>
          <a:xfrm>
            <a:off x="4572000" y="2185416"/>
            <a:ext cx="3977640" cy="502920"/>
          </a:xfrm>
          <a:prstGeom prst="roundRect">
            <a:avLst>
              <a:gd name="adj" fmla="val 12727"/>
            </a:avLst>
          </a:prstGeom>
          <a:solidFill>
            <a:srgbClr val="2E3F9E"/>
          </a:solidFill>
          <a:ln w="12700">
            <a:solidFill>
              <a:srgbClr val="253080"/>
            </a:solidFill>
            <a:prstDash val="solid"/>
          </a:ln>
        </p:spPr>
      </p:sp>
      <p:sp>
        <p:nvSpPr>
          <p:cNvPr id="22" name="Text 19"/>
          <p:cNvSpPr/>
          <p:nvPr/>
        </p:nvSpPr>
        <p:spPr>
          <a:xfrm>
            <a:off x="4709160" y="2231136"/>
            <a:ext cx="1417320" cy="41148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UTCDateTime</a:t>
            </a:r>
            <a:endParaRPr lang="en-US" sz="1100" dirty="0"/>
          </a:p>
        </p:txBody>
      </p:sp>
      <p:sp>
        <p:nvSpPr>
          <p:cNvPr id="23" name="Text 20"/>
          <p:cNvSpPr/>
          <p:nvPr/>
        </p:nvSpPr>
        <p:spPr>
          <a:xfrm>
            <a:off x="6172200" y="2231136"/>
            <a:ext cx="2240280" cy="411480"/>
          </a:xfrm>
          <a:prstGeom prst="rect">
            <a:avLst/>
          </a:prstGeom>
          <a:noFill/>
          <a:ln/>
        </p:spPr>
        <p:txBody>
          <a:bodyPr wrap="square" rtlCol="0" anchor="ctr"/>
          <a:lstStyle/>
          <a:p>
            <a:pPr indent="0" marL="0">
              <a:buNone/>
            </a:pPr>
            <a:r>
              <a:rPr lang="en-US" sz="1100" dirty="0">
                <a:solidFill>
                  <a:srgbClr val="E8EDF8"/>
                </a:solidFill>
                <a:latin typeface="Calibri" pitchFamily="34" charset="0"/>
                <a:ea typeface="Calibri" pitchFamily="34" charset="-122"/>
                <a:cs typeface="Calibri" pitchFamily="34" charset="-120"/>
              </a:rPr>
              <a:t>Rejects naive datetimes at ORM layer</a:t>
            </a:r>
            <a:endParaRPr lang="en-US" sz="1100" dirty="0"/>
          </a:p>
        </p:txBody>
      </p:sp>
      <p:sp>
        <p:nvSpPr>
          <p:cNvPr id="24" name="Shape 21"/>
          <p:cNvSpPr/>
          <p:nvPr/>
        </p:nvSpPr>
        <p:spPr>
          <a:xfrm>
            <a:off x="4572000" y="2798064"/>
            <a:ext cx="3977640" cy="502920"/>
          </a:xfrm>
          <a:prstGeom prst="roundRect">
            <a:avLst>
              <a:gd name="adj" fmla="val 12727"/>
            </a:avLst>
          </a:prstGeom>
          <a:solidFill>
            <a:srgbClr val="2E3F9E"/>
          </a:solidFill>
          <a:ln w="12700">
            <a:solidFill>
              <a:srgbClr val="253080"/>
            </a:solidFill>
            <a:prstDash val="solid"/>
          </a:ln>
        </p:spPr>
      </p:sp>
      <p:sp>
        <p:nvSpPr>
          <p:cNvPr id="25" name="Text 22"/>
          <p:cNvSpPr/>
          <p:nvPr/>
        </p:nvSpPr>
        <p:spPr>
          <a:xfrm>
            <a:off x="4709160" y="2843784"/>
            <a:ext cx="1417320" cy="41148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Idempotency</a:t>
            </a:r>
            <a:endParaRPr lang="en-US" sz="1100" dirty="0"/>
          </a:p>
        </p:txBody>
      </p:sp>
      <p:sp>
        <p:nvSpPr>
          <p:cNvPr id="26" name="Text 23"/>
          <p:cNvSpPr/>
          <p:nvPr/>
        </p:nvSpPr>
        <p:spPr>
          <a:xfrm>
            <a:off x="6172200" y="2843784"/>
            <a:ext cx="2240280" cy="411480"/>
          </a:xfrm>
          <a:prstGeom prst="rect">
            <a:avLst/>
          </a:prstGeom>
          <a:noFill/>
          <a:ln/>
        </p:spPr>
        <p:txBody>
          <a:bodyPr wrap="square" rtlCol="0" anchor="ctr"/>
          <a:lstStyle/>
          <a:p>
            <a:pPr indent="0" marL="0">
              <a:buNone/>
            </a:pPr>
            <a:r>
              <a:rPr lang="en-US" sz="1100" dirty="0">
                <a:solidFill>
                  <a:srgbClr val="E8EDF8"/>
                </a:solidFill>
                <a:latin typeface="Calibri" pitchFamily="34" charset="0"/>
                <a:ea typeface="Calibri" pitchFamily="34" charset="-122"/>
                <a:cs typeface="Calibri" pitchFamily="34" charset="-120"/>
              </a:rPr>
              <a:t>UNIQUE(merchant_id, idempotency_key) on transactions</a:t>
            </a:r>
            <a:endParaRPr lang="en-US" sz="1100" dirty="0"/>
          </a:p>
        </p:txBody>
      </p:sp>
      <p:sp>
        <p:nvSpPr>
          <p:cNvPr id="27" name="Shape 24"/>
          <p:cNvSpPr/>
          <p:nvPr/>
        </p:nvSpPr>
        <p:spPr>
          <a:xfrm>
            <a:off x="4572000" y="3410712"/>
            <a:ext cx="3977640" cy="502920"/>
          </a:xfrm>
          <a:prstGeom prst="roundRect">
            <a:avLst>
              <a:gd name="adj" fmla="val 12727"/>
            </a:avLst>
          </a:prstGeom>
          <a:solidFill>
            <a:srgbClr val="2E3F9E"/>
          </a:solidFill>
          <a:ln w="12700">
            <a:solidFill>
              <a:srgbClr val="253080"/>
            </a:solidFill>
            <a:prstDash val="solid"/>
          </a:ln>
        </p:spPr>
      </p:sp>
      <p:sp>
        <p:nvSpPr>
          <p:cNvPr id="28" name="Text 25"/>
          <p:cNvSpPr/>
          <p:nvPr/>
        </p:nvSpPr>
        <p:spPr>
          <a:xfrm>
            <a:off x="4709160" y="3456432"/>
            <a:ext cx="1417320" cy="41148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No ledger FK</a:t>
            </a:r>
            <a:endParaRPr lang="en-US" sz="1100" dirty="0"/>
          </a:p>
        </p:txBody>
      </p:sp>
      <p:sp>
        <p:nvSpPr>
          <p:cNvPr id="29" name="Text 26"/>
          <p:cNvSpPr/>
          <p:nvPr/>
        </p:nvSpPr>
        <p:spPr>
          <a:xfrm>
            <a:off x="6172200" y="3456432"/>
            <a:ext cx="2240280" cy="411480"/>
          </a:xfrm>
          <a:prstGeom prst="rect">
            <a:avLst/>
          </a:prstGeom>
          <a:noFill/>
          <a:ln/>
        </p:spPr>
        <p:txBody>
          <a:bodyPr wrap="square" rtlCol="0" anchor="ctr"/>
          <a:lstStyle/>
          <a:p>
            <a:pPr indent="0" marL="0">
              <a:buNone/>
            </a:pPr>
            <a:r>
              <a:rPr lang="en-US" sz="1100" dirty="0">
                <a:solidFill>
                  <a:srgbClr val="E8EDF8"/>
                </a:solidFill>
                <a:latin typeface="Calibri" pitchFamily="34" charset="0"/>
                <a:ea typeface="Calibri" pitchFamily="34" charset="-122"/>
                <a:cs typeface="Calibri" pitchFamily="34" charset="-120"/>
              </a:rPr>
              <a:t>Preserves ledger cluster extraction path (ADR-006)</a:t>
            </a:r>
            <a:endParaRPr lang="en-US" sz="1100" dirty="0"/>
          </a:p>
        </p:txBody>
      </p:sp>
      <p:sp>
        <p:nvSpPr>
          <p:cNvPr id="30" name="Shape 27"/>
          <p:cNvSpPr/>
          <p:nvPr/>
        </p:nvSpPr>
        <p:spPr>
          <a:xfrm>
            <a:off x="4572000" y="4023360"/>
            <a:ext cx="3977640" cy="502920"/>
          </a:xfrm>
          <a:prstGeom prst="roundRect">
            <a:avLst>
              <a:gd name="adj" fmla="val 12727"/>
            </a:avLst>
          </a:prstGeom>
          <a:solidFill>
            <a:srgbClr val="2E3F9E"/>
          </a:solidFill>
          <a:ln w="12700">
            <a:solidFill>
              <a:srgbClr val="253080"/>
            </a:solidFill>
            <a:prstDash val="solid"/>
          </a:ln>
        </p:spPr>
      </p:sp>
      <p:sp>
        <p:nvSpPr>
          <p:cNvPr id="31" name="Text 28"/>
          <p:cNvSpPr/>
          <p:nvPr/>
        </p:nvSpPr>
        <p:spPr>
          <a:xfrm>
            <a:off x="4709160" y="4069080"/>
            <a:ext cx="1417320" cy="41148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Wallet version</a:t>
            </a:r>
            <a:endParaRPr lang="en-US" sz="1100" dirty="0"/>
          </a:p>
        </p:txBody>
      </p:sp>
      <p:sp>
        <p:nvSpPr>
          <p:cNvPr id="32" name="Text 29"/>
          <p:cNvSpPr/>
          <p:nvPr/>
        </p:nvSpPr>
        <p:spPr>
          <a:xfrm>
            <a:off x="6172200" y="4069080"/>
            <a:ext cx="2240280" cy="411480"/>
          </a:xfrm>
          <a:prstGeom prst="rect">
            <a:avLst/>
          </a:prstGeom>
          <a:noFill/>
          <a:ln/>
        </p:spPr>
        <p:txBody>
          <a:bodyPr wrap="square" rtlCol="0" anchor="ctr"/>
          <a:lstStyle/>
          <a:p>
            <a:pPr indent="0" marL="0">
              <a:buNone/>
            </a:pPr>
            <a:r>
              <a:rPr lang="en-US" sz="1100" dirty="0">
                <a:solidFill>
                  <a:srgbClr val="E8EDF8"/>
                </a:solidFill>
                <a:latin typeface="Calibri" pitchFamily="34" charset="0"/>
                <a:ea typeface="Calibri" pitchFamily="34" charset="-122"/>
                <a:cs typeface="Calibri" pitchFamily="34" charset="-120"/>
              </a:rPr>
              <a:t>INTEGER column for optimistic concurrency control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A Payment in 7 Steps</a:t>
            </a:r>
            <a:endParaRPr lang="en-US" sz="3200" dirty="0"/>
          </a:p>
        </p:txBody>
      </p:sp>
      <p:sp>
        <p:nvSpPr>
          <p:cNvPr id="3" name="Shape 1"/>
          <p:cNvSpPr/>
          <p:nvPr/>
        </p:nvSpPr>
        <p:spPr>
          <a:xfrm>
            <a:off x="256032" y="960120"/>
            <a:ext cx="1115568" cy="1097280"/>
          </a:xfrm>
          <a:prstGeom prst="roundRect">
            <a:avLst>
              <a:gd name="adj" fmla="val 8333"/>
            </a:avLst>
          </a:prstGeom>
          <a:solidFill>
            <a:srgbClr val="2E3F9E"/>
          </a:solidFill>
          <a:ln w="15240">
            <a:solidFill>
              <a:srgbClr val="38BDF8"/>
            </a:solidFill>
            <a:prstDash val="solid"/>
          </a:ln>
        </p:spPr>
      </p:sp>
      <p:sp>
        <p:nvSpPr>
          <p:cNvPr id="4" name="Text 2"/>
          <p:cNvSpPr/>
          <p:nvPr/>
        </p:nvSpPr>
        <p:spPr>
          <a:xfrm>
            <a:off x="256032" y="1014984"/>
            <a:ext cx="1115568" cy="27432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1</a:t>
            </a:r>
            <a:endParaRPr lang="en-US" sz="1100" dirty="0"/>
          </a:p>
        </p:txBody>
      </p:sp>
      <p:sp>
        <p:nvSpPr>
          <p:cNvPr id="5" name="Text 3"/>
          <p:cNvSpPr/>
          <p:nvPr/>
        </p:nvSpPr>
        <p:spPr>
          <a:xfrm>
            <a:off x="256032" y="1252728"/>
            <a:ext cx="1115568"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Validate</a:t>
            </a:r>
            <a:endParaRPr lang="en-US" sz="1100" dirty="0"/>
          </a:p>
        </p:txBody>
      </p:sp>
      <p:sp>
        <p:nvSpPr>
          <p:cNvPr id="6" name="Text 4"/>
          <p:cNvSpPr/>
          <p:nvPr/>
        </p:nvSpPr>
        <p:spPr>
          <a:xfrm>
            <a:off x="256032" y="1490472"/>
            <a:ext cx="1115568" cy="530352"/>
          </a:xfrm>
          <a:prstGeom prst="rect">
            <a:avLst/>
          </a:prstGeom>
          <a:noFill/>
          <a:ln/>
        </p:spPr>
        <p:txBody>
          <a:bodyPr wrap="square" rtlCol="0" anchor="ctr"/>
          <a:lstStyle/>
          <a:p>
            <a:pPr algn="ctr" indent="0" marL="0">
              <a:buNone/>
            </a:pPr>
            <a:r>
              <a:rPr lang="en-US" sz="950" dirty="0">
                <a:solidFill>
                  <a:srgbClr val="8096C4"/>
                </a:solidFill>
                <a:latin typeface="Calibri" pitchFamily="34" charset="0"/>
                <a:ea typeface="Calibri" pitchFamily="34" charset="-122"/>
                <a:cs typeface="Calibri" pitchFamily="34" charset="-120"/>
              </a:rPr>
              <a:t>amount, currency,</a:t>
            </a:r>
            <a:endParaRPr lang="en-US" sz="950" dirty="0"/>
          </a:p>
          <a:p>
            <a:pPr algn="ctr" indent="0" marL="0">
              <a:buNone/>
            </a:pPr>
            <a:r>
              <a:rPr lang="en-US" sz="950" dirty="0">
                <a:solidFill>
                  <a:srgbClr val="8096C4"/>
                </a:solidFill>
                <a:latin typeface="Calibri" pitchFamily="34" charset="0"/>
                <a:ea typeface="Calibri" pitchFamily="34" charset="-122"/>
                <a:cs typeface="Calibri" pitchFamily="34" charset="-120"/>
              </a:rPr>
              <a:t>merchant_id, idem key</a:t>
            </a:r>
            <a:endParaRPr lang="en-US" sz="950" dirty="0"/>
          </a:p>
        </p:txBody>
      </p:sp>
      <p:sp>
        <p:nvSpPr>
          <p:cNvPr id="7" name="Shape 5"/>
          <p:cNvSpPr/>
          <p:nvPr/>
        </p:nvSpPr>
        <p:spPr>
          <a:xfrm>
            <a:off x="1389888" y="1508760"/>
            <a:ext cx="91440" cy="0"/>
          </a:xfrm>
          <a:prstGeom prst="line">
            <a:avLst/>
          </a:prstGeom>
          <a:noFill/>
          <a:ln w="15240">
            <a:solidFill>
              <a:srgbClr val="8BAEE8"/>
            </a:solidFill>
            <a:prstDash val="solid"/>
            <a:tailEnd type="open"/>
          </a:ln>
        </p:spPr>
      </p:sp>
      <p:sp>
        <p:nvSpPr>
          <p:cNvPr id="8" name="Shape 6"/>
          <p:cNvSpPr/>
          <p:nvPr/>
        </p:nvSpPr>
        <p:spPr>
          <a:xfrm>
            <a:off x="1481328" y="960120"/>
            <a:ext cx="1115568" cy="1097280"/>
          </a:xfrm>
          <a:prstGeom prst="roundRect">
            <a:avLst>
              <a:gd name="adj" fmla="val 8333"/>
            </a:avLst>
          </a:prstGeom>
          <a:solidFill>
            <a:srgbClr val="2E3F9E"/>
          </a:solidFill>
          <a:ln w="15240">
            <a:solidFill>
              <a:srgbClr val="38BDF8"/>
            </a:solidFill>
            <a:prstDash val="solid"/>
          </a:ln>
        </p:spPr>
      </p:sp>
      <p:sp>
        <p:nvSpPr>
          <p:cNvPr id="9" name="Text 7"/>
          <p:cNvSpPr/>
          <p:nvPr/>
        </p:nvSpPr>
        <p:spPr>
          <a:xfrm>
            <a:off x="1481328" y="1014984"/>
            <a:ext cx="1115568" cy="27432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2</a:t>
            </a:r>
            <a:endParaRPr lang="en-US" sz="1100" dirty="0"/>
          </a:p>
        </p:txBody>
      </p:sp>
      <p:sp>
        <p:nvSpPr>
          <p:cNvPr id="10" name="Text 8"/>
          <p:cNvSpPr/>
          <p:nvPr/>
        </p:nvSpPr>
        <p:spPr>
          <a:xfrm>
            <a:off x="1481328" y="1252728"/>
            <a:ext cx="1115568"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Idempotency</a:t>
            </a:r>
            <a:endParaRPr lang="en-US" sz="1100" dirty="0"/>
          </a:p>
        </p:txBody>
      </p:sp>
      <p:sp>
        <p:nvSpPr>
          <p:cNvPr id="11" name="Text 9"/>
          <p:cNvSpPr/>
          <p:nvPr/>
        </p:nvSpPr>
        <p:spPr>
          <a:xfrm>
            <a:off x="1481328" y="1490472"/>
            <a:ext cx="1115568" cy="530352"/>
          </a:xfrm>
          <a:prstGeom prst="rect">
            <a:avLst/>
          </a:prstGeom>
          <a:noFill/>
          <a:ln/>
        </p:spPr>
        <p:txBody>
          <a:bodyPr wrap="square" rtlCol="0" anchor="ctr"/>
          <a:lstStyle/>
          <a:p>
            <a:pPr algn="ctr" indent="0" marL="0">
              <a:buNone/>
            </a:pPr>
            <a:r>
              <a:rPr lang="en-US" sz="950" dirty="0">
                <a:solidFill>
                  <a:srgbClr val="8096C4"/>
                </a:solidFill>
                <a:latin typeface="Calibri" pitchFamily="34" charset="0"/>
                <a:ea typeface="Calibri" pitchFamily="34" charset="-122"/>
                <a:cs typeface="Calibri" pitchFamily="34" charset="-120"/>
              </a:rPr>
              <a:t>Redis check → DB</a:t>
            </a:r>
            <a:endParaRPr lang="en-US" sz="950" dirty="0"/>
          </a:p>
          <a:p>
            <a:pPr algn="ctr" indent="0" marL="0">
              <a:buNone/>
            </a:pPr>
            <a:r>
              <a:rPr lang="en-US" sz="950" dirty="0">
                <a:solidFill>
                  <a:srgbClr val="8096C4"/>
                </a:solidFill>
                <a:latin typeface="Calibri" pitchFamily="34" charset="0"/>
                <a:ea typeface="Calibri" pitchFamily="34" charset="-122"/>
                <a:cs typeface="Calibri" pitchFamily="34" charset="-120"/>
              </a:rPr>
              <a:t>Return cached if hit</a:t>
            </a:r>
            <a:endParaRPr lang="en-US" sz="950" dirty="0"/>
          </a:p>
        </p:txBody>
      </p:sp>
      <p:sp>
        <p:nvSpPr>
          <p:cNvPr id="12" name="Shape 10"/>
          <p:cNvSpPr/>
          <p:nvPr/>
        </p:nvSpPr>
        <p:spPr>
          <a:xfrm>
            <a:off x="2615184" y="1508760"/>
            <a:ext cx="91440" cy="0"/>
          </a:xfrm>
          <a:prstGeom prst="line">
            <a:avLst/>
          </a:prstGeom>
          <a:noFill/>
          <a:ln w="15240">
            <a:solidFill>
              <a:srgbClr val="8BAEE8"/>
            </a:solidFill>
            <a:prstDash val="solid"/>
            <a:tailEnd type="open"/>
          </a:ln>
        </p:spPr>
      </p:sp>
      <p:sp>
        <p:nvSpPr>
          <p:cNvPr id="13" name="Shape 11"/>
          <p:cNvSpPr/>
          <p:nvPr/>
        </p:nvSpPr>
        <p:spPr>
          <a:xfrm>
            <a:off x="2706624" y="960120"/>
            <a:ext cx="1115568" cy="1097280"/>
          </a:xfrm>
          <a:prstGeom prst="roundRect">
            <a:avLst>
              <a:gd name="adj" fmla="val 8333"/>
            </a:avLst>
          </a:prstGeom>
          <a:solidFill>
            <a:srgbClr val="2E3F9E"/>
          </a:solidFill>
          <a:ln w="15240">
            <a:solidFill>
              <a:srgbClr val="38BDF8"/>
            </a:solidFill>
            <a:prstDash val="solid"/>
          </a:ln>
        </p:spPr>
      </p:sp>
      <p:sp>
        <p:nvSpPr>
          <p:cNvPr id="14" name="Text 12"/>
          <p:cNvSpPr/>
          <p:nvPr/>
        </p:nvSpPr>
        <p:spPr>
          <a:xfrm>
            <a:off x="2706624" y="1014984"/>
            <a:ext cx="1115568" cy="27432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2706624" y="1252728"/>
            <a:ext cx="1115568"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Wallet Lookup</a:t>
            </a:r>
            <a:endParaRPr lang="en-US" sz="1100" dirty="0"/>
          </a:p>
        </p:txBody>
      </p:sp>
      <p:sp>
        <p:nvSpPr>
          <p:cNvPr id="16" name="Text 14"/>
          <p:cNvSpPr/>
          <p:nvPr/>
        </p:nvSpPr>
        <p:spPr>
          <a:xfrm>
            <a:off x="2706624" y="1490472"/>
            <a:ext cx="1115568" cy="530352"/>
          </a:xfrm>
          <a:prstGeom prst="rect">
            <a:avLst/>
          </a:prstGeom>
          <a:noFill/>
          <a:ln/>
        </p:spPr>
        <p:txBody>
          <a:bodyPr wrap="square" rtlCol="0" anchor="ctr"/>
          <a:lstStyle/>
          <a:p>
            <a:pPr algn="ctr" indent="0" marL="0">
              <a:buNone/>
            </a:pPr>
            <a:r>
              <a:rPr lang="en-US" sz="950" dirty="0">
                <a:solidFill>
                  <a:srgbClr val="8096C4"/>
                </a:solidFill>
                <a:latin typeface="Calibri" pitchFamily="34" charset="0"/>
                <a:ea typeface="Calibri" pitchFamily="34" charset="-122"/>
                <a:cs typeface="Calibri" pitchFamily="34" charset="-120"/>
              </a:rPr>
              <a:t>user + currency</a:t>
            </a:r>
            <a:endParaRPr lang="en-US" sz="950" dirty="0"/>
          </a:p>
        </p:txBody>
      </p:sp>
      <p:sp>
        <p:nvSpPr>
          <p:cNvPr id="17" name="Shape 15"/>
          <p:cNvSpPr/>
          <p:nvPr/>
        </p:nvSpPr>
        <p:spPr>
          <a:xfrm>
            <a:off x="3840480" y="1508760"/>
            <a:ext cx="91440" cy="0"/>
          </a:xfrm>
          <a:prstGeom prst="line">
            <a:avLst/>
          </a:prstGeom>
          <a:noFill/>
          <a:ln w="15240">
            <a:solidFill>
              <a:srgbClr val="8BAEE8"/>
            </a:solidFill>
            <a:prstDash val="solid"/>
            <a:tailEnd type="open"/>
          </a:ln>
        </p:spPr>
      </p:sp>
      <p:sp>
        <p:nvSpPr>
          <p:cNvPr id="18" name="Shape 16"/>
          <p:cNvSpPr/>
          <p:nvPr/>
        </p:nvSpPr>
        <p:spPr>
          <a:xfrm>
            <a:off x="3931920" y="960120"/>
            <a:ext cx="1115568" cy="1097280"/>
          </a:xfrm>
          <a:prstGeom prst="roundRect">
            <a:avLst>
              <a:gd name="adj" fmla="val 8333"/>
            </a:avLst>
          </a:prstGeom>
          <a:solidFill>
            <a:srgbClr val="2E3F9E"/>
          </a:solidFill>
          <a:ln w="15240">
            <a:solidFill>
              <a:srgbClr val="38BDF8"/>
            </a:solidFill>
            <a:prstDash val="solid"/>
          </a:ln>
        </p:spPr>
      </p:sp>
      <p:sp>
        <p:nvSpPr>
          <p:cNvPr id="19" name="Text 17"/>
          <p:cNvSpPr/>
          <p:nvPr/>
        </p:nvSpPr>
        <p:spPr>
          <a:xfrm>
            <a:off x="3931920" y="1014984"/>
            <a:ext cx="1115568" cy="27432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4</a:t>
            </a:r>
            <a:endParaRPr lang="en-US" sz="1100" dirty="0"/>
          </a:p>
        </p:txBody>
      </p:sp>
      <p:sp>
        <p:nvSpPr>
          <p:cNvPr id="20" name="Text 18"/>
          <p:cNvSpPr/>
          <p:nvPr/>
        </p:nvSpPr>
        <p:spPr>
          <a:xfrm>
            <a:off x="3931920" y="1252728"/>
            <a:ext cx="1115568"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Insert Pending</a:t>
            </a:r>
            <a:endParaRPr lang="en-US" sz="1100" dirty="0"/>
          </a:p>
        </p:txBody>
      </p:sp>
      <p:sp>
        <p:nvSpPr>
          <p:cNvPr id="21" name="Text 19"/>
          <p:cNvSpPr/>
          <p:nvPr/>
        </p:nvSpPr>
        <p:spPr>
          <a:xfrm>
            <a:off x="3931920" y="1490472"/>
            <a:ext cx="1115568" cy="530352"/>
          </a:xfrm>
          <a:prstGeom prst="rect">
            <a:avLst/>
          </a:prstGeom>
          <a:noFill/>
          <a:ln/>
        </p:spPr>
        <p:txBody>
          <a:bodyPr wrap="square" rtlCol="0" anchor="ctr"/>
          <a:lstStyle/>
          <a:p>
            <a:pPr algn="ctr" indent="0" marL="0">
              <a:buNone/>
            </a:pPr>
            <a:r>
              <a:rPr lang="en-US" sz="950" dirty="0">
                <a:solidFill>
                  <a:srgbClr val="8096C4"/>
                </a:solidFill>
                <a:latin typeface="Calibri" pitchFamily="34" charset="0"/>
                <a:ea typeface="Calibri" pitchFamily="34" charset="-122"/>
                <a:cs typeface="Calibri" pitchFamily="34" charset="-120"/>
              </a:rPr>
              <a:t>Transaction row</a:t>
            </a:r>
            <a:endParaRPr lang="en-US" sz="950" dirty="0"/>
          </a:p>
          <a:p>
            <a:pPr algn="ctr" indent="0" marL="0">
              <a:buNone/>
            </a:pPr>
            <a:r>
              <a:rPr lang="en-US" sz="950" dirty="0">
                <a:solidFill>
                  <a:srgbClr val="8096C4"/>
                </a:solidFill>
                <a:latin typeface="Calibri" pitchFamily="34" charset="0"/>
                <a:ea typeface="Calibri" pitchFamily="34" charset="-122"/>
                <a:cs typeface="Calibri" pitchFamily="34" charset="-120"/>
              </a:rPr>
              <a:t>in core.transactions</a:t>
            </a:r>
            <a:endParaRPr lang="en-US" sz="950" dirty="0"/>
          </a:p>
        </p:txBody>
      </p:sp>
      <p:sp>
        <p:nvSpPr>
          <p:cNvPr id="22" name="Shape 20"/>
          <p:cNvSpPr/>
          <p:nvPr/>
        </p:nvSpPr>
        <p:spPr>
          <a:xfrm>
            <a:off x="5065776" y="1508760"/>
            <a:ext cx="91440" cy="0"/>
          </a:xfrm>
          <a:prstGeom prst="line">
            <a:avLst/>
          </a:prstGeom>
          <a:noFill/>
          <a:ln w="15240">
            <a:solidFill>
              <a:srgbClr val="8BAEE8"/>
            </a:solidFill>
            <a:prstDash val="solid"/>
            <a:tailEnd type="open"/>
          </a:ln>
        </p:spPr>
      </p:sp>
      <p:sp>
        <p:nvSpPr>
          <p:cNvPr id="23" name="Shape 21"/>
          <p:cNvSpPr/>
          <p:nvPr/>
        </p:nvSpPr>
        <p:spPr>
          <a:xfrm>
            <a:off x="5157216" y="960120"/>
            <a:ext cx="1115568" cy="1097280"/>
          </a:xfrm>
          <a:prstGeom prst="roundRect">
            <a:avLst>
              <a:gd name="adj" fmla="val 8333"/>
            </a:avLst>
          </a:prstGeom>
          <a:solidFill>
            <a:srgbClr val="2E3F9E"/>
          </a:solidFill>
          <a:ln w="15240">
            <a:solidFill>
              <a:srgbClr val="38BDF8"/>
            </a:solidFill>
            <a:prstDash val="solid"/>
          </a:ln>
        </p:spPr>
      </p:sp>
      <p:sp>
        <p:nvSpPr>
          <p:cNvPr id="24" name="Text 22"/>
          <p:cNvSpPr/>
          <p:nvPr/>
        </p:nvSpPr>
        <p:spPr>
          <a:xfrm>
            <a:off x="5157216" y="1014984"/>
            <a:ext cx="1115568" cy="27432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5</a:t>
            </a:r>
            <a:endParaRPr lang="en-US" sz="1100" dirty="0"/>
          </a:p>
        </p:txBody>
      </p:sp>
      <p:sp>
        <p:nvSpPr>
          <p:cNvPr id="25" name="Text 23"/>
          <p:cNvSpPr/>
          <p:nvPr/>
        </p:nvSpPr>
        <p:spPr>
          <a:xfrm>
            <a:off x="5157216" y="1252728"/>
            <a:ext cx="1115568"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Debit Wallet</a:t>
            </a:r>
            <a:endParaRPr lang="en-US" sz="1100" dirty="0"/>
          </a:p>
        </p:txBody>
      </p:sp>
      <p:sp>
        <p:nvSpPr>
          <p:cNvPr id="26" name="Text 24"/>
          <p:cNvSpPr/>
          <p:nvPr/>
        </p:nvSpPr>
        <p:spPr>
          <a:xfrm>
            <a:off x="5157216" y="1490472"/>
            <a:ext cx="1115568" cy="530352"/>
          </a:xfrm>
          <a:prstGeom prst="rect">
            <a:avLst/>
          </a:prstGeom>
          <a:noFill/>
          <a:ln/>
        </p:spPr>
        <p:txBody>
          <a:bodyPr wrap="square" rtlCol="0" anchor="ctr"/>
          <a:lstStyle/>
          <a:p>
            <a:pPr algn="ctr" indent="0" marL="0">
              <a:buNone/>
            </a:pPr>
            <a:r>
              <a:rPr lang="en-US" sz="950" dirty="0">
                <a:solidFill>
                  <a:srgbClr val="8096C4"/>
                </a:solidFill>
                <a:latin typeface="Calibri" pitchFamily="34" charset="0"/>
                <a:ea typeface="Calibri" pitchFamily="34" charset="-122"/>
                <a:cs typeface="Calibri" pitchFamily="34" charset="-120"/>
              </a:rPr>
              <a:t>version check</a:t>
            </a:r>
            <a:endParaRPr lang="en-US" sz="950" dirty="0"/>
          </a:p>
          <a:p>
            <a:pPr algn="ctr" indent="0" marL="0">
              <a:buNone/>
            </a:pPr>
            <a:r>
              <a:rPr lang="en-US" sz="950" dirty="0">
                <a:solidFill>
                  <a:srgbClr val="8096C4"/>
                </a:solidFill>
                <a:latin typeface="Calibri" pitchFamily="34" charset="0"/>
                <a:ea typeface="Calibri" pitchFamily="34" charset="-122"/>
                <a:cs typeface="Calibri" pitchFamily="34" charset="-120"/>
              </a:rPr>
              <a:t>Optimistic lock</a:t>
            </a:r>
            <a:endParaRPr lang="en-US" sz="950" dirty="0"/>
          </a:p>
        </p:txBody>
      </p:sp>
      <p:sp>
        <p:nvSpPr>
          <p:cNvPr id="27" name="Shape 25"/>
          <p:cNvSpPr/>
          <p:nvPr/>
        </p:nvSpPr>
        <p:spPr>
          <a:xfrm>
            <a:off x="6291072" y="1508760"/>
            <a:ext cx="91440" cy="0"/>
          </a:xfrm>
          <a:prstGeom prst="line">
            <a:avLst/>
          </a:prstGeom>
          <a:noFill/>
          <a:ln w="15240">
            <a:solidFill>
              <a:srgbClr val="8BAEE8"/>
            </a:solidFill>
            <a:prstDash val="solid"/>
            <a:tailEnd type="open"/>
          </a:ln>
        </p:spPr>
      </p:sp>
      <p:sp>
        <p:nvSpPr>
          <p:cNvPr id="28" name="Shape 26"/>
          <p:cNvSpPr/>
          <p:nvPr/>
        </p:nvSpPr>
        <p:spPr>
          <a:xfrm>
            <a:off x="6382512" y="960120"/>
            <a:ext cx="1115568" cy="1097280"/>
          </a:xfrm>
          <a:prstGeom prst="roundRect">
            <a:avLst>
              <a:gd name="adj" fmla="val 8333"/>
            </a:avLst>
          </a:prstGeom>
          <a:solidFill>
            <a:srgbClr val="2E3F9E"/>
          </a:solidFill>
          <a:ln w="15240">
            <a:solidFill>
              <a:srgbClr val="38BDF8"/>
            </a:solidFill>
            <a:prstDash val="solid"/>
          </a:ln>
        </p:spPr>
      </p:sp>
      <p:sp>
        <p:nvSpPr>
          <p:cNvPr id="29" name="Text 27"/>
          <p:cNvSpPr/>
          <p:nvPr/>
        </p:nvSpPr>
        <p:spPr>
          <a:xfrm>
            <a:off x="6382512" y="1014984"/>
            <a:ext cx="1115568" cy="27432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382512" y="1252728"/>
            <a:ext cx="1115568"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Post Ledger</a:t>
            </a:r>
            <a:endParaRPr lang="en-US" sz="1100" dirty="0"/>
          </a:p>
        </p:txBody>
      </p:sp>
      <p:sp>
        <p:nvSpPr>
          <p:cNvPr id="31" name="Text 29"/>
          <p:cNvSpPr/>
          <p:nvPr/>
        </p:nvSpPr>
        <p:spPr>
          <a:xfrm>
            <a:off x="6382512" y="1490472"/>
            <a:ext cx="1115568" cy="530352"/>
          </a:xfrm>
          <a:prstGeom prst="rect">
            <a:avLst/>
          </a:prstGeom>
          <a:noFill/>
          <a:ln/>
        </p:spPr>
        <p:txBody>
          <a:bodyPr wrap="square" rtlCol="0" anchor="ctr"/>
          <a:lstStyle/>
          <a:p>
            <a:pPr algn="ctr" indent="0" marL="0">
              <a:buNone/>
            </a:pPr>
            <a:r>
              <a:rPr lang="en-US" sz="950" dirty="0">
                <a:solidFill>
                  <a:srgbClr val="8096C4"/>
                </a:solidFill>
                <a:latin typeface="Calibri" pitchFamily="34" charset="0"/>
                <a:ea typeface="Calibri" pitchFamily="34" charset="-122"/>
                <a:cs typeface="Calibri" pitchFamily="34" charset="-120"/>
              </a:rPr>
              <a:t>DEBIT wallet</a:t>
            </a:r>
            <a:endParaRPr lang="en-US" sz="950" dirty="0"/>
          </a:p>
          <a:p>
            <a:pPr algn="ctr" indent="0" marL="0">
              <a:buNone/>
            </a:pPr>
            <a:r>
              <a:rPr lang="en-US" sz="950" dirty="0">
                <a:solidFill>
                  <a:srgbClr val="8096C4"/>
                </a:solidFill>
                <a:latin typeface="Calibri" pitchFamily="34" charset="0"/>
                <a:ea typeface="Calibri" pitchFamily="34" charset="-122"/>
                <a:cs typeface="Calibri" pitchFamily="34" charset="-120"/>
              </a:rPr>
              <a:t>CREDIT merchant</a:t>
            </a:r>
            <a:endParaRPr lang="en-US" sz="950" dirty="0"/>
          </a:p>
        </p:txBody>
      </p:sp>
      <p:sp>
        <p:nvSpPr>
          <p:cNvPr id="32" name="Shape 30"/>
          <p:cNvSpPr/>
          <p:nvPr/>
        </p:nvSpPr>
        <p:spPr>
          <a:xfrm>
            <a:off x="7516368" y="1508760"/>
            <a:ext cx="91440" cy="0"/>
          </a:xfrm>
          <a:prstGeom prst="line">
            <a:avLst/>
          </a:prstGeom>
          <a:noFill/>
          <a:ln w="15240">
            <a:solidFill>
              <a:srgbClr val="8BAEE8"/>
            </a:solidFill>
            <a:prstDash val="solid"/>
            <a:tailEnd type="open"/>
          </a:ln>
        </p:spPr>
      </p:sp>
      <p:sp>
        <p:nvSpPr>
          <p:cNvPr id="33" name="Shape 31"/>
          <p:cNvSpPr/>
          <p:nvPr/>
        </p:nvSpPr>
        <p:spPr>
          <a:xfrm>
            <a:off x="7607808" y="960120"/>
            <a:ext cx="1115568" cy="1097280"/>
          </a:xfrm>
          <a:prstGeom prst="roundRect">
            <a:avLst>
              <a:gd name="adj" fmla="val 8333"/>
            </a:avLst>
          </a:prstGeom>
          <a:solidFill>
            <a:srgbClr val="2E3F9E"/>
          </a:solidFill>
          <a:ln w="15240">
            <a:solidFill>
              <a:srgbClr val="38BDF8"/>
            </a:solidFill>
            <a:prstDash val="solid"/>
          </a:ln>
        </p:spPr>
      </p:sp>
      <p:sp>
        <p:nvSpPr>
          <p:cNvPr id="34" name="Text 32"/>
          <p:cNvSpPr/>
          <p:nvPr/>
        </p:nvSpPr>
        <p:spPr>
          <a:xfrm>
            <a:off x="7607808" y="1014984"/>
            <a:ext cx="1115568" cy="27432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7</a:t>
            </a:r>
            <a:endParaRPr lang="en-US" sz="1100" dirty="0"/>
          </a:p>
        </p:txBody>
      </p:sp>
      <p:sp>
        <p:nvSpPr>
          <p:cNvPr id="35" name="Text 33"/>
          <p:cNvSpPr/>
          <p:nvPr/>
        </p:nvSpPr>
        <p:spPr>
          <a:xfrm>
            <a:off x="7607808" y="1252728"/>
            <a:ext cx="1115568"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Return</a:t>
            </a:r>
            <a:endParaRPr lang="en-US" sz="1100" dirty="0"/>
          </a:p>
        </p:txBody>
      </p:sp>
      <p:sp>
        <p:nvSpPr>
          <p:cNvPr id="36" name="Text 34"/>
          <p:cNvSpPr/>
          <p:nvPr/>
        </p:nvSpPr>
        <p:spPr>
          <a:xfrm>
            <a:off x="7607808" y="1490472"/>
            <a:ext cx="1115568" cy="530352"/>
          </a:xfrm>
          <a:prstGeom prst="rect">
            <a:avLst/>
          </a:prstGeom>
          <a:noFill/>
          <a:ln/>
        </p:spPr>
        <p:txBody>
          <a:bodyPr wrap="square" rtlCol="0" anchor="ctr"/>
          <a:lstStyle/>
          <a:p>
            <a:pPr algn="ctr" indent="0" marL="0">
              <a:buNone/>
            </a:pPr>
            <a:r>
              <a:rPr lang="en-US" sz="950" dirty="0">
                <a:solidFill>
                  <a:srgbClr val="8096C4"/>
                </a:solidFill>
                <a:latin typeface="Calibri" pitchFamily="34" charset="0"/>
                <a:ea typeface="Calibri" pitchFamily="34" charset="-122"/>
                <a:cs typeface="Calibri" pitchFamily="34" charset="-120"/>
              </a:rPr>
              <a:t>status, score</a:t>
            </a:r>
            <a:endParaRPr lang="en-US" sz="950" dirty="0"/>
          </a:p>
          <a:p>
            <a:pPr algn="ctr" indent="0" marL="0">
              <a:buNone/>
            </a:pPr>
            <a:r>
              <a:rPr lang="en-US" sz="950" dirty="0">
                <a:solidFill>
                  <a:srgbClr val="8096C4"/>
                </a:solidFill>
                <a:latin typeface="Calibri" pitchFamily="34" charset="0"/>
                <a:ea typeface="Calibri" pitchFamily="34" charset="-122"/>
                <a:cs typeface="Calibri" pitchFamily="34" charset="-120"/>
              </a:rPr>
              <a:t>200/201/202</a:t>
            </a:r>
            <a:endParaRPr lang="en-US" sz="950" dirty="0"/>
          </a:p>
        </p:txBody>
      </p:sp>
      <p:sp>
        <p:nvSpPr>
          <p:cNvPr id="37" name="Shape 35"/>
          <p:cNvSpPr/>
          <p:nvPr/>
        </p:nvSpPr>
        <p:spPr>
          <a:xfrm>
            <a:off x="365760" y="2331720"/>
            <a:ext cx="5029200" cy="1508760"/>
          </a:xfrm>
          <a:prstGeom prst="roundRect">
            <a:avLst>
              <a:gd name="adj" fmla="val 7273"/>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38" name="Text 36"/>
          <p:cNvSpPr/>
          <p:nvPr/>
        </p:nvSpPr>
        <p:spPr>
          <a:xfrm>
            <a:off x="594360" y="2404872"/>
            <a:ext cx="2286000" cy="274320"/>
          </a:xfrm>
          <a:prstGeom prst="rect">
            <a:avLst/>
          </a:prstGeom>
          <a:noFill/>
          <a:ln/>
        </p:spPr>
        <p:txBody>
          <a:bodyPr wrap="square" rtlCol="0" anchor="ctr"/>
          <a:lstStyle/>
          <a:p>
            <a:pPr indent="0" marL="0">
              <a:buNone/>
            </a:pPr>
            <a:r>
              <a:rPr lang="en-US" sz="1200" b="1" dirty="0">
                <a:solidFill>
                  <a:srgbClr val="CADCFC"/>
                </a:solidFill>
                <a:latin typeface="Calibri" pitchFamily="34" charset="0"/>
                <a:ea typeface="Calibri" pitchFamily="34" charset="-122"/>
                <a:cs typeface="Calibri" pitchFamily="34" charset="-120"/>
              </a:rPr>
              <a:t>State Machine</a:t>
            </a:r>
            <a:endParaRPr lang="en-US" sz="1200" dirty="0"/>
          </a:p>
        </p:txBody>
      </p:sp>
      <p:sp>
        <p:nvSpPr>
          <p:cNvPr id="39" name="Shape 37"/>
          <p:cNvSpPr/>
          <p:nvPr/>
        </p:nvSpPr>
        <p:spPr>
          <a:xfrm>
            <a:off x="598932" y="2770632"/>
            <a:ext cx="118872" cy="118872"/>
          </a:xfrm>
          <a:prstGeom prst="ellipse">
            <a:avLst/>
          </a:prstGeom>
          <a:solidFill>
            <a:srgbClr val="22C55E"/>
          </a:solidFill>
          <a:ln w="12700">
            <a:solidFill>
              <a:srgbClr val="22C55E"/>
            </a:solidFill>
            <a:prstDash val="solid"/>
          </a:ln>
        </p:spPr>
      </p:sp>
      <p:sp>
        <p:nvSpPr>
          <p:cNvPr id="40" name="Text 38"/>
          <p:cNvSpPr/>
          <p:nvPr/>
        </p:nvSpPr>
        <p:spPr>
          <a:xfrm>
            <a:off x="841248" y="2688336"/>
            <a:ext cx="4206240" cy="256032"/>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pending  →  success</a:t>
            </a:r>
            <a:endParaRPr lang="en-US" sz="1100" dirty="0"/>
          </a:p>
        </p:txBody>
      </p:sp>
      <p:sp>
        <p:nvSpPr>
          <p:cNvPr id="41" name="Shape 39"/>
          <p:cNvSpPr/>
          <p:nvPr/>
        </p:nvSpPr>
        <p:spPr>
          <a:xfrm>
            <a:off x="598932" y="2990088"/>
            <a:ext cx="118872" cy="118872"/>
          </a:xfrm>
          <a:prstGeom prst="ellipse">
            <a:avLst/>
          </a:prstGeom>
          <a:solidFill>
            <a:srgbClr val="8096C4"/>
          </a:solidFill>
          <a:ln w="12700">
            <a:solidFill>
              <a:srgbClr val="8096C4"/>
            </a:solidFill>
            <a:prstDash val="solid"/>
          </a:ln>
        </p:spPr>
      </p:sp>
      <p:sp>
        <p:nvSpPr>
          <p:cNvPr id="42" name="Text 40"/>
          <p:cNvSpPr/>
          <p:nvPr/>
        </p:nvSpPr>
        <p:spPr>
          <a:xfrm>
            <a:off x="841248" y="2907792"/>
            <a:ext cx="4206240" cy="256032"/>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success  →  reversed</a:t>
            </a:r>
            <a:endParaRPr lang="en-US" sz="1100" dirty="0"/>
          </a:p>
        </p:txBody>
      </p:sp>
      <p:sp>
        <p:nvSpPr>
          <p:cNvPr id="43" name="Shape 41"/>
          <p:cNvSpPr/>
          <p:nvPr/>
        </p:nvSpPr>
        <p:spPr>
          <a:xfrm>
            <a:off x="598932" y="3209544"/>
            <a:ext cx="118872" cy="118872"/>
          </a:xfrm>
          <a:prstGeom prst="ellipse">
            <a:avLst/>
          </a:prstGeom>
          <a:solidFill>
            <a:srgbClr val="EF4444"/>
          </a:solidFill>
          <a:ln w="12700">
            <a:solidFill>
              <a:srgbClr val="EF4444"/>
            </a:solidFill>
            <a:prstDash val="solid"/>
          </a:ln>
        </p:spPr>
      </p:sp>
      <p:sp>
        <p:nvSpPr>
          <p:cNvPr id="44" name="Text 42"/>
          <p:cNvSpPr/>
          <p:nvPr/>
        </p:nvSpPr>
        <p:spPr>
          <a:xfrm>
            <a:off x="841248" y="3127248"/>
            <a:ext cx="4206240" cy="256032"/>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pending  →  failed</a:t>
            </a:r>
            <a:endParaRPr lang="en-US" sz="1100" dirty="0"/>
          </a:p>
        </p:txBody>
      </p:sp>
      <p:sp>
        <p:nvSpPr>
          <p:cNvPr id="45" name="Shape 43"/>
          <p:cNvSpPr/>
          <p:nvPr/>
        </p:nvSpPr>
        <p:spPr>
          <a:xfrm>
            <a:off x="598932" y="3429000"/>
            <a:ext cx="118872" cy="118872"/>
          </a:xfrm>
          <a:prstGeom prst="ellipse">
            <a:avLst/>
          </a:prstGeom>
          <a:solidFill>
            <a:srgbClr val="F59E0B"/>
          </a:solidFill>
          <a:ln w="12700">
            <a:solidFill>
              <a:srgbClr val="F59E0B"/>
            </a:solidFill>
            <a:prstDash val="solid"/>
          </a:ln>
        </p:spPr>
      </p:sp>
      <p:sp>
        <p:nvSpPr>
          <p:cNvPr id="46" name="Text 44"/>
          <p:cNvSpPr/>
          <p:nvPr/>
        </p:nvSpPr>
        <p:spPr>
          <a:xfrm>
            <a:off x="841248" y="3346704"/>
            <a:ext cx="4206240" cy="256032"/>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pending  →  flagged</a:t>
            </a:r>
            <a:endParaRPr lang="en-US" sz="1100" dirty="0"/>
          </a:p>
        </p:txBody>
      </p:sp>
      <p:sp>
        <p:nvSpPr>
          <p:cNvPr id="47" name="Shape 45"/>
          <p:cNvSpPr/>
          <p:nvPr/>
        </p:nvSpPr>
        <p:spPr>
          <a:xfrm>
            <a:off x="598932" y="3648456"/>
            <a:ext cx="118872" cy="118872"/>
          </a:xfrm>
          <a:prstGeom prst="ellipse">
            <a:avLst/>
          </a:prstGeom>
          <a:solidFill>
            <a:srgbClr val="8096C4"/>
          </a:solidFill>
          <a:ln w="12700">
            <a:solidFill>
              <a:srgbClr val="8096C4"/>
            </a:solidFill>
            <a:prstDash val="solid"/>
          </a:ln>
        </p:spPr>
      </p:sp>
      <p:sp>
        <p:nvSpPr>
          <p:cNvPr id="48" name="Text 46"/>
          <p:cNvSpPr/>
          <p:nvPr/>
        </p:nvSpPr>
        <p:spPr>
          <a:xfrm>
            <a:off x="841248" y="3566160"/>
            <a:ext cx="4206240" cy="256032"/>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flagged  →  success / failed</a:t>
            </a:r>
            <a:endParaRPr lang="en-US" sz="1100" dirty="0"/>
          </a:p>
        </p:txBody>
      </p:sp>
      <p:sp>
        <p:nvSpPr>
          <p:cNvPr id="49" name="Shape 47"/>
          <p:cNvSpPr/>
          <p:nvPr/>
        </p:nvSpPr>
        <p:spPr>
          <a:xfrm>
            <a:off x="5577840" y="2331720"/>
            <a:ext cx="3200400" cy="1508760"/>
          </a:xfrm>
          <a:prstGeom prst="roundRect">
            <a:avLst>
              <a:gd name="adj" fmla="val 7273"/>
            </a:avLst>
          </a:prstGeom>
          <a:solidFill>
            <a:srgbClr val="253080"/>
          </a:solidFill>
          <a:ln w="12700">
            <a:solidFill>
              <a:srgbClr val="22C55E"/>
            </a:solidFill>
            <a:prstDash val="solid"/>
          </a:ln>
          <a:effectLst>
            <a:outerShdw sx="100000" sy="100000" kx="0" ky="0" algn="bl" rotWithShape="0" blurRad="101600" dist="38100" dir="2700000">
              <a:srgbClr val="000000">
                <a:alpha val="30000"/>
              </a:srgbClr>
            </a:outerShdw>
          </a:effectLst>
        </p:spPr>
      </p:sp>
      <p:sp>
        <p:nvSpPr>
          <p:cNvPr id="50" name="Text 48"/>
          <p:cNvSpPr/>
          <p:nvPr/>
        </p:nvSpPr>
        <p:spPr>
          <a:xfrm>
            <a:off x="5760720" y="2404872"/>
            <a:ext cx="2743200" cy="274320"/>
          </a:xfrm>
          <a:prstGeom prst="rect">
            <a:avLst/>
          </a:prstGeom>
          <a:noFill/>
          <a:ln/>
        </p:spPr>
        <p:txBody>
          <a:bodyPr wrap="square" rtlCol="0" anchor="ctr"/>
          <a:lstStyle/>
          <a:p>
            <a:pPr indent="0" marL="0">
              <a:buNone/>
            </a:pPr>
            <a:r>
              <a:rPr lang="en-US" sz="1200" b="1" dirty="0">
                <a:solidFill>
                  <a:srgbClr val="22C55E"/>
                </a:solidFill>
                <a:latin typeface="Calibri" pitchFamily="34" charset="0"/>
                <a:ea typeface="Calibri" pitchFamily="34" charset="-122"/>
                <a:cs typeface="Calibri" pitchFamily="34" charset="-120"/>
              </a:rPr>
              <a:t>Invariant Verified</a:t>
            </a:r>
            <a:endParaRPr lang="en-US" sz="1200" dirty="0"/>
          </a:p>
        </p:txBody>
      </p:sp>
      <p:sp>
        <p:nvSpPr>
          <p:cNvPr id="51" name="Text 49"/>
          <p:cNvSpPr/>
          <p:nvPr/>
        </p:nvSpPr>
        <p:spPr>
          <a:xfrm>
            <a:off x="5760720" y="2724912"/>
            <a:ext cx="2743200" cy="6858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0 imbalanced ledger</a:t>
            </a:r>
            <a:endParaRPr lang="en-US" sz="1300" dirty="0"/>
          </a:p>
          <a:p>
            <a:pPr indent="0" marL="0">
              <a:buNone/>
            </a:pPr>
            <a:r>
              <a:rPr lang="en-US" sz="1300" b="1" dirty="0">
                <a:solidFill>
                  <a:srgbClr val="FFFFFF"/>
                </a:solidFill>
                <a:latin typeface="Calibri" pitchFamily="34" charset="0"/>
                <a:ea typeface="Calibri" pitchFamily="34" charset="-122"/>
                <a:cs typeface="Calibri" pitchFamily="34" charset="-120"/>
              </a:rPr>
              <a:t>transactions across</a:t>
            </a:r>
            <a:endParaRPr lang="en-US" sz="1300" dirty="0"/>
          </a:p>
          <a:p>
            <a:pPr indent="0" marL="0">
              <a:buNone/>
            </a:pPr>
            <a:r>
              <a:rPr lang="en-US" sz="1300" b="1" dirty="0">
                <a:solidFill>
                  <a:srgbClr val="FFFFFF"/>
                </a:solidFill>
                <a:latin typeface="Calibri" pitchFamily="34" charset="0"/>
                <a:ea typeface="Calibri" pitchFamily="34" charset="-122"/>
                <a:cs typeface="Calibri" pitchFamily="34" charset="-120"/>
              </a:rPr>
              <a:t>10,045 records</a:t>
            </a:r>
            <a:endParaRPr lang="en-US" sz="1300" dirty="0"/>
          </a:p>
        </p:txBody>
      </p:sp>
      <p:sp>
        <p:nvSpPr>
          <p:cNvPr id="52" name="Text 50"/>
          <p:cNvSpPr/>
          <p:nvPr/>
        </p:nvSpPr>
        <p:spPr>
          <a:xfrm>
            <a:off x="5760720" y="3456432"/>
            <a:ext cx="2743200" cy="274320"/>
          </a:xfrm>
          <a:prstGeom prst="rect">
            <a:avLst/>
          </a:prstGeom>
          <a:noFill/>
          <a:ln/>
        </p:spPr>
        <p:txBody>
          <a:bodyPr wrap="square" rtlCol="0" anchor="ctr"/>
          <a:lstStyle/>
          <a:p>
            <a:pPr indent="0" marL="0">
              <a:buNone/>
            </a:pPr>
            <a:r>
              <a:rPr lang="en-US" sz="1000" i="1" dirty="0">
                <a:solidFill>
                  <a:srgbClr val="8096C4"/>
                </a:solidFill>
                <a:latin typeface="Calibri" pitchFamily="34" charset="0"/>
                <a:ea typeface="Calibri" pitchFamily="34" charset="-122"/>
                <a:cs typeface="Calibri" pitchFamily="34" charset="-120"/>
              </a:rPr>
              <a:t>SQL verified post-seed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Fraud Score in &lt;1ms — Then Explain</a:t>
            </a:r>
            <a:endParaRPr lang="en-US" sz="3200" dirty="0"/>
          </a:p>
        </p:txBody>
      </p:sp>
      <p:sp>
        <p:nvSpPr>
          <p:cNvPr id="3" name="Shape 1"/>
          <p:cNvSpPr/>
          <p:nvPr/>
        </p:nvSpPr>
        <p:spPr>
          <a:xfrm>
            <a:off x="365760" y="1005840"/>
            <a:ext cx="3474720" cy="1463040"/>
          </a:xfrm>
          <a:prstGeom prst="roundRect">
            <a:avLst>
              <a:gd name="adj" fmla="val 7500"/>
            </a:avLst>
          </a:prstGeom>
          <a:solidFill>
            <a:srgbClr val="253080"/>
          </a:solidFill>
          <a:ln w="12700">
            <a:solidFill>
              <a:srgbClr val="38BDF8"/>
            </a:solidFill>
            <a:prstDash val="solid"/>
          </a:ln>
          <a:effectLst>
            <a:outerShdw sx="100000" sy="100000" kx="0" ky="0" algn="bl" rotWithShape="0" blurRad="101600" dist="38100" dir="2700000">
              <a:srgbClr val="000000">
                <a:alpha val="30000"/>
              </a:srgbClr>
            </a:outerShdw>
          </a:effectLst>
        </p:spPr>
      </p:sp>
      <p:sp>
        <p:nvSpPr>
          <p:cNvPr id="4" name="Text 2"/>
          <p:cNvSpPr/>
          <p:nvPr/>
        </p:nvSpPr>
        <p:spPr>
          <a:xfrm>
            <a:off x="594360" y="1078992"/>
            <a:ext cx="3017520" cy="310896"/>
          </a:xfrm>
          <a:prstGeom prst="rect">
            <a:avLst/>
          </a:prstGeom>
          <a:noFill/>
          <a:ln/>
        </p:spPr>
        <p:txBody>
          <a:bodyPr wrap="square" rtlCol="0" anchor="ctr"/>
          <a:lstStyle/>
          <a:p>
            <a:pPr indent="0" marL="0">
              <a:buNone/>
            </a:pPr>
            <a:r>
              <a:rPr lang="en-US" sz="1300" b="1" dirty="0">
                <a:solidFill>
                  <a:srgbClr val="38BDF8"/>
                </a:solidFill>
                <a:latin typeface="Calibri" pitchFamily="34" charset="0"/>
                <a:ea typeface="Calibri" pitchFamily="34" charset="-122"/>
                <a:cs typeface="Calibri" pitchFamily="34" charset="-120"/>
              </a:rPr>
              <a:t>Tier 1  ·  Rule Engine  (~1ms)</a:t>
            </a:r>
            <a:endParaRPr lang="en-US" sz="1300" dirty="0"/>
          </a:p>
        </p:txBody>
      </p:sp>
      <p:sp>
        <p:nvSpPr>
          <p:cNvPr id="5" name="Text 3"/>
          <p:cNvSpPr/>
          <p:nvPr/>
        </p:nvSpPr>
        <p:spPr>
          <a:xfrm>
            <a:off x="594360" y="1371600"/>
            <a:ext cx="3017520" cy="256032"/>
          </a:xfrm>
          <a:prstGeom prst="rect">
            <a:avLst/>
          </a:prstGeom>
          <a:noFill/>
          <a:ln/>
        </p:spPr>
        <p:txBody>
          <a:bodyPr wrap="square" rtlCol="0" anchor="ctr"/>
          <a:lstStyle/>
          <a:p>
            <a:pPr indent="0" marL="0">
              <a:buNone/>
            </a:pPr>
            <a:r>
              <a:rPr lang="en-US" sz="1100" i="1" dirty="0">
                <a:solidFill>
                  <a:srgbClr val="8096C4"/>
                </a:solidFill>
                <a:latin typeface="Calibri" pitchFamily="34" charset="0"/>
                <a:ea typeface="Calibri" pitchFamily="34" charset="-122"/>
                <a:cs typeface="Calibri" pitchFamily="34" charset="-120"/>
              </a:rPr>
              <a:t>ALWAYS runs — no external I/O</a:t>
            </a:r>
            <a:endParaRPr lang="en-US" sz="1100" dirty="0"/>
          </a:p>
        </p:txBody>
      </p:sp>
      <p:sp>
        <p:nvSpPr>
          <p:cNvPr id="6" name="Text 4"/>
          <p:cNvSpPr/>
          <p:nvPr/>
        </p:nvSpPr>
        <p:spPr>
          <a:xfrm>
            <a:off x="594360" y="1627632"/>
            <a:ext cx="3017520" cy="685800"/>
          </a:xfrm>
          <a:prstGeom prst="rect">
            <a:avLst/>
          </a:prstGeom>
          <a:noFill/>
          <a:ln/>
        </p:spPr>
        <p:txBody>
          <a:bodyPr wrap="square" rtlCol="0" anchor="ctr"/>
          <a:lstStyle/>
          <a:p>
            <a:pPr indent="0" marL="0">
              <a:buNone/>
            </a:pPr>
            <a:r>
              <a:rPr lang="en-US" sz="1150" dirty="0">
                <a:solidFill>
                  <a:srgbClr val="E8EDF8"/>
                </a:solidFill>
                <a:latin typeface="Calibri" pitchFamily="34" charset="0"/>
                <a:ea typeface="Calibri" pitchFamily="34" charset="-122"/>
                <a:cs typeface="Calibri" pitchFamily="34" charset="-120"/>
              </a:rPr>
              <a:t>15 pure functions  ·  6 categories</a:t>
            </a:r>
            <a:endParaRPr lang="en-US" sz="1150" dirty="0"/>
          </a:p>
          <a:p>
            <a:pPr indent="0" marL="0">
              <a:buNone/>
            </a:pPr>
            <a:r>
              <a:rPr lang="en-US" sz="1150" dirty="0">
                <a:solidFill>
                  <a:srgbClr val="E8EDF8"/>
                </a:solidFill>
                <a:latin typeface="Calibri" pitchFamily="34" charset="0"/>
                <a:ea typeface="Calibri" pitchFamily="34" charset="-122"/>
                <a:cs typeface="Calibri" pitchFamily="34" charset="-120"/>
              </a:rPr>
              <a:t>score = min(Σ weights, 100)</a:t>
            </a:r>
            <a:endParaRPr lang="en-US" sz="1150" dirty="0"/>
          </a:p>
          <a:p>
            <a:pPr indent="0" marL="0">
              <a:buNone/>
            </a:pPr>
            <a:r>
              <a:rPr lang="en-US" sz="1150" dirty="0">
                <a:solidFill>
                  <a:srgbClr val="E8EDF8"/>
                </a:solidFill>
                <a:latin typeface="Calibri" pitchFamily="34" charset="0"/>
                <a:ea typeface="Calibri" pitchFamily="34" charset="-122"/>
                <a:cs typeface="Calibri" pitchFamily="34" charset="-120"/>
              </a:rPr>
              <a:t>decision = allow / review / reject</a:t>
            </a:r>
            <a:endParaRPr lang="en-US" sz="1150" dirty="0"/>
          </a:p>
        </p:txBody>
      </p:sp>
      <p:sp>
        <p:nvSpPr>
          <p:cNvPr id="7" name="Shape 5"/>
          <p:cNvSpPr/>
          <p:nvPr/>
        </p:nvSpPr>
        <p:spPr>
          <a:xfrm>
            <a:off x="2103120" y="2487168"/>
            <a:ext cx="0" cy="274320"/>
          </a:xfrm>
          <a:prstGeom prst="line">
            <a:avLst/>
          </a:prstGeom>
          <a:noFill/>
          <a:ln w="19050">
            <a:solidFill>
              <a:srgbClr val="8BAEE8"/>
            </a:solidFill>
            <a:prstDash val="solid"/>
            <a:tailEnd type="open"/>
          </a:ln>
        </p:spPr>
      </p:sp>
      <p:sp>
        <p:nvSpPr>
          <p:cNvPr id="8" name="Shape 6"/>
          <p:cNvSpPr/>
          <p:nvPr/>
        </p:nvSpPr>
        <p:spPr>
          <a:xfrm>
            <a:off x="365760" y="2788920"/>
            <a:ext cx="3474720" cy="1417320"/>
          </a:xfrm>
          <a:prstGeom prst="roundRect">
            <a:avLst>
              <a:gd name="adj" fmla="val 7742"/>
            </a:avLst>
          </a:prstGeom>
          <a:solidFill>
            <a:srgbClr val="253080"/>
          </a:solidFill>
          <a:ln w="12700">
            <a:solidFill>
              <a:srgbClr val="F59E0B"/>
            </a:solidFill>
            <a:prstDash val="solid"/>
          </a:ln>
          <a:effectLst>
            <a:outerShdw sx="100000" sy="100000" kx="0" ky="0" algn="bl" rotWithShape="0" blurRad="101600" dist="38100" dir="2700000">
              <a:srgbClr val="000000">
                <a:alpha val="30000"/>
              </a:srgbClr>
            </a:outerShdw>
          </a:effectLst>
        </p:spPr>
      </p:sp>
      <p:sp>
        <p:nvSpPr>
          <p:cNvPr id="9" name="Text 7"/>
          <p:cNvSpPr/>
          <p:nvPr/>
        </p:nvSpPr>
        <p:spPr>
          <a:xfrm>
            <a:off x="594360" y="2862072"/>
            <a:ext cx="3017520" cy="310896"/>
          </a:xfrm>
          <a:prstGeom prst="rect">
            <a:avLst/>
          </a:prstGeom>
          <a:noFill/>
          <a:ln/>
        </p:spPr>
        <p:txBody>
          <a:bodyPr wrap="square" rtlCol="0" anchor="ctr"/>
          <a:lstStyle/>
          <a:p>
            <a:pPr indent="0" marL="0">
              <a:buNone/>
            </a:pPr>
            <a:r>
              <a:rPr lang="en-US" sz="1250" b="1" dirty="0">
                <a:solidFill>
                  <a:srgbClr val="F59E0B"/>
                </a:solidFill>
                <a:latin typeface="Calibri" pitchFamily="34" charset="0"/>
                <a:ea typeface="Calibri" pitchFamily="34" charset="-122"/>
                <a:cs typeface="Calibri" pitchFamily="34" charset="-120"/>
              </a:rPr>
              <a:t>Tier 2  ·  LLM Explanation  (best-effort)</a:t>
            </a:r>
            <a:endParaRPr lang="en-US" sz="1250" dirty="0"/>
          </a:p>
        </p:txBody>
      </p:sp>
      <p:sp>
        <p:nvSpPr>
          <p:cNvPr id="10" name="Text 8"/>
          <p:cNvSpPr/>
          <p:nvPr/>
        </p:nvSpPr>
        <p:spPr>
          <a:xfrm>
            <a:off x="594360" y="3200400"/>
            <a:ext cx="3017520" cy="868680"/>
          </a:xfrm>
          <a:prstGeom prst="rect">
            <a:avLst/>
          </a:prstGeom>
          <a:noFill/>
          <a:ln/>
        </p:spPr>
        <p:txBody>
          <a:bodyPr wrap="square" rtlCol="0" anchor="ctr"/>
          <a:lstStyle/>
          <a:p>
            <a:pPr indent="0" marL="0">
              <a:buNone/>
            </a:pPr>
            <a:r>
              <a:rPr lang="en-US" sz="1150" dirty="0">
                <a:solidFill>
                  <a:srgbClr val="E8EDF8"/>
                </a:solidFill>
                <a:latin typeface="Calibri" pitchFamily="34" charset="0"/>
                <a:ea typeface="Calibri" pitchFamily="34" charset="-122"/>
                <a:cs typeface="Calibri" pitchFamily="34" charset="-120"/>
              </a:rPr>
              <a:t>Azure OpenAI  ·  temperature=0.2</a:t>
            </a:r>
            <a:endParaRPr lang="en-US" sz="1150" dirty="0"/>
          </a:p>
          <a:p>
            <a:pPr indent="0" marL="0">
              <a:buNone/>
            </a:pPr>
            <a:r>
              <a:rPr lang="en-US" sz="1150" dirty="0">
                <a:solidFill>
                  <a:srgbClr val="E8EDF8"/>
                </a:solidFill>
                <a:latin typeface="Calibri" pitchFamily="34" charset="0"/>
                <a:ea typeface="Calibri" pitchFamily="34" charset="-122"/>
                <a:cs typeface="Calibri" pitchFamily="34" charset="-120"/>
              </a:rPr>
              <a:t>3s timeout  ·  template fallback</a:t>
            </a:r>
            <a:endParaRPr lang="en-US" sz="1150" dirty="0"/>
          </a:p>
          <a:p>
            <a:pPr indent="0" marL="0">
              <a:buNone/>
            </a:pPr>
            <a:r>
              <a:rPr lang="en-US" sz="1150" dirty="0">
                <a:solidFill>
                  <a:srgbClr val="E8EDF8"/>
                </a:solidFill>
                <a:latin typeface="Calibri" pitchFamily="34" charset="0"/>
                <a:ea typeface="Calibri" pitchFamily="34" charset="-122"/>
                <a:cs typeface="Calibri" pitchFamily="34" charset="-120"/>
              </a:rPr>
              <a:t>llm_used: bool in every response</a:t>
            </a:r>
            <a:endParaRPr lang="en-US" sz="1150" dirty="0"/>
          </a:p>
        </p:txBody>
      </p:sp>
      <p:sp>
        <p:nvSpPr>
          <p:cNvPr id="11" name="Shape 9"/>
          <p:cNvSpPr/>
          <p:nvPr/>
        </p:nvSpPr>
        <p:spPr>
          <a:xfrm>
            <a:off x="4069080" y="1005840"/>
            <a:ext cx="4709160" cy="2267712"/>
          </a:xfrm>
          <a:prstGeom prst="roundRect">
            <a:avLst>
              <a:gd name="adj" fmla="val 4839"/>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12" name="Text 10"/>
          <p:cNvSpPr/>
          <p:nvPr/>
        </p:nvSpPr>
        <p:spPr>
          <a:xfrm>
            <a:off x="4251960" y="1078992"/>
            <a:ext cx="4297680" cy="301752"/>
          </a:xfrm>
          <a:prstGeom prst="rect">
            <a:avLst/>
          </a:prstGeom>
          <a:noFill/>
          <a:ln/>
        </p:spPr>
        <p:txBody>
          <a:bodyPr wrap="square"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Rule Categories</a:t>
            </a:r>
            <a:endParaRPr lang="en-US" sz="1300" dirty="0"/>
          </a:p>
        </p:txBody>
      </p:sp>
      <p:sp>
        <p:nvSpPr>
          <p:cNvPr id="13" name="Shape 11"/>
          <p:cNvSpPr/>
          <p:nvPr/>
        </p:nvSpPr>
        <p:spPr>
          <a:xfrm>
            <a:off x="4256532" y="1508760"/>
            <a:ext cx="118872" cy="118872"/>
          </a:xfrm>
          <a:prstGeom prst="ellipse">
            <a:avLst/>
          </a:prstGeom>
          <a:solidFill>
            <a:srgbClr val="38BDF8"/>
          </a:solidFill>
          <a:ln w="12700">
            <a:solidFill>
              <a:srgbClr val="38BDF8"/>
            </a:solidFill>
            <a:prstDash val="solid"/>
          </a:ln>
        </p:spPr>
      </p:sp>
      <p:sp>
        <p:nvSpPr>
          <p:cNvPr id="14" name="Text 12"/>
          <p:cNvSpPr/>
          <p:nvPr/>
        </p:nvSpPr>
        <p:spPr>
          <a:xfrm>
            <a:off x="4498848" y="1417320"/>
            <a:ext cx="4069080" cy="274320"/>
          </a:xfrm>
          <a:prstGeom prst="rect">
            <a:avLst/>
          </a:prstGeom>
          <a:noFill/>
          <a:ln/>
        </p:spPr>
        <p:txBody>
          <a:bodyPr wrap="square" rtlCol="0" anchor="ctr"/>
          <a:lstStyle/>
          <a:p>
            <a:pPr indent="0" marL="0">
              <a:buNone/>
            </a:pPr>
            <a:r>
              <a:rPr lang="en-US" sz="1100" dirty="0">
                <a:solidFill>
                  <a:srgbClr val="E8EDF8"/>
                </a:solidFill>
                <a:latin typeface="Calibri" pitchFamily="34" charset="0"/>
                <a:ea typeface="Calibri" pitchFamily="34" charset="-122"/>
                <a:cs typeface="Calibri" pitchFamily="34" charset="-120"/>
              </a:rPr>
              <a:t>Amount  —  large INR/USD, round-number patterns</a:t>
            </a:r>
            <a:endParaRPr lang="en-US" sz="1100" dirty="0"/>
          </a:p>
        </p:txBody>
      </p:sp>
      <p:sp>
        <p:nvSpPr>
          <p:cNvPr id="15" name="Shape 13"/>
          <p:cNvSpPr/>
          <p:nvPr/>
        </p:nvSpPr>
        <p:spPr>
          <a:xfrm>
            <a:off x="4256532" y="1810512"/>
            <a:ext cx="118872" cy="118872"/>
          </a:xfrm>
          <a:prstGeom prst="ellipse">
            <a:avLst/>
          </a:prstGeom>
          <a:solidFill>
            <a:srgbClr val="F59E0B"/>
          </a:solidFill>
          <a:ln w="12700">
            <a:solidFill>
              <a:srgbClr val="F59E0B"/>
            </a:solidFill>
            <a:prstDash val="solid"/>
          </a:ln>
        </p:spPr>
      </p:sp>
      <p:sp>
        <p:nvSpPr>
          <p:cNvPr id="16" name="Text 14"/>
          <p:cNvSpPr/>
          <p:nvPr/>
        </p:nvSpPr>
        <p:spPr>
          <a:xfrm>
            <a:off x="4498848" y="1719072"/>
            <a:ext cx="4069080" cy="274320"/>
          </a:xfrm>
          <a:prstGeom prst="rect">
            <a:avLst/>
          </a:prstGeom>
          <a:noFill/>
          <a:ln/>
        </p:spPr>
        <p:txBody>
          <a:bodyPr wrap="square" rtlCol="0" anchor="ctr"/>
          <a:lstStyle/>
          <a:p>
            <a:pPr indent="0" marL="0">
              <a:buNone/>
            </a:pPr>
            <a:r>
              <a:rPr lang="en-US" sz="1100" dirty="0">
                <a:solidFill>
                  <a:srgbClr val="E8EDF8"/>
                </a:solidFill>
                <a:latin typeface="Calibri" pitchFamily="34" charset="0"/>
                <a:ea typeface="Calibri" pitchFamily="34" charset="-122"/>
                <a:cs typeface="Calibri" pitchFamily="34" charset="-120"/>
              </a:rPr>
              <a:t>Velocity  —  prior failures, high frequency, new account</a:t>
            </a:r>
            <a:endParaRPr lang="en-US" sz="1100" dirty="0"/>
          </a:p>
        </p:txBody>
      </p:sp>
      <p:sp>
        <p:nvSpPr>
          <p:cNvPr id="17" name="Shape 15"/>
          <p:cNvSpPr/>
          <p:nvPr/>
        </p:nvSpPr>
        <p:spPr>
          <a:xfrm>
            <a:off x="4256532" y="2112264"/>
            <a:ext cx="118872" cy="118872"/>
          </a:xfrm>
          <a:prstGeom prst="ellipse">
            <a:avLst/>
          </a:prstGeom>
          <a:solidFill>
            <a:srgbClr val="A78BFA"/>
          </a:solidFill>
          <a:ln w="12700">
            <a:solidFill>
              <a:srgbClr val="A78BFA"/>
            </a:solidFill>
            <a:prstDash val="solid"/>
          </a:ln>
        </p:spPr>
      </p:sp>
      <p:sp>
        <p:nvSpPr>
          <p:cNvPr id="18" name="Text 16"/>
          <p:cNvSpPr/>
          <p:nvPr/>
        </p:nvSpPr>
        <p:spPr>
          <a:xfrm>
            <a:off x="4498848" y="2020824"/>
            <a:ext cx="4069080" cy="274320"/>
          </a:xfrm>
          <a:prstGeom prst="rect">
            <a:avLst/>
          </a:prstGeom>
          <a:noFill/>
          <a:ln/>
        </p:spPr>
        <p:txBody>
          <a:bodyPr wrap="square" rtlCol="0" anchor="ctr"/>
          <a:lstStyle/>
          <a:p>
            <a:pPr indent="0" marL="0">
              <a:buNone/>
            </a:pPr>
            <a:r>
              <a:rPr lang="en-US" sz="1100" dirty="0">
                <a:solidFill>
                  <a:srgbClr val="E8EDF8"/>
                </a:solidFill>
                <a:latin typeface="Calibri" pitchFamily="34" charset="0"/>
                <a:ea typeface="Calibri" pitchFamily="34" charset="-122"/>
                <a:cs typeface="Calibri" pitchFamily="34" charset="-120"/>
              </a:rPr>
              <a:t>Geo  —  FATF high-risk countries, cross-border</a:t>
            </a:r>
            <a:endParaRPr lang="en-US" sz="1100" dirty="0"/>
          </a:p>
        </p:txBody>
      </p:sp>
      <p:sp>
        <p:nvSpPr>
          <p:cNvPr id="19" name="Shape 17"/>
          <p:cNvSpPr/>
          <p:nvPr/>
        </p:nvSpPr>
        <p:spPr>
          <a:xfrm>
            <a:off x="4256532" y="2414016"/>
            <a:ext cx="118872" cy="118872"/>
          </a:xfrm>
          <a:prstGeom prst="ellipse">
            <a:avLst/>
          </a:prstGeom>
          <a:solidFill>
            <a:srgbClr val="FB923C"/>
          </a:solidFill>
          <a:ln w="12700">
            <a:solidFill>
              <a:srgbClr val="FB923C"/>
            </a:solidFill>
            <a:prstDash val="solid"/>
          </a:ln>
        </p:spPr>
      </p:sp>
      <p:sp>
        <p:nvSpPr>
          <p:cNvPr id="20" name="Text 18"/>
          <p:cNvSpPr/>
          <p:nvPr/>
        </p:nvSpPr>
        <p:spPr>
          <a:xfrm>
            <a:off x="4498848" y="2322576"/>
            <a:ext cx="4069080" cy="274320"/>
          </a:xfrm>
          <a:prstGeom prst="rect">
            <a:avLst/>
          </a:prstGeom>
          <a:noFill/>
          <a:ln/>
        </p:spPr>
        <p:txBody>
          <a:bodyPr wrap="square" rtlCol="0" anchor="ctr"/>
          <a:lstStyle/>
          <a:p>
            <a:pPr indent="0" marL="0">
              <a:buNone/>
            </a:pPr>
            <a:r>
              <a:rPr lang="en-US" sz="1100" dirty="0">
                <a:solidFill>
                  <a:srgbClr val="E8EDF8"/>
                </a:solidFill>
                <a:latin typeface="Calibri" pitchFamily="34" charset="0"/>
                <a:ea typeface="Calibri" pitchFamily="34" charset="-122"/>
                <a:cs typeface="Calibri" pitchFamily="34" charset="-120"/>
              </a:rPr>
              <a:t>Method  —  large bank transfer, foreign card</a:t>
            </a:r>
            <a:endParaRPr lang="en-US" sz="1100" dirty="0"/>
          </a:p>
        </p:txBody>
      </p:sp>
      <p:sp>
        <p:nvSpPr>
          <p:cNvPr id="21" name="Shape 19"/>
          <p:cNvSpPr/>
          <p:nvPr/>
        </p:nvSpPr>
        <p:spPr>
          <a:xfrm>
            <a:off x="4256532" y="2715768"/>
            <a:ext cx="118872" cy="118872"/>
          </a:xfrm>
          <a:prstGeom prst="ellipse">
            <a:avLst/>
          </a:prstGeom>
          <a:solidFill>
            <a:srgbClr val="EF4444"/>
          </a:solidFill>
          <a:ln w="12700">
            <a:solidFill>
              <a:srgbClr val="EF4444"/>
            </a:solidFill>
            <a:prstDash val="solid"/>
          </a:ln>
        </p:spPr>
      </p:sp>
      <p:sp>
        <p:nvSpPr>
          <p:cNvPr id="22" name="Text 20"/>
          <p:cNvSpPr/>
          <p:nvPr/>
        </p:nvSpPr>
        <p:spPr>
          <a:xfrm>
            <a:off x="4498848" y="2624328"/>
            <a:ext cx="4069080" cy="274320"/>
          </a:xfrm>
          <a:prstGeom prst="rect">
            <a:avLst/>
          </a:prstGeom>
          <a:noFill/>
          <a:ln/>
        </p:spPr>
        <p:txBody>
          <a:bodyPr wrap="square" rtlCol="0" anchor="ctr"/>
          <a:lstStyle/>
          <a:p>
            <a:pPr indent="0" marL="0">
              <a:buNone/>
            </a:pPr>
            <a:r>
              <a:rPr lang="en-US" sz="1100" dirty="0">
                <a:solidFill>
                  <a:srgbClr val="E8EDF8"/>
                </a:solidFill>
                <a:latin typeface="Calibri" pitchFamily="34" charset="0"/>
                <a:ea typeface="Calibri" pitchFamily="34" charset="-122"/>
                <a:cs typeface="Calibri" pitchFamily="34" charset="-120"/>
              </a:rPr>
              <a:t>Merchant  —  gambling/crypto categories, new merchant</a:t>
            </a:r>
            <a:endParaRPr lang="en-US" sz="1100" dirty="0"/>
          </a:p>
        </p:txBody>
      </p:sp>
      <p:sp>
        <p:nvSpPr>
          <p:cNvPr id="23" name="Shape 21"/>
          <p:cNvSpPr/>
          <p:nvPr/>
        </p:nvSpPr>
        <p:spPr>
          <a:xfrm>
            <a:off x="4256532" y="3017520"/>
            <a:ext cx="118872" cy="118872"/>
          </a:xfrm>
          <a:prstGeom prst="ellipse">
            <a:avLst/>
          </a:prstGeom>
          <a:solidFill>
            <a:srgbClr val="22C55E"/>
          </a:solidFill>
          <a:ln w="12700">
            <a:solidFill>
              <a:srgbClr val="22C55E"/>
            </a:solidFill>
            <a:prstDash val="solid"/>
          </a:ln>
        </p:spPr>
      </p:sp>
      <p:sp>
        <p:nvSpPr>
          <p:cNvPr id="24" name="Text 22"/>
          <p:cNvSpPr/>
          <p:nvPr/>
        </p:nvSpPr>
        <p:spPr>
          <a:xfrm>
            <a:off x="4498848" y="2926080"/>
            <a:ext cx="4069080" cy="274320"/>
          </a:xfrm>
          <a:prstGeom prst="rect">
            <a:avLst/>
          </a:prstGeom>
          <a:noFill/>
          <a:ln/>
        </p:spPr>
        <p:txBody>
          <a:bodyPr wrap="square" rtlCol="0" anchor="ctr"/>
          <a:lstStyle/>
          <a:p>
            <a:pPr indent="0" marL="0">
              <a:buNone/>
            </a:pPr>
            <a:r>
              <a:rPr lang="en-US" sz="1100" dirty="0">
                <a:solidFill>
                  <a:srgbClr val="E8EDF8"/>
                </a:solidFill>
                <a:latin typeface="Calibri" pitchFamily="34" charset="0"/>
                <a:ea typeface="Calibri" pitchFamily="34" charset="-122"/>
                <a:cs typeface="Calibri" pitchFamily="34" charset="-120"/>
              </a:rPr>
              <a:t>Behaviour  —  odd hour, new device, sparse metadata</a:t>
            </a:r>
            <a:endParaRPr lang="en-US" sz="1100" dirty="0"/>
          </a:p>
        </p:txBody>
      </p:sp>
      <p:sp>
        <p:nvSpPr>
          <p:cNvPr id="25" name="Shape 23"/>
          <p:cNvSpPr/>
          <p:nvPr/>
        </p:nvSpPr>
        <p:spPr>
          <a:xfrm>
            <a:off x="4069080" y="3364992"/>
            <a:ext cx="4709160" cy="868680"/>
          </a:xfrm>
          <a:prstGeom prst="roundRect">
            <a:avLst>
              <a:gd name="adj" fmla="val 12632"/>
            </a:avLst>
          </a:prstGeom>
          <a:solidFill>
            <a:srgbClr val="253080"/>
          </a:solidFill>
          <a:ln w="12700">
            <a:solidFill>
              <a:srgbClr val="EF4444"/>
            </a:solidFill>
            <a:prstDash val="solid"/>
          </a:ln>
          <a:effectLst>
            <a:outerShdw sx="100000" sy="100000" kx="0" ky="0" algn="bl" rotWithShape="0" blurRad="101600" dist="38100" dir="2700000">
              <a:srgbClr val="000000">
                <a:alpha val="30000"/>
              </a:srgbClr>
            </a:outerShdw>
          </a:effectLst>
        </p:spPr>
      </p:sp>
      <p:sp>
        <p:nvSpPr>
          <p:cNvPr id="26" name="Text 24"/>
          <p:cNvSpPr/>
          <p:nvPr/>
        </p:nvSpPr>
        <p:spPr>
          <a:xfrm>
            <a:off x="4251960" y="3438144"/>
            <a:ext cx="4389120" cy="749808"/>
          </a:xfrm>
          <a:prstGeom prst="rect">
            <a:avLst/>
          </a:prstGeom>
          <a:noFill/>
          <a:ln/>
        </p:spPr>
        <p:txBody>
          <a:bodyPr wrap="square" rtlCol="0" anchor="ctr"/>
          <a:lstStyle/>
          <a:p>
            <a:pPr indent="0" marL="0">
              <a:buNone/>
            </a:pPr>
            <a:r>
              <a:rPr lang="en-US" sz="1100" dirty="0">
                <a:solidFill>
                  <a:srgbClr val="E8EDF8"/>
                </a:solidFill>
                <a:latin typeface="Calibri" pitchFamily="34" charset="0"/>
                <a:ea typeface="Calibri" pitchFamily="34" charset="-122"/>
                <a:cs typeface="Calibri" pitchFamily="34" charset="-120"/>
              </a:rPr>
              <a:t>Score 100 REJECT  —  ₹500,000 bank transfer → m_gambling_xyz → KP receiver → new device → 03:00 → 2-day-old account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48 Chunks · 1,536 Dimensions · &lt;200ms</a:t>
            </a:r>
            <a:endParaRPr lang="en-US" sz="3200" dirty="0"/>
          </a:p>
        </p:txBody>
      </p:sp>
      <p:sp>
        <p:nvSpPr>
          <p:cNvPr id="3" name="Shape 1"/>
          <p:cNvSpPr/>
          <p:nvPr/>
        </p:nvSpPr>
        <p:spPr>
          <a:xfrm>
            <a:off x="365760" y="1005840"/>
            <a:ext cx="4114800" cy="3749040"/>
          </a:xfrm>
          <a:prstGeom prst="roundRect">
            <a:avLst>
              <a:gd name="adj" fmla="val 2927"/>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4" name="Text 2"/>
          <p:cNvSpPr/>
          <p:nvPr/>
        </p:nvSpPr>
        <p:spPr>
          <a:xfrm>
            <a:off x="594360" y="1078992"/>
            <a:ext cx="3566160" cy="301752"/>
          </a:xfrm>
          <a:prstGeom prst="rect">
            <a:avLst/>
          </a:prstGeom>
          <a:noFill/>
          <a:ln/>
        </p:spPr>
        <p:txBody>
          <a:bodyPr wrap="square"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Retrieval Pipeline</a:t>
            </a:r>
            <a:endParaRPr lang="en-US" sz="1300" dirty="0"/>
          </a:p>
        </p:txBody>
      </p:sp>
      <p:sp>
        <p:nvSpPr>
          <p:cNvPr id="5" name="Text 3"/>
          <p:cNvSpPr/>
          <p:nvPr/>
        </p:nvSpPr>
        <p:spPr>
          <a:xfrm>
            <a:off x="594360" y="1490472"/>
            <a:ext cx="3657600" cy="347472"/>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Query string</a:t>
            </a:r>
            <a:endParaRPr lang="en-US" sz="1150" dirty="0"/>
          </a:p>
        </p:txBody>
      </p:sp>
      <p:sp>
        <p:nvSpPr>
          <p:cNvPr id="6" name="Shape 4"/>
          <p:cNvSpPr/>
          <p:nvPr/>
        </p:nvSpPr>
        <p:spPr>
          <a:xfrm>
            <a:off x="2395728" y="1837944"/>
            <a:ext cx="0" cy="91440"/>
          </a:xfrm>
          <a:prstGeom prst="line">
            <a:avLst/>
          </a:prstGeom>
          <a:noFill/>
          <a:ln w="12700">
            <a:solidFill>
              <a:srgbClr val="8BAEE8"/>
            </a:solidFill>
            <a:prstDash val="solid"/>
          </a:ln>
        </p:spPr>
      </p:sp>
      <p:sp>
        <p:nvSpPr>
          <p:cNvPr id="7" name="Text 5"/>
          <p:cNvSpPr/>
          <p:nvPr/>
        </p:nvSpPr>
        <p:spPr>
          <a:xfrm>
            <a:off x="594360" y="1929384"/>
            <a:ext cx="3657600" cy="347472"/>
          </a:xfrm>
          <a:prstGeom prst="rect">
            <a:avLst/>
          </a:prstGeom>
          <a:noFill/>
          <a:ln/>
        </p:spPr>
        <p:txBody>
          <a:bodyPr wrap="square" lIns="50800" tIns="50800" rIns="50800" bIns="50800" rtlCol="0" anchor="t"/>
          <a:lstStyle/>
          <a:p>
            <a:pPr algn="l" indent="0" marL="0">
              <a:buNone/>
            </a:pPr>
            <a:r>
              <a:rPr lang="en-US" sz="1150" dirty="0">
                <a:solidFill>
                  <a:srgbClr val="38BDF8"/>
                </a:solidFill>
                <a:latin typeface="Calibri" pitchFamily="34" charset="0"/>
                <a:ea typeface="Calibri" pitchFamily="34" charset="-122"/>
                <a:cs typeface="Calibri" pitchFamily="34" charset="-120"/>
              </a:rPr>
              <a:t>embed(text-embedding-3-small)</a:t>
            </a:r>
            <a:endParaRPr lang="en-US" sz="1150" dirty="0"/>
          </a:p>
        </p:txBody>
      </p:sp>
      <p:sp>
        <p:nvSpPr>
          <p:cNvPr id="8" name="Shape 6"/>
          <p:cNvSpPr/>
          <p:nvPr/>
        </p:nvSpPr>
        <p:spPr>
          <a:xfrm>
            <a:off x="2395728" y="2276856"/>
            <a:ext cx="0" cy="91440"/>
          </a:xfrm>
          <a:prstGeom prst="line">
            <a:avLst/>
          </a:prstGeom>
          <a:noFill/>
          <a:ln w="12700">
            <a:solidFill>
              <a:srgbClr val="8BAEE8"/>
            </a:solidFill>
            <a:prstDash val="solid"/>
          </a:ln>
        </p:spPr>
      </p:sp>
      <p:sp>
        <p:nvSpPr>
          <p:cNvPr id="9" name="Text 7"/>
          <p:cNvSpPr/>
          <p:nvPr/>
        </p:nvSpPr>
        <p:spPr>
          <a:xfrm>
            <a:off x="594360" y="2368296"/>
            <a:ext cx="3657600" cy="347472"/>
          </a:xfrm>
          <a:prstGeom prst="rect">
            <a:avLst/>
          </a:prstGeom>
          <a:noFill/>
          <a:ln/>
        </p:spPr>
        <p:txBody>
          <a:bodyPr wrap="square" lIns="50800" tIns="50800" rIns="50800" bIns="50800" rtlCol="0" anchor="t"/>
          <a:lstStyle/>
          <a:p>
            <a:pPr algn="l" indent="0" marL="0">
              <a:buNone/>
            </a:pPr>
            <a:r>
              <a:rPr lang="en-US" sz="1150" dirty="0">
                <a:solidFill>
                  <a:srgbClr val="8096C4"/>
                </a:solidFill>
                <a:latin typeface="Calibri" pitchFamily="34" charset="0"/>
                <a:ea typeface="Calibri" pitchFamily="34" charset="-122"/>
                <a:cs typeface="Calibri" pitchFamily="34" charset="-120"/>
              </a:rPr>
              <a:t>1,536-dim unit-normalised vector</a:t>
            </a:r>
            <a:endParaRPr lang="en-US" sz="1150" dirty="0"/>
          </a:p>
        </p:txBody>
      </p:sp>
      <p:sp>
        <p:nvSpPr>
          <p:cNvPr id="10" name="Shape 8"/>
          <p:cNvSpPr/>
          <p:nvPr/>
        </p:nvSpPr>
        <p:spPr>
          <a:xfrm>
            <a:off x="2395728" y="2715768"/>
            <a:ext cx="0" cy="91440"/>
          </a:xfrm>
          <a:prstGeom prst="line">
            <a:avLst/>
          </a:prstGeom>
          <a:noFill/>
          <a:ln w="12700">
            <a:solidFill>
              <a:srgbClr val="8BAEE8"/>
            </a:solidFill>
            <a:prstDash val="solid"/>
          </a:ln>
        </p:spPr>
      </p:sp>
      <p:sp>
        <p:nvSpPr>
          <p:cNvPr id="11" name="Text 9"/>
          <p:cNvSpPr/>
          <p:nvPr/>
        </p:nvSpPr>
        <p:spPr>
          <a:xfrm>
            <a:off x="594360" y="2807208"/>
            <a:ext cx="3657600" cy="347472"/>
          </a:xfrm>
          <a:prstGeom prst="rect">
            <a:avLst/>
          </a:prstGeom>
          <a:noFill/>
          <a:ln/>
        </p:spPr>
        <p:txBody>
          <a:bodyPr wrap="square" lIns="50800" tIns="50800" rIns="50800" bIns="50800" rtlCol="0" anchor="t"/>
          <a:lstStyle/>
          <a:p>
            <a:pPr algn="l" indent="0" marL="0">
              <a:buNone/>
            </a:pPr>
            <a:r>
              <a:rPr lang="en-US" sz="1150" dirty="0">
                <a:solidFill>
                  <a:srgbClr val="CADCFC"/>
                </a:solidFill>
                <a:latin typeface="Calibri" pitchFamily="34" charset="0"/>
                <a:ea typeface="Calibri" pitchFamily="34" charset="-122"/>
                <a:cs typeface="Calibri" pitchFamily="34" charset="-120"/>
              </a:rPr>
              <a:t>pgvector HNSW · 1-(A&lt;=&gt;B) · [0,1]</a:t>
            </a:r>
            <a:endParaRPr lang="en-US" sz="1150" dirty="0"/>
          </a:p>
        </p:txBody>
      </p:sp>
      <p:sp>
        <p:nvSpPr>
          <p:cNvPr id="12" name="Shape 10"/>
          <p:cNvSpPr/>
          <p:nvPr/>
        </p:nvSpPr>
        <p:spPr>
          <a:xfrm>
            <a:off x="2395728" y="3154680"/>
            <a:ext cx="0" cy="91440"/>
          </a:xfrm>
          <a:prstGeom prst="line">
            <a:avLst/>
          </a:prstGeom>
          <a:noFill/>
          <a:ln w="12700">
            <a:solidFill>
              <a:srgbClr val="8BAEE8"/>
            </a:solidFill>
            <a:prstDash val="solid"/>
          </a:ln>
        </p:spPr>
      </p:sp>
      <p:sp>
        <p:nvSpPr>
          <p:cNvPr id="13" name="Text 11"/>
          <p:cNvSpPr/>
          <p:nvPr/>
        </p:nvSpPr>
        <p:spPr>
          <a:xfrm>
            <a:off x="594360" y="3246120"/>
            <a:ext cx="3657600" cy="347472"/>
          </a:xfrm>
          <a:prstGeom prst="rect">
            <a:avLst/>
          </a:prstGeom>
          <a:noFill/>
          <a:ln/>
        </p:spPr>
        <p:txBody>
          <a:bodyPr wrap="square" lIns="50800" tIns="50800" rIns="50800" bIns="50800" rtlCol="0" anchor="t"/>
          <a:lstStyle/>
          <a:p>
            <a:pPr algn="l" indent="0" marL="0">
              <a:buNone/>
            </a:pPr>
            <a:r>
              <a:rPr lang="en-US" sz="1150" dirty="0">
                <a:solidFill>
                  <a:srgbClr val="F59E0B"/>
                </a:solidFill>
                <a:latin typeface="Calibri" pitchFamily="34" charset="0"/>
                <a:ea typeface="Calibri" pitchFamily="34" charset="-122"/>
                <a:cs typeface="Calibri" pitchFamily="34" charset="-120"/>
              </a:rPr>
              <a:t>OR  Dice-coefficient keyword  &lt;5ms</a:t>
            </a:r>
            <a:endParaRPr lang="en-US" sz="1150" dirty="0"/>
          </a:p>
        </p:txBody>
      </p:sp>
      <p:sp>
        <p:nvSpPr>
          <p:cNvPr id="14" name="Shape 12"/>
          <p:cNvSpPr/>
          <p:nvPr/>
        </p:nvSpPr>
        <p:spPr>
          <a:xfrm>
            <a:off x="2395728" y="3593592"/>
            <a:ext cx="0" cy="91440"/>
          </a:xfrm>
          <a:prstGeom prst="line">
            <a:avLst/>
          </a:prstGeom>
          <a:noFill/>
          <a:ln w="12700">
            <a:solidFill>
              <a:srgbClr val="8BAEE8"/>
            </a:solidFill>
            <a:prstDash val="solid"/>
          </a:ln>
        </p:spPr>
      </p:sp>
      <p:sp>
        <p:nvSpPr>
          <p:cNvPr id="15" name="Text 13"/>
          <p:cNvSpPr/>
          <p:nvPr/>
        </p:nvSpPr>
        <p:spPr>
          <a:xfrm>
            <a:off x="594360" y="3685032"/>
            <a:ext cx="3657600" cy="347472"/>
          </a:xfrm>
          <a:prstGeom prst="rect">
            <a:avLst/>
          </a:prstGeom>
          <a:noFill/>
          <a:ln/>
        </p:spPr>
        <p:txBody>
          <a:bodyPr wrap="square" lIns="50800" tIns="50800" rIns="50800" bIns="50800" rtlCol="0" anchor="t"/>
          <a:lstStyle/>
          <a:p>
            <a:pPr algn="l" indent="0" marL="0">
              <a:buNone/>
            </a:pPr>
            <a:r>
              <a:rPr lang="en-US" sz="1150" dirty="0">
                <a:solidFill>
                  <a:srgbClr val="22C55E"/>
                </a:solidFill>
                <a:latin typeface="Calibri" pitchFamily="34" charset="0"/>
                <a:ea typeface="Calibri" pitchFamily="34" charset="-122"/>
                <a:cs typeface="Calibri" pitchFamily="34" charset="-120"/>
              </a:rPr>
              <a:t>RAGQueryResponse</a:t>
            </a:r>
            <a:endParaRPr lang="en-US" sz="1150" dirty="0"/>
          </a:p>
        </p:txBody>
      </p:sp>
      <p:sp>
        <p:nvSpPr>
          <p:cNvPr id="16" name="Shape 14"/>
          <p:cNvSpPr/>
          <p:nvPr/>
        </p:nvSpPr>
        <p:spPr>
          <a:xfrm>
            <a:off x="2395728" y="4032504"/>
            <a:ext cx="0" cy="91440"/>
          </a:xfrm>
          <a:prstGeom prst="line">
            <a:avLst/>
          </a:prstGeom>
          <a:noFill/>
          <a:ln w="12700">
            <a:solidFill>
              <a:srgbClr val="8BAEE8"/>
            </a:solidFill>
            <a:prstDash val="solid"/>
          </a:ln>
        </p:spPr>
      </p:sp>
      <p:sp>
        <p:nvSpPr>
          <p:cNvPr id="17" name="Text 15"/>
          <p:cNvSpPr/>
          <p:nvPr/>
        </p:nvSpPr>
        <p:spPr>
          <a:xfrm>
            <a:off x="594360" y="4123944"/>
            <a:ext cx="3657600" cy="347472"/>
          </a:xfrm>
          <a:prstGeom prst="rect">
            <a:avLst/>
          </a:prstGeom>
          <a:noFill/>
          <a:ln/>
        </p:spPr>
        <p:txBody>
          <a:bodyPr wrap="square" lIns="50800" tIns="50800" rIns="50800" bIns="50800" rtlCol="0" anchor="t"/>
          <a:lstStyle/>
          <a:p>
            <a:pPr algn="l" indent="0" marL="0">
              <a:buNone/>
            </a:pPr>
            <a:r>
              <a:rPr lang="en-US" sz="1150" dirty="0">
                <a:solidFill>
                  <a:srgbClr val="8096C4"/>
                </a:solidFill>
                <a:latin typeface="Calibri" pitchFamily="34" charset="0"/>
                <a:ea typeface="Calibri" pitchFamily="34" charset="-122"/>
                <a:cs typeface="Calibri" pitchFamily="34" charset="-120"/>
              </a:rPr>
              <a:t>search_mode · embedding_used · scores</a:t>
            </a:r>
            <a:endParaRPr lang="en-US" sz="1150" dirty="0"/>
          </a:p>
        </p:txBody>
      </p:sp>
      <p:sp>
        <p:nvSpPr>
          <p:cNvPr id="18" name="Shape 16"/>
          <p:cNvSpPr/>
          <p:nvPr/>
        </p:nvSpPr>
        <p:spPr>
          <a:xfrm>
            <a:off x="4663440" y="1005840"/>
            <a:ext cx="4114800" cy="2560320"/>
          </a:xfrm>
          <a:prstGeom prst="roundRect">
            <a:avLst>
              <a:gd name="adj" fmla="val 4286"/>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19" name="Text 17"/>
          <p:cNvSpPr/>
          <p:nvPr/>
        </p:nvSpPr>
        <p:spPr>
          <a:xfrm>
            <a:off x="4846320" y="1078992"/>
            <a:ext cx="3657600" cy="301752"/>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Knowledge Base</a:t>
            </a:r>
            <a:endParaRPr lang="en-US" sz="1300" dirty="0"/>
          </a:p>
        </p:txBody>
      </p:sp>
      <p:sp>
        <p:nvSpPr>
          <p:cNvPr id="20" name="Text 18"/>
          <p:cNvSpPr/>
          <p:nvPr/>
        </p:nvSpPr>
        <p:spPr>
          <a:xfrm>
            <a:off x="4846320" y="1463040"/>
            <a:ext cx="2926080" cy="347472"/>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ourier New" pitchFamily="34" charset="0"/>
                <a:ea typeface="Courier New" pitchFamily="34" charset="-122"/>
                <a:cs typeface="Courier New" pitchFamily="34" charset="-120"/>
              </a:rPr>
              <a:t>refund_policy.md</a:t>
            </a:r>
            <a:endParaRPr lang="en-US" sz="1100" dirty="0"/>
          </a:p>
        </p:txBody>
      </p:sp>
      <p:sp>
        <p:nvSpPr>
          <p:cNvPr id="21" name="Text 19"/>
          <p:cNvSpPr/>
          <p:nvPr/>
        </p:nvSpPr>
        <p:spPr>
          <a:xfrm>
            <a:off x="7772400" y="1463040"/>
            <a:ext cx="777240" cy="347472"/>
          </a:xfrm>
          <a:prstGeom prst="rect">
            <a:avLst/>
          </a:prstGeom>
          <a:noFill/>
          <a:ln/>
        </p:spPr>
        <p:txBody>
          <a:bodyPr wrap="square" rtlCol="0" anchor="ctr"/>
          <a:lstStyle/>
          <a:p>
            <a:pPr algn="r" indent="0" marL="0">
              <a:buNone/>
            </a:pPr>
            <a:r>
              <a:rPr lang="en-US" sz="1100" dirty="0">
                <a:solidFill>
                  <a:srgbClr val="CADCFC"/>
                </a:solidFill>
                <a:latin typeface="Calibri" pitchFamily="34" charset="0"/>
                <a:ea typeface="Calibri" pitchFamily="34" charset="-122"/>
                <a:cs typeface="Calibri" pitchFamily="34" charset="-120"/>
              </a:rPr>
              <a:t>9 chunks</a:t>
            </a:r>
            <a:endParaRPr lang="en-US" sz="1100" dirty="0"/>
          </a:p>
        </p:txBody>
      </p:sp>
      <p:sp>
        <p:nvSpPr>
          <p:cNvPr id="22" name="Text 20"/>
          <p:cNvSpPr/>
          <p:nvPr/>
        </p:nvSpPr>
        <p:spPr>
          <a:xfrm>
            <a:off x="4846320" y="1856232"/>
            <a:ext cx="2926080" cy="347472"/>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ourier New" pitchFamily="34" charset="0"/>
                <a:ea typeface="Courier New" pitchFamily="34" charset="-122"/>
                <a:cs typeface="Courier New" pitchFamily="34" charset="-120"/>
              </a:rPr>
              <a:t>chargeback_policy.md</a:t>
            </a:r>
            <a:endParaRPr lang="en-US" sz="1100" dirty="0"/>
          </a:p>
        </p:txBody>
      </p:sp>
      <p:sp>
        <p:nvSpPr>
          <p:cNvPr id="23" name="Text 21"/>
          <p:cNvSpPr/>
          <p:nvPr/>
        </p:nvSpPr>
        <p:spPr>
          <a:xfrm>
            <a:off x="7772400" y="1856232"/>
            <a:ext cx="777240" cy="347472"/>
          </a:xfrm>
          <a:prstGeom prst="rect">
            <a:avLst/>
          </a:prstGeom>
          <a:noFill/>
          <a:ln/>
        </p:spPr>
        <p:txBody>
          <a:bodyPr wrap="square" rtlCol="0" anchor="ctr"/>
          <a:lstStyle/>
          <a:p>
            <a:pPr algn="r" indent="0" marL="0">
              <a:buNone/>
            </a:pPr>
            <a:r>
              <a:rPr lang="en-US" sz="1100" dirty="0">
                <a:solidFill>
                  <a:srgbClr val="CADCFC"/>
                </a:solidFill>
                <a:latin typeface="Calibri" pitchFamily="34" charset="0"/>
                <a:ea typeface="Calibri" pitchFamily="34" charset="-122"/>
                <a:cs typeface="Calibri" pitchFamily="34" charset="-120"/>
              </a:rPr>
              <a:t>9 chunks</a:t>
            </a:r>
            <a:endParaRPr lang="en-US" sz="1100" dirty="0"/>
          </a:p>
        </p:txBody>
      </p:sp>
      <p:sp>
        <p:nvSpPr>
          <p:cNvPr id="24" name="Text 22"/>
          <p:cNvSpPr/>
          <p:nvPr/>
        </p:nvSpPr>
        <p:spPr>
          <a:xfrm>
            <a:off x="4846320" y="2249424"/>
            <a:ext cx="2926080" cy="347472"/>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ourier New" pitchFamily="34" charset="0"/>
                <a:ea typeface="Courier New" pitchFamily="34" charset="-122"/>
                <a:cs typeface="Courier New" pitchFamily="34" charset="-120"/>
              </a:rPr>
              <a:t>fraud_policy.md</a:t>
            </a:r>
            <a:endParaRPr lang="en-US" sz="1100" dirty="0"/>
          </a:p>
        </p:txBody>
      </p:sp>
      <p:sp>
        <p:nvSpPr>
          <p:cNvPr id="25" name="Text 23"/>
          <p:cNvSpPr/>
          <p:nvPr/>
        </p:nvSpPr>
        <p:spPr>
          <a:xfrm>
            <a:off x="7772400" y="2249424"/>
            <a:ext cx="777240" cy="347472"/>
          </a:xfrm>
          <a:prstGeom prst="rect">
            <a:avLst/>
          </a:prstGeom>
          <a:noFill/>
          <a:ln/>
        </p:spPr>
        <p:txBody>
          <a:bodyPr wrap="square" rtlCol="0" anchor="ctr"/>
          <a:lstStyle/>
          <a:p>
            <a:pPr algn="r" indent="0" marL="0">
              <a:buNone/>
            </a:pPr>
            <a:r>
              <a:rPr lang="en-US" sz="1100" dirty="0">
                <a:solidFill>
                  <a:srgbClr val="CADCFC"/>
                </a:solidFill>
                <a:latin typeface="Calibri" pitchFamily="34" charset="0"/>
                <a:ea typeface="Calibri" pitchFamily="34" charset="-122"/>
                <a:cs typeface="Calibri" pitchFamily="34" charset="-120"/>
              </a:rPr>
              <a:t>9 chunks</a:t>
            </a:r>
            <a:endParaRPr lang="en-US" sz="1100" dirty="0"/>
          </a:p>
        </p:txBody>
      </p:sp>
      <p:sp>
        <p:nvSpPr>
          <p:cNvPr id="26" name="Text 24"/>
          <p:cNvSpPr/>
          <p:nvPr/>
        </p:nvSpPr>
        <p:spPr>
          <a:xfrm>
            <a:off x="4846320" y="2642616"/>
            <a:ext cx="2926080" cy="347472"/>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ourier New" pitchFamily="34" charset="0"/>
                <a:ea typeface="Courier New" pitchFamily="34" charset="-122"/>
                <a:cs typeface="Courier New" pitchFamily="34" charset="-120"/>
              </a:rPr>
              <a:t>settlement_policy.md</a:t>
            </a:r>
            <a:endParaRPr lang="en-US" sz="1100" dirty="0"/>
          </a:p>
        </p:txBody>
      </p:sp>
      <p:sp>
        <p:nvSpPr>
          <p:cNvPr id="27" name="Text 25"/>
          <p:cNvSpPr/>
          <p:nvPr/>
        </p:nvSpPr>
        <p:spPr>
          <a:xfrm>
            <a:off x="7772400" y="2642616"/>
            <a:ext cx="777240" cy="347472"/>
          </a:xfrm>
          <a:prstGeom prst="rect">
            <a:avLst/>
          </a:prstGeom>
          <a:noFill/>
          <a:ln/>
        </p:spPr>
        <p:txBody>
          <a:bodyPr wrap="square" rtlCol="0" anchor="ctr"/>
          <a:lstStyle/>
          <a:p>
            <a:pPr algn="r" indent="0" marL="0">
              <a:buNone/>
            </a:pPr>
            <a:r>
              <a:rPr lang="en-US" sz="1100" dirty="0">
                <a:solidFill>
                  <a:srgbClr val="CADCFC"/>
                </a:solidFill>
                <a:latin typeface="Calibri" pitchFamily="34" charset="0"/>
                <a:ea typeface="Calibri" pitchFamily="34" charset="-122"/>
                <a:cs typeface="Calibri" pitchFamily="34" charset="-120"/>
              </a:rPr>
              <a:t>11 chunks</a:t>
            </a:r>
            <a:endParaRPr lang="en-US" sz="1100" dirty="0"/>
          </a:p>
        </p:txBody>
      </p:sp>
      <p:sp>
        <p:nvSpPr>
          <p:cNvPr id="28" name="Text 26"/>
          <p:cNvSpPr/>
          <p:nvPr/>
        </p:nvSpPr>
        <p:spPr>
          <a:xfrm>
            <a:off x="4846320" y="3035808"/>
            <a:ext cx="2926080" cy="347472"/>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ourier New" pitchFamily="34" charset="0"/>
                <a:ea typeface="Courier New" pitchFamily="34" charset="-122"/>
                <a:cs typeface="Courier New" pitchFamily="34" charset="-120"/>
              </a:rPr>
              <a:t>payment_failure_policy.md</a:t>
            </a:r>
            <a:endParaRPr lang="en-US" sz="1100" dirty="0"/>
          </a:p>
        </p:txBody>
      </p:sp>
      <p:sp>
        <p:nvSpPr>
          <p:cNvPr id="29" name="Text 27"/>
          <p:cNvSpPr/>
          <p:nvPr/>
        </p:nvSpPr>
        <p:spPr>
          <a:xfrm>
            <a:off x="7772400" y="3035808"/>
            <a:ext cx="777240" cy="347472"/>
          </a:xfrm>
          <a:prstGeom prst="rect">
            <a:avLst/>
          </a:prstGeom>
          <a:noFill/>
          <a:ln/>
        </p:spPr>
        <p:txBody>
          <a:bodyPr wrap="square" rtlCol="0" anchor="ctr"/>
          <a:lstStyle/>
          <a:p>
            <a:pPr algn="r" indent="0" marL="0">
              <a:buNone/>
            </a:pPr>
            <a:r>
              <a:rPr lang="en-US" sz="1100" dirty="0">
                <a:solidFill>
                  <a:srgbClr val="CADCFC"/>
                </a:solidFill>
                <a:latin typeface="Calibri" pitchFamily="34" charset="0"/>
                <a:ea typeface="Calibri" pitchFamily="34" charset="-122"/>
                <a:cs typeface="Calibri" pitchFamily="34" charset="-120"/>
              </a:rPr>
              <a:t>10 chunks</a:t>
            </a:r>
            <a:endParaRPr lang="en-US" sz="1100" dirty="0"/>
          </a:p>
        </p:txBody>
      </p:sp>
      <p:sp>
        <p:nvSpPr>
          <p:cNvPr id="30" name="Text 28"/>
          <p:cNvSpPr/>
          <p:nvPr/>
        </p:nvSpPr>
        <p:spPr>
          <a:xfrm>
            <a:off x="4846320" y="3401568"/>
            <a:ext cx="3657600" cy="91440"/>
          </a:xfrm>
          <a:prstGeom prst="rect">
            <a:avLst/>
          </a:prstGeom>
          <a:noFill/>
          <a:ln/>
        </p:spPr>
        <p:txBody>
          <a:bodyPr wrap="square" rtlCol="0" anchor="ctr"/>
          <a:lstStyle/>
          <a:p>
            <a:pPr indent="0" marL="0">
              <a:buNone/>
            </a:pPr>
            <a:r>
              <a:rPr lang="en-US" sz="1100" b="1" dirty="0">
                <a:solidFill>
                  <a:srgbClr val="22C55E"/>
                </a:solidFill>
                <a:latin typeface="Calibri" pitchFamily="34" charset="0"/>
                <a:ea typeface="Calibri" pitchFamily="34" charset="-122"/>
                <a:cs typeface="Calibri" pitchFamily="34" charset="-120"/>
              </a:rPr>
              <a:t>Total  48 chunks · 100% embedded</a:t>
            </a:r>
            <a:endParaRPr lang="en-US" sz="1100" dirty="0"/>
          </a:p>
        </p:txBody>
      </p:sp>
      <p:sp>
        <p:nvSpPr>
          <p:cNvPr id="31" name="Shape 29"/>
          <p:cNvSpPr/>
          <p:nvPr/>
        </p:nvSpPr>
        <p:spPr>
          <a:xfrm>
            <a:off x="4663440" y="3639312"/>
            <a:ext cx="1261872" cy="731520"/>
          </a:xfrm>
          <a:prstGeom prst="roundRect">
            <a:avLst>
              <a:gd name="adj" fmla="val 15000"/>
            </a:avLst>
          </a:prstGeom>
          <a:solidFill>
            <a:srgbClr val="2E3F9E"/>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32" name="Text 30"/>
          <p:cNvSpPr/>
          <p:nvPr/>
        </p:nvSpPr>
        <p:spPr>
          <a:xfrm>
            <a:off x="4663440" y="3694176"/>
            <a:ext cx="1261872" cy="329184"/>
          </a:xfrm>
          <a:prstGeom prst="rect">
            <a:avLst/>
          </a:prstGeom>
          <a:noFill/>
          <a:ln/>
        </p:spPr>
        <p:txBody>
          <a:bodyPr wrap="square" rtlCol="0" anchor="ctr"/>
          <a:lstStyle/>
          <a:p>
            <a:pPr algn="ctr" indent="0" marL="0">
              <a:buNone/>
            </a:pPr>
            <a:r>
              <a:rPr lang="en-US" sz="1800" b="1" dirty="0">
                <a:solidFill>
                  <a:srgbClr val="22C55E"/>
                </a:solidFill>
                <a:latin typeface="Calibri" pitchFamily="34" charset="0"/>
                <a:ea typeface="Calibri" pitchFamily="34" charset="-122"/>
                <a:cs typeface="Calibri" pitchFamily="34" charset="-120"/>
              </a:rPr>
              <a:t>100%</a:t>
            </a:r>
            <a:endParaRPr lang="en-US" sz="1800" dirty="0"/>
          </a:p>
        </p:txBody>
      </p:sp>
      <p:sp>
        <p:nvSpPr>
          <p:cNvPr id="33" name="Text 31"/>
          <p:cNvSpPr/>
          <p:nvPr/>
        </p:nvSpPr>
        <p:spPr>
          <a:xfrm>
            <a:off x="4663440" y="4050792"/>
            <a:ext cx="1261872" cy="256032"/>
          </a:xfrm>
          <a:prstGeom prst="rect">
            <a:avLst/>
          </a:prstGeom>
          <a:noFill/>
          <a:ln/>
        </p:spPr>
        <p:txBody>
          <a:bodyPr wrap="square" rtlCol="0" anchor="ctr"/>
          <a:lstStyle/>
          <a:p>
            <a:pPr algn="ctr" indent="0" marL="0">
              <a:buNone/>
            </a:pPr>
            <a:r>
              <a:rPr lang="en-US" sz="950" dirty="0">
                <a:solidFill>
                  <a:srgbClr val="8096C4"/>
                </a:solidFill>
                <a:latin typeface="Calibri" pitchFamily="34" charset="0"/>
                <a:ea typeface="Calibri" pitchFamily="34" charset="-122"/>
                <a:cs typeface="Calibri" pitchFamily="34" charset="-120"/>
              </a:rPr>
              <a:t>vector top-1</a:t>
            </a:r>
            <a:endParaRPr lang="en-US" sz="950" dirty="0"/>
          </a:p>
        </p:txBody>
      </p:sp>
      <p:sp>
        <p:nvSpPr>
          <p:cNvPr id="34" name="Shape 32"/>
          <p:cNvSpPr/>
          <p:nvPr/>
        </p:nvSpPr>
        <p:spPr>
          <a:xfrm>
            <a:off x="6035040" y="3639312"/>
            <a:ext cx="1261872" cy="731520"/>
          </a:xfrm>
          <a:prstGeom prst="roundRect">
            <a:avLst>
              <a:gd name="adj" fmla="val 15000"/>
            </a:avLst>
          </a:prstGeom>
          <a:solidFill>
            <a:srgbClr val="2E3F9E"/>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35" name="Text 33"/>
          <p:cNvSpPr/>
          <p:nvPr/>
        </p:nvSpPr>
        <p:spPr>
          <a:xfrm>
            <a:off x="6035040" y="3694176"/>
            <a:ext cx="1261872" cy="329184"/>
          </a:xfrm>
          <a:prstGeom prst="rect">
            <a:avLst/>
          </a:prstGeom>
          <a:noFill/>
          <a:ln/>
        </p:spPr>
        <p:txBody>
          <a:bodyPr wrap="square" rtlCol="0" anchor="ctr"/>
          <a:lstStyle/>
          <a:p>
            <a:pPr algn="ctr" indent="0" marL="0">
              <a:buNone/>
            </a:pPr>
            <a:r>
              <a:rPr lang="en-US" sz="1800" b="1" dirty="0">
                <a:solidFill>
                  <a:srgbClr val="F59E0B"/>
                </a:solidFill>
                <a:latin typeface="Calibri" pitchFamily="34" charset="0"/>
                <a:ea typeface="Calibri" pitchFamily="34" charset="-122"/>
                <a:cs typeface="Calibri" pitchFamily="34" charset="-120"/>
              </a:rPr>
              <a:t>80%</a:t>
            </a:r>
            <a:endParaRPr lang="en-US" sz="1800" dirty="0"/>
          </a:p>
        </p:txBody>
      </p:sp>
      <p:sp>
        <p:nvSpPr>
          <p:cNvPr id="36" name="Text 34"/>
          <p:cNvSpPr/>
          <p:nvPr/>
        </p:nvSpPr>
        <p:spPr>
          <a:xfrm>
            <a:off x="6035040" y="4050792"/>
            <a:ext cx="1261872" cy="256032"/>
          </a:xfrm>
          <a:prstGeom prst="rect">
            <a:avLst/>
          </a:prstGeom>
          <a:noFill/>
          <a:ln/>
        </p:spPr>
        <p:txBody>
          <a:bodyPr wrap="square" rtlCol="0" anchor="ctr"/>
          <a:lstStyle/>
          <a:p>
            <a:pPr algn="ctr" indent="0" marL="0">
              <a:buNone/>
            </a:pPr>
            <a:r>
              <a:rPr lang="en-US" sz="950" dirty="0">
                <a:solidFill>
                  <a:srgbClr val="8096C4"/>
                </a:solidFill>
                <a:latin typeface="Calibri" pitchFamily="34" charset="0"/>
                <a:ea typeface="Calibri" pitchFamily="34" charset="-122"/>
                <a:cs typeface="Calibri" pitchFamily="34" charset="-120"/>
              </a:rPr>
              <a:t>keyword top-1</a:t>
            </a:r>
            <a:endParaRPr lang="en-US" sz="950" dirty="0"/>
          </a:p>
        </p:txBody>
      </p:sp>
      <p:sp>
        <p:nvSpPr>
          <p:cNvPr id="37" name="Shape 35"/>
          <p:cNvSpPr/>
          <p:nvPr/>
        </p:nvSpPr>
        <p:spPr>
          <a:xfrm>
            <a:off x="7406640" y="3639312"/>
            <a:ext cx="1261872" cy="731520"/>
          </a:xfrm>
          <a:prstGeom prst="roundRect">
            <a:avLst>
              <a:gd name="adj" fmla="val 15000"/>
            </a:avLst>
          </a:prstGeom>
          <a:solidFill>
            <a:srgbClr val="2E3F9E"/>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38" name="Text 36"/>
          <p:cNvSpPr/>
          <p:nvPr/>
        </p:nvSpPr>
        <p:spPr>
          <a:xfrm>
            <a:off x="7406640" y="3694176"/>
            <a:ext cx="1261872" cy="329184"/>
          </a:xfrm>
          <a:prstGeom prst="rect">
            <a:avLst/>
          </a:prstGeom>
          <a:noFill/>
          <a:ln/>
        </p:spPr>
        <p:txBody>
          <a:bodyPr wrap="square" rtlCol="0" anchor="ctr"/>
          <a:lstStyle/>
          <a:p>
            <a:pPr algn="ctr" indent="0" marL="0">
              <a:buNone/>
            </a:pPr>
            <a:r>
              <a:rPr lang="en-US" sz="1800" b="1" dirty="0">
                <a:solidFill>
                  <a:srgbClr val="CADCFC"/>
                </a:solidFill>
                <a:latin typeface="Calibri" pitchFamily="34" charset="0"/>
                <a:ea typeface="Calibri" pitchFamily="34" charset="-122"/>
                <a:cs typeface="Calibri" pitchFamily="34" charset="-120"/>
              </a:rPr>
              <a:t>48/48</a:t>
            </a:r>
            <a:endParaRPr lang="en-US" sz="1800" dirty="0"/>
          </a:p>
        </p:txBody>
      </p:sp>
      <p:sp>
        <p:nvSpPr>
          <p:cNvPr id="39" name="Text 37"/>
          <p:cNvSpPr/>
          <p:nvPr/>
        </p:nvSpPr>
        <p:spPr>
          <a:xfrm>
            <a:off x="7406640" y="4050792"/>
            <a:ext cx="1261872" cy="256032"/>
          </a:xfrm>
          <a:prstGeom prst="rect">
            <a:avLst/>
          </a:prstGeom>
          <a:noFill/>
          <a:ln/>
        </p:spPr>
        <p:txBody>
          <a:bodyPr wrap="square" rtlCol="0" anchor="ctr"/>
          <a:lstStyle/>
          <a:p>
            <a:pPr algn="ctr" indent="0" marL="0">
              <a:buNone/>
            </a:pPr>
            <a:r>
              <a:rPr lang="en-US" sz="950" dirty="0">
                <a:solidFill>
                  <a:srgbClr val="8096C4"/>
                </a:solidFill>
                <a:latin typeface="Calibri" pitchFamily="34" charset="0"/>
                <a:ea typeface="Calibri" pitchFamily="34" charset="-122"/>
                <a:cs typeface="Calibri" pitchFamily="34" charset="-120"/>
              </a:rPr>
              <a:t>embedded</a:t>
            </a:r>
            <a:endParaRPr lang="en-US" sz="950" dirty="0"/>
          </a:p>
        </p:txBody>
      </p:sp>
      <p:sp>
        <p:nvSpPr>
          <p:cNvPr id="40" name="Shape 38"/>
          <p:cNvSpPr/>
          <p:nvPr/>
        </p:nvSpPr>
        <p:spPr>
          <a:xfrm>
            <a:off x="365760" y="4526280"/>
            <a:ext cx="8412480" cy="438912"/>
          </a:xfrm>
          <a:prstGeom prst="roundRect">
            <a:avLst>
              <a:gd name="adj" fmla="val 25000"/>
            </a:avLst>
          </a:prstGeom>
          <a:solidFill>
            <a:srgbClr val="2D1010"/>
          </a:solidFill>
          <a:ln w="12700">
            <a:solidFill>
              <a:srgbClr val="EF4444"/>
            </a:solidFill>
            <a:prstDash val="solid"/>
          </a:ln>
          <a:effectLst>
            <a:outerShdw sx="100000" sy="100000" kx="0" ky="0" algn="bl" rotWithShape="0" blurRad="101600" dist="38100" dir="2700000">
              <a:srgbClr val="000000">
                <a:alpha val="30000"/>
              </a:srgbClr>
            </a:outerShdw>
          </a:effectLst>
        </p:spPr>
      </p:sp>
      <p:sp>
        <p:nvSpPr>
          <p:cNvPr id="41" name="Text 39"/>
          <p:cNvSpPr/>
          <p:nvPr/>
        </p:nvSpPr>
        <p:spPr>
          <a:xfrm>
            <a:off x="594360" y="4572000"/>
            <a:ext cx="7955280" cy="347472"/>
          </a:xfrm>
          <a:prstGeom prst="rect">
            <a:avLst/>
          </a:prstGeom>
          <a:noFill/>
          <a:ln/>
        </p:spPr>
        <p:txBody>
          <a:bodyPr wrap="square" rtlCol="0" anchor="ctr"/>
          <a:lstStyle/>
          <a:p>
            <a:pPr indent="0" marL="0">
              <a:buNone/>
            </a:pPr>
            <a:r>
              <a:rPr lang="en-US" sz="1050" dirty="0">
                <a:solidFill>
                  <a:srgbClr val="FCA5A5"/>
                </a:solidFill>
                <a:latin typeface="Calibri" pitchFamily="34" charset="0"/>
                <a:ea typeface="Calibri" pitchFamily="34" charset="-122"/>
                <a:cs typeface="Calibri" pitchFamily="34" charset="-120"/>
              </a:rPr>
              <a:t>Bug caught: &lt;#&gt; (negative inner product) → replaced with &lt;=&gt; (cosine distance). Wrong operator produced scores &gt; 1.0, clamped to 1.0, destroying ranking. Found by testing score ranges systematically.</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Live Operations: Risk at a Glance</a:t>
            </a:r>
            <a:endParaRPr lang="en-US" sz="3200" dirty="0"/>
          </a:p>
        </p:txBody>
      </p:sp>
      <p:sp>
        <p:nvSpPr>
          <p:cNvPr id="3" name="Shape 1"/>
          <p:cNvSpPr/>
          <p:nvPr/>
        </p:nvSpPr>
        <p:spPr>
          <a:xfrm>
            <a:off x="365760" y="987552"/>
            <a:ext cx="8412480" cy="3246120"/>
          </a:xfrm>
          <a:prstGeom prst="roundRect">
            <a:avLst>
              <a:gd name="adj" fmla="val 3380"/>
            </a:avLst>
          </a:prstGeom>
          <a:solidFill>
            <a:srgbClr val="0D1630"/>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4" name="Shape 2"/>
          <p:cNvSpPr/>
          <p:nvPr/>
        </p:nvSpPr>
        <p:spPr>
          <a:xfrm>
            <a:off x="365760" y="987552"/>
            <a:ext cx="1280160" cy="3246120"/>
          </a:xfrm>
          <a:prstGeom prst="rect">
            <a:avLst/>
          </a:prstGeom>
          <a:solidFill>
            <a:srgbClr val="111B3A"/>
          </a:solidFill>
          <a:ln w="12700">
            <a:solidFill>
              <a:srgbClr val="2E3F9E"/>
            </a:solidFill>
            <a:prstDash val="solid"/>
          </a:ln>
        </p:spPr>
      </p:sp>
      <p:sp>
        <p:nvSpPr>
          <p:cNvPr id="5" name="Text 3"/>
          <p:cNvSpPr/>
          <p:nvPr/>
        </p:nvSpPr>
        <p:spPr>
          <a:xfrm>
            <a:off x="457200" y="1097280"/>
            <a:ext cx="1097280" cy="292608"/>
          </a:xfrm>
          <a:prstGeom prst="rect">
            <a:avLst/>
          </a:prstGeom>
          <a:noFill/>
          <a:ln/>
        </p:spPr>
        <p:txBody>
          <a:bodyPr wrap="square" rtlCol="0" anchor="ctr"/>
          <a:lstStyle/>
          <a:p>
            <a:pPr indent="0" marL="0">
              <a:buNone/>
            </a:pPr>
            <a:r>
              <a:rPr lang="en-US" sz="1100" b="1" dirty="0">
                <a:solidFill>
                  <a:srgbClr val="CADCFC"/>
                </a:solidFill>
                <a:latin typeface="Calibri" pitchFamily="34" charset="0"/>
                <a:ea typeface="Calibri" pitchFamily="34" charset="-122"/>
                <a:cs typeface="Calibri" pitchFamily="34" charset="-120"/>
              </a:rPr>
              <a:t>⬡  PayGateway</a:t>
            </a:r>
            <a:endParaRPr lang="en-US" sz="1100" dirty="0"/>
          </a:p>
        </p:txBody>
      </p:sp>
      <p:sp>
        <p:nvSpPr>
          <p:cNvPr id="6" name="Text 4"/>
          <p:cNvSpPr/>
          <p:nvPr/>
        </p:nvSpPr>
        <p:spPr>
          <a:xfrm>
            <a:off x="502920" y="1508760"/>
            <a:ext cx="1005840" cy="502920"/>
          </a:xfrm>
          <a:prstGeom prst="rect">
            <a:avLst/>
          </a:prstGeom>
          <a:noFill/>
          <a:ln/>
        </p:spPr>
        <p:txBody>
          <a:bodyPr wrap="square" rtlCol="0" anchor="ctr"/>
          <a:lstStyle/>
          <a:p>
            <a:pPr indent="0" marL="0">
              <a:buNone/>
            </a:pPr>
            <a:r>
              <a:rPr lang="en-US" sz="1050" dirty="0">
                <a:solidFill>
                  <a:srgbClr val="8096C4"/>
                </a:solidFill>
                <a:latin typeface="Calibri" pitchFamily="34" charset="0"/>
                <a:ea typeface="Calibri" pitchFamily="34" charset="-122"/>
                <a:cs typeface="Calibri" pitchFamily="34" charset="-120"/>
              </a:rPr>
              <a:t>◫  Payments</a:t>
            </a:r>
            <a:endParaRPr lang="en-US" sz="1050" dirty="0"/>
          </a:p>
          <a:p>
            <a:pPr indent="0" marL="0">
              <a:buNone/>
            </a:pPr>
            <a:r>
              <a:rPr lang="en-US" sz="1050" dirty="0">
                <a:solidFill>
                  <a:srgbClr val="8096C4"/>
                </a:solidFill>
                <a:latin typeface="Calibri" pitchFamily="34" charset="0"/>
                <a:ea typeface="Calibri" pitchFamily="34" charset="-122"/>
                <a:cs typeface="Calibri" pitchFamily="34" charset="-120"/>
              </a:rPr>
              <a:t>◎  Assistant</a:t>
            </a:r>
            <a:endParaRPr lang="en-US" sz="1050" dirty="0"/>
          </a:p>
        </p:txBody>
      </p:sp>
      <p:sp>
        <p:nvSpPr>
          <p:cNvPr id="7" name="Shape 5"/>
          <p:cNvSpPr/>
          <p:nvPr/>
        </p:nvSpPr>
        <p:spPr>
          <a:xfrm>
            <a:off x="1737360" y="1051560"/>
            <a:ext cx="1664208" cy="658368"/>
          </a:xfrm>
          <a:prstGeom prst="roundRect">
            <a:avLst>
              <a:gd name="adj" fmla="val 8333"/>
            </a:avLst>
          </a:prstGeom>
          <a:solidFill>
            <a:srgbClr val="2E3F9E"/>
          </a:solidFill>
          <a:ln w="12700">
            <a:solidFill>
              <a:srgbClr val="253080"/>
            </a:solidFill>
            <a:prstDash val="solid"/>
          </a:ln>
        </p:spPr>
      </p:sp>
      <p:sp>
        <p:nvSpPr>
          <p:cNvPr id="8" name="Text 6"/>
          <p:cNvSpPr/>
          <p:nvPr/>
        </p:nvSpPr>
        <p:spPr>
          <a:xfrm>
            <a:off x="1737360" y="1097280"/>
            <a:ext cx="1664208" cy="320040"/>
          </a:xfrm>
          <a:prstGeom prst="rect">
            <a:avLst/>
          </a:prstGeom>
          <a:noFill/>
          <a:ln/>
        </p:spPr>
        <p:txBody>
          <a:bodyPr wrap="square" rtlCol="0" anchor="ctr"/>
          <a:lstStyle/>
          <a:p>
            <a:pPr algn="ctr" indent="0" marL="0">
              <a:buNone/>
            </a:pPr>
            <a:r>
              <a:rPr lang="en-US" sz="1500" b="1" dirty="0">
                <a:solidFill>
                  <a:srgbClr val="CADCFC"/>
                </a:solidFill>
                <a:latin typeface="Calibri" pitchFamily="34" charset="0"/>
                <a:ea typeface="Calibri" pitchFamily="34" charset="-122"/>
                <a:cs typeface="Calibri" pitchFamily="34" charset="-120"/>
              </a:rPr>
              <a:t>10,045</a:t>
            </a:r>
            <a:endParaRPr lang="en-US" sz="1500" dirty="0"/>
          </a:p>
        </p:txBody>
      </p:sp>
      <p:sp>
        <p:nvSpPr>
          <p:cNvPr id="9" name="Text 7"/>
          <p:cNvSpPr/>
          <p:nvPr/>
        </p:nvSpPr>
        <p:spPr>
          <a:xfrm>
            <a:off x="1737360" y="1408176"/>
            <a:ext cx="1664208" cy="228600"/>
          </a:xfrm>
          <a:prstGeom prst="rect">
            <a:avLst/>
          </a:prstGeom>
          <a:noFill/>
          <a:ln/>
        </p:spPr>
        <p:txBody>
          <a:bodyPr wrap="square" rtlCol="0" anchor="ctr"/>
          <a:lstStyle/>
          <a:p>
            <a:pPr algn="ctr" indent="0" marL="0">
              <a:buNone/>
            </a:pPr>
            <a:r>
              <a:rPr lang="en-US" sz="950" dirty="0">
                <a:solidFill>
                  <a:srgbClr val="8096C4"/>
                </a:solidFill>
                <a:latin typeface="Calibri" pitchFamily="34" charset="0"/>
                <a:ea typeface="Calibri" pitchFamily="34" charset="-122"/>
                <a:cs typeface="Calibri" pitchFamily="34" charset="-120"/>
              </a:rPr>
              <a:t>Transactions</a:t>
            </a:r>
            <a:endParaRPr lang="en-US" sz="950" dirty="0"/>
          </a:p>
        </p:txBody>
      </p:sp>
      <p:sp>
        <p:nvSpPr>
          <p:cNvPr id="10" name="Shape 8"/>
          <p:cNvSpPr/>
          <p:nvPr/>
        </p:nvSpPr>
        <p:spPr>
          <a:xfrm>
            <a:off x="3520440" y="1051560"/>
            <a:ext cx="1664208" cy="658368"/>
          </a:xfrm>
          <a:prstGeom prst="roundRect">
            <a:avLst>
              <a:gd name="adj" fmla="val 8333"/>
            </a:avLst>
          </a:prstGeom>
          <a:solidFill>
            <a:srgbClr val="2E3F9E"/>
          </a:solidFill>
          <a:ln w="12700">
            <a:solidFill>
              <a:srgbClr val="253080"/>
            </a:solidFill>
            <a:prstDash val="solid"/>
          </a:ln>
        </p:spPr>
      </p:sp>
      <p:sp>
        <p:nvSpPr>
          <p:cNvPr id="11" name="Text 9"/>
          <p:cNvSpPr/>
          <p:nvPr/>
        </p:nvSpPr>
        <p:spPr>
          <a:xfrm>
            <a:off x="3520440" y="1097280"/>
            <a:ext cx="1664208" cy="320040"/>
          </a:xfrm>
          <a:prstGeom prst="rect">
            <a:avLst/>
          </a:prstGeom>
          <a:noFill/>
          <a:ln/>
        </p:spPr>
        <p:txBody>
          <a:bodyPr wrap="square" rtlCol="0" anchor="ctr"/>
          <a:lstStyle/>
          <a:p>
            <a:pPr algn="ctr" indent="0" marL="0">
              <a:buNone/>
            </a:pPr>
            <a:r>
              <a:rPr lang="en-US" sz="1500" b="1" dirty="0">
                <a:solidFill>
                  <a:srgbClr val="CADCFC"/>
                </a:solidFill>
                <a:latin typeface="Calibri" pitchFamily="34" charset="0"/>
                <a:ea typeface="Calibri" pitchFamily="34" charset="-122"/>
                <a:cs typeface="Calibri" pitchFamily="34" charset="-120"/>
              </a:rPr>
              <a:t>₹4.0M</a:t>
            </a:r>
            <a:endParaRPr lang="en-US" sz="1500" dirty="0"/>
          </a:p>
        </p:txBody>
      </p:sp>
      <p:sp>
        <p:nvSpPr>
          <p:cNvPr id="12" name="Text 10"/>
          <p:cNvSpPr/>
          <p:nvPr/>
        </p:nvSpPr>
        <p:spPr>
          <a:xfrm>
            <a:off x="3520440" y="1408176"/>
            <a:ext cx="1664208" cy="228600"/>
          </a:xfrm>
          <a:prstGeom prst="rect">
            <a:avLst/>
          </a:prstGeom>
          <a:noFill/>
          <a:ln/>
        </p:spPr>
        <p:txBody>
          <a:bodyPr wrap="square" rtlCol="0" anchor="ctr"/>
          <a:lstStyle/>
          <a:p>
            <a:pPr algn="ctr" indent="0" marL="0">
              <a:buNone/>
            </a:pPr>
            <a:r>
              <a:rPr lang="en-US" sz="950" dirty="0">
                <a:solidFill>
                  <a:srgbClr val="8096C4"/>
                </a:solidFill>
                <a:latin typeface="Calibri" pitchFamily="34" charset="0"/>
                <a:ea typeface="Calibri" pitchFamily="34" charset="-122"/>
                <a:cs typeface="Calibri" pitchFamily="34" charset="-120"/>
              </a:rPr>
              <a:t>Volume</a:t>
            </a:r>
            <a:endParaRPr lang="en-US" sz="950" dirty="0"/>
          </a:p>
        </p:txBody>
      </p:sp>
      <p:sp>
        <p:nvSpPr>
          <p:cNvPr id="13" name="Shape 11"/>
          <p:cNvSpPr/>
          <p:nvPr/>
        </p:nvSpPr>
        <p:spPr>
          <a:xfrm>
            <a:off x="5303520" y="1051560"/>
            <a:ext cx="1664208" cy="658368"/>
          </a:xfrm>
          <a:prstGeom prst="roundRect">
            <a:avLst>
              <a:gd name="adj" fmla="val 8333"/>
            </a:avLst>
          </a:prstGeom>
          <a:solidFill>
            <a:srgbClr val="2E3F9E"/>
          </a:solidFill>
          <a:ln w="12700">
            <a:solidFill>
              <a:srgbClr val="253080"/>
            </a:solidFill>
            <a:prstDash val="solid"/>
          </a:ln>
        </p:spPr>
      </p:sp>
      <p:sp>
        <p:nvSpPr>
          <p:cNvPr id="14" name="Text 12"/>
          <p:cNvSpPr/>
          <p:nvPr/>
        </p:nvSpPr>
        <p:spPr>
          <a:xfrm>
            <a:off x="5303520" y="1097280"/>
            <a:ext cx="1664208" cy="320040"/>
          </a:xfrm>
          <a:prstGeom prst="rect">
            <a:avLst/>
          </a:prstGeom>
          <a:noFill/>
          <a:ln/>
        </p:spPr>
        <p:txBody>
          <a:bodyPr wrap="square" rtlCol="0" anchor="ctr"/>
          <a:lstStyle/>
          <a:p>
            <a:pPr algn="ctr" indent="0" marL="0">
              <a:buNone/>
            </a:pPr>
            <a:r>
              <a:rPr lang="en-US" sz="1500" b="1" dirty="0">
                <a:solidFill>
                  <a:srgbClr val="CADCFC"/>
                </a:solidFill>
                <a:latin typeface="Calibri" pitchFamily="34" charset="0"/>
                <a:ea typeface="Calibri" pitchFamily="34" charset="-122"/>
                <a:cs typeface="Calibri" pitchFamily="34" charset="-120"/>
              </a:rPr>
              <a:t>711</a:t>
            </a:r>
            <a:endParaRPr lang="en-US" sz="1500" dirty="0"/>
          </a:p>
        </p:txBody>
      </p:sp>
      <p:sp>
        <p:nvSpPr>
          <p:cNvPr id="15" name="Text 13"/>
          <p:cNvSpPr/>
          <p:nvPr/>
        </p:nvSpPr>
        <p:spPr>
          <a:xfrm>
            <a:off x="5303520" y="1408176"/>
            <a:ext cx="1664208" cy="228600"/>
          </a:xfrm>
          <a:prstGeom prst="rect">
            <a:avLst/>
          </a:prstGeom>
          <a:noFill/>
          <a:ln/>
        </p:spPr>
        <p:txBody>
          <a:bodyPr wrap="square" rtlCol="0" anchor="ctr"/>
          <a:lstStyle/>
          <a:p>
            <a:pPr algn="ctr" indent="0" marL="0">
              <a:buNone/>
            </a:pPr>
            <a:r>
              <a:rPr lang="en-US" sz="950" dirty="0">
                <a:solidFill>
                  <a:srgbClr val="8096C4"/>
                </a:solidFill>
                <a:latin typeface="Calibri" pitchFamily="34" charset="0"/>
                <a:ea typeface="Calibri" pitchFamily="34" charset="-122"/>
                <a:cs typeface="Calibri" pitchFamily="34" charset="-120"/>
              </a:rPr>
              <a:t>Flagged</a:t>
            </a:r>
            <a:endParaRPr lang="en-US" sz="950" dirty="0"/>
          </a:p>
        </p:txBody>
      </p:sp>
      <p:sp>
        <p:nvSpPr>
          <p:cNvPr id="16" name="Shape 14"/>
          <p:cNvSpPr/>
          <p:nvPr/>
        </p:nvSpPr>
        <p:spPr>
          <a:xfrm>
            <a:off x="7086600" y="1051560"/>
            <a:ext cx="1664208" cy="658368"/>
          </a:xfrm>
          <a:prstGeom prst="roundRect">
            <a:avLst>
              <a:gd name="adj" fmla="val 8333"/>
            </a:avLst>
          </a:prstGeom>
          <a:solidFill>
            <a:srgbClr val="2E3F9E"/>
          </a:solidFill>
          <a:ln w="12700">
            <a:solidFill>
              <a:srgbClr val="253080"/>
            </a:solidFill>
            <a:prstDash val="solid"/>
          </a:ln>
        </p:spPr>
      </p:sp>
      <p:sp>
        <p:nvSpPr>
          <p:cNvPr id="17" name="Text 15"/>
          <p:cNvSpPr/>
          <p:nvPr/>
        </p:nvSpPr>
        <p:spPr>
          <a:xfrm>
            <a:off x="7086600" y="1097280"/>
            <a:ext cx="1664208" cy="320040"/>
          </a:xfrm>
          <a:prstGeom prst="rect">
            <a:avLst/>
          </a:prstGeom>
          <a:noFill/>
          <a:ln/>
        </p:spPr>
        <p:txBody>
          <a:bodyPr wrap="square" rtlCol="0" anchor="ctr"/>
          <a:lstStyle/>
          <a:p>
            <a:pPr algn="ctr" indent="0" marL="0">
              <a:buNone/>
            </a:pPr>
            <a:r>
              <a:rPr lang="en-US" sz="1500" b="1" dirty="0">
                <a:solidFill>
                  <a:srgbClr val="CADCFC"/>
                </a:solidFill>
                <a:latin typeface="Calibri" pitchFamily="34" charset="0"/>
                <a:ea typeface="Calibri" pitchFamily="34" charset="-122"/>
                <a:cs typeface="Calibri" pitchFamily="34" charset="-120"/>
              </a:rPr>
              <a:t>982</a:t>
            </a:r>
            <a:endParaRPr lang="en-US" sz="1500" dirty="0"/>
          </a:p>
        </p:txBody>
      </p:sp>
      <p:sp>
        <p:nvSpPr>
          <p:cNvPr id="18" name="Text 16"/>
          <p:cNvSpPr/>
          <p:nvPr/>
        </p:nvSpPr>
        <p:spPr>
          <a:xfrm>
            <a:off x="7086600" y="1408176"/>
            <a:ext cx="1664208" cy="228600"/>
          </a:xfrm>
          <a:prstGeom prst="rect">
            <a:avLst/>
          </a:prstGeom>
          <a:noFill/>
          <a:ln/>
        </p:spPr>
        <p:txBody>
          <a:bodyPr wrap="square" rtlCol="0" anchor="ctr"/>
          <a:lstStyle/>
          <a:p>
            <a:pPr algn="ctr" indent="0" marL="0">
              <a:buNone/>
            </a:pPr>
            <a:r>
              <a:rPr lang="en-US" sz="950" dirty="0">
                <a:solidFill>
                  <a:srgbClr val="8096C4"/>
                </a:solidFill>
                <a:latin typeface="Calibri" pitchFamily="34" charset="0"/>
                <a:ea typeface="Calibri" pitchFamily="34" charset="-122"/>
                <a:cs typeface="Calibri" pitchFamily="34" charset="-120"/>
              </a:rPr>
              <a:t>Failed</a:t>
            </a:r>
            <a:endParaRPr lang="en-US" sz="950" dirty="0"/>
          </a:p>
        </p:txBody>
      </p:sp>
      <p:sp>
        <p:nvSpPr>
          <p:cNvPr id="19" name="Shape 17"/>
          <p:cNvSpPr/>
          <p:nvPr/>
        </p:nvSpPr>
        <p:spPr>
          <a:xfrm>
            <a:off x="1709928" y="1828800"/>
            <a:ext cx="64008" cy="283464"/>
          </a:xfrm>
          <a:prstGeom prst="rect">
            <a:avLst/>
          </a:prstGeom>
          <a:solidFill>
            <a:srgbClr val="38BDF8"/>
          </a:solidFill>
          <a:ln w="12700">
            <a:solidFill>
              <a:srgbClr val="38BDF8"/>
            </a:solidFill>
            <a:prstDash val="solid"/>
          </a:ln>
        </p:spPr>
      </p:sp>
      <p:sp>
        <p:nvSpPr>
          <p:cNvPr id="20" name="Text 18"/>
          <p:cNvSpPr/>
          <p:nvPr/>
        </p:nvSpPr>
        <p:spPr>
          <a:xfrm>
            <a:off x="1847088" y="1856232"/>
            <a:ext cx="1371600" cy="256032"/>
          </a:xfrm>
          <a:prstGeom prst="rect">
            <a:avLst/>
          </a:prstGeom>
          <a:noFill/>
          <a:ln/>
        </p:spPr>
        <p:txBody>
          <a:bodyPr wrap="square" lIns="50800" tIns="50800" rIns="50800" bIns="50800" rtlCol="0" anchor="t"/>
          <a:lstStyle/>
          <a:p>
            <a:pPr algn="l" indent="0" marL="0">
              <a:buNone/>
            </a:pPr>
            <a:r>
              <a:rPr lang="en-US" sz="950" dirty="0">
                <a:solidFill>
                  <a:srgbClr val="8096C4"/>
                </a:solidFill>
                <a:latin typeface="Courier New" pitchFamily="34" charset="0"/>
                <a:ea typeface="Courier New" pitchFamily="34" charset="-122"/>
                <a:cs typeface="Courier New" pitchFamily="34" charset="-120"/>
              </a:rPr>
              <a:t>seed_a7f2…</a:t>
            </a:r>
            <a:endParaRPr lang="en-US" sz="950" dirty="0"/>
          </a:p>
        </p:txBody>
      </p:sp>
      <p:sp>
        <p:nvSpPr>
          <p:cNvPr id="21" name="Text 19"/>
          <p:cNvSpPr/>
          <p:nvPr/>
        </p:nvSpPr>
        <p:spPr>
          <a:xfrm>
            <a:off x="3264408" y="1856232"/>
            <a:ext cx="1280160" cy="256032"/>
          </a:xfrm>
          <a:prstGeom prst="rect">
            <a:avLst/>
          </a:prstGeom>
          <a:noFill/>
          <a:ln/>
        </p:spPr>
        <p:txBody>
          <a:bodyPr wrap="square" lIns="50800" tIns="50800" rIns="50800" bIns="50800" rtlCol="0" anchor="t"/>
          <a:lstStyle/>
          <a:p>
            <a:pPr algn="l" indent="0" marL="0">
              <a:buNone/>
            </a:pPr>
            <a:r>
              <a:rPr lang="en-US" sz="950" dirty="0">
                <a:solidFill>
                  <a:srgbClr val="E8EDF8"/>
                </a:solidFill>
                <a:latin typeface="Calibri" pitchFamily="34" charset="0"/>
                <a:ea typeface="Calibri" pitchFamily="34" charset="-122"/>
                <a:cs typeface="Calibri" pitchFamily="34" charset="-120"/>
              </a:rPr>
              <a:t>m_swiggy</a:t>
            </a:r>
            <a:endParaRPr lang="en-US" sz="950" dirty="0"/>
          </a:p>
        </p:txBody>
      </p:sp>
      <p:sp>
        <p:nvSpPr>
          <p:cNvPr id="22" name="Text 20"/>
          <p:cNvSpPr/>
          <p:nvPr/>
        </p:nvSpPr>
        <p:spPr>
          <a:xfrm>
            <a:off x="4544568" y="1856232"/>
            <a:ext cx="1005840" cy="256032"/>
          </a:xfrm>
          <a:prstGeom prst="rect">
            <a:avLst/>
          </a:prstGeom>
          <a:noFill/>
          <a:ln/>
        </p:spPr>
        <p:txBody>
          <a:bodyPr wrap="square" lIns="50800" tIns="50800" rIns="50800" bIns="50800" rtlCol="0" anchor="t"/>
          <a:lstStyle/>
          <a:p>
            <a:pPr algn="l" indent="0" marL="0">
              <a:buNone/>
            </a:pPr>
            <a:r>
              <a:rPr lang="en-US" sz="950" dirty="0">
                <a:solidFill>
                  <a:srgbClr val="E8EDF8"/>
                </a:solidFill>
                <a:latin typeface="Calibri" pitchFamily="34" charset="0"/>
                <a:ea typeface="Calibri" pitchFamily="34" charset="-122"/>
                <a:cs typeface="Calibri" pitchFamily="34" charset="-120"/>
              </a:rPr>
              <a:t>₹1,240</a:t>
            </a:r>
            <a:endParaRPr lang="en-US" sz="950" dirty="0"/>
          </a:p>
        </p:txBody>
      </p:sp>
      <p:sp>
        <p:nvSpPr>
          <p:cNvPr id="23" name="Text 21"/>
          <p:cNvSpPr/>
          <p:nvPr/>
        </p:nvSpPr>
        <p:spPr>
          <a:xfrm>
            <a:off x="5596128" y="1874520"/>
            <a:ext cx="914400" cy="201168"/>
          </a:xfrm>
          <a:prstGeom prst="rect">
            <a:avLst/>
          </a:prstGeom>
          <a:noFill/>
          <a:ln/>
        </p:spPr>
        <p:txBody>
          <a:bodyPr wrap="square" rtlCol="0" anchor="ctr"/>
          <a:lstStyle/>
          <a:p>
            <a:pPr indent="0" marL="0">
              <a:buNone/>
            </a:pPr>
            <a:r>
              <a:rPr lang="en-US" sz="900" b="1" dirty="0">
                <a:solidFill>
                  <a:srgbClr val="22C55E"/>
                </a:solidFill>
                <a:latin typeface="Calibri" pitchFamily="34" charset="0"/>
                <a:ea typeface="Calibri" pitchFamily="34" charset="-122"/>
                <a:cs typeface="Calibri" pitchFamily="34" charset="-120"/>
              </a:rPr>
              <a:t>success</a:t>
            </a:r>
            <a:endParaRPr lang="en-US" sz="900" dirty="0"/>
          </a:p>
        </p:txBody>
      </p:sp>
      <p:sp>
        <p:nvSpPr>
          <p:cNvPr id="24" name="Shape 22"/>
          <p:cNvSpPr/>
          <p:nvPr/>
        </p:nvSpPr>
        <p:spPr>
          <a:xfrm>
            <a:off x="1709928" y="2167128"/>
            <a:ext cx="64008" cy="283464"/>
          </a:xfrm>
          <a:prstGeom prst="rect">
            <a:avLst/>
          </a:prstGeom>
          <a:solidFill>
            <a:srgbClr val="F59E0B"/>
          </a:solidFill>
          <a:ln w="12700">
            <a:solidFill>
              <a:srgbClr val="F59E0B"/>
            </a:solidFill>
            <a:prstDash val="solid"/>
          </a:ln>
        </p:spPr>
      </p:sp>
      <p:sp>
        <p:nvSpPr>
          <p:cNvPr id="25" name="Text 23"/>
          <p:cNvSpPr/>
          <p:nvPr/>
        </p:nvSpPr>
        <p:spPr>
          <a:xfrm>
            <a:off x="1847088" y="2194560"/>
            <a:ext cx="1371600" cy="256032"/>
          </a:xfrm>
          <a:prstGeom prst="rect">
            <a:avLst/>
          </a:prstGeom>
          <a:noFill/>
          <a:ln/>
        </p:spPr>
        <p:txBody>
          <a:bodyPr wrap="square" lIns="50800" tIns="50800" rIns="50800" bIns="50800" rtlCol="0" anchor="t"/>
          <a:lstStyle/>
          <a:p>
            <a:pPr algn="l" indent="0" marL="0">
              <a:buNone/>
            </a:pPr>
            <a:r>
              <a:rPr lang="en-US" sz="950" dirty="0">
                <a:solidFill>
                  <a:srgbClr val="8096C4"/>
                </a:solidFill>
                <a:latin typeface="Courier New" pitchFamily="34" charset="0"/>
                <a:ea typeface="Courier New" pitchFamily="34" charset="-122"/>
                <a:cs typeface="Courier New" pitchFamily="34" charset="-120"/>
              </a:rPr>
              <a:t>seed_b3c1…</a:t>
            </a:r>
            <a:endParaRPr lang="en-US" sz="950" dirty="0"/>
          </a:p>
        </p:txBody>
      </p:sp>
      <p:sp>
        <p:nvSpPr>
          <p:cNvPr id="26" name="Text 24"/>
          <p:cNvSpPr/>
          <p:nvPr/>
        </p:nvSpPr>
        <p:spPr>
          <a:xfrm>
            <a:off x="3264408" y="2194560"/>
            <a:ext cx="1280160" cy="256032"/>
          </a:xfrm>
          <a:prstGeom prst="rect">
            <a:avLst/>
          </a:prstGeom>
          <a:noFill/>
          <a:ln/>
        </p:spPr>
        <p:txBody>
          <a:bodyPr wrap="square" lIns="50800" tIns="50800" rIns="50800" bIns="50800" rtlCol="0" anchor="t"/>
          <a:lstStyle/>
          <a:p>
            <a:pPr algn="l" indent="0" marL="0">
              <a:buNone/>
            </a:pPr>
            <a:r>
              <a:rPr lang="en-US" sz="950" dirty="0">
                <a:solidFill>
                  <a:srgbClr val="E8EDF8"/>
                </a:solidFill>
                <a:latin typeface="Calibri" pitchFamily="34" charset="0"/>
                <a:ea typeface="Calibri" pitchFamily="34" charset="-122"/>
                <a:cs typeface="Calibri" pitchFamily="34" charset="-120"/>
              </a:rPr>
              <a:t>m_amazon</a:t>
            </a:r>
            <a:endParaRPr lang="en-US" sz="950" dirty="0"/>
          </a:p>
        </p:txBody>
      </p:sp>
      <p:sp>
        <p:nvSpPr>
          <p:cNvPr id="27" name="Text 25"/>
          <p:cNvSpPr/>
          <p:nvPr/>
        </p:nvSpPr>
        <p:spPr>
          <a:xfrm>
            <a:off x="4544568" y="2194560"/>
            <a:ext cx="1005840" cy="256032"/>
          </a:xfrm>
          <a:prstGeom prst="rect">
            <a:avLst/>
          </a:prstGeom>
          <a:noFill/>
          <a:ln/>
        </p:spPr>
        <p:txBody>
          <a:bodyPr wrap="square" lIns="50800" tIns="50800" rIns="50800" bIns="50800" rtlCol="0" anchor="t"/>
          <a:lstStyle/>
          <a:p>
            <a:pPr algn="l" indent="0" marL="0">
              <a:buNone/>
            </a:pPr>
            <a:r>
              <a:rPr lang="en-US" sz="950" dirty="0">
                <a:solidFill>
                  <a:srgbClr val="E8EDF8"/>
                </a:solidFill>
                <a:latin typeface="Calibri" pitchFamily="34" charset="0"/>
                <a:ea typeface="Calibri" pitchFamily="34" charset="-122"/>
                <a:cs typeface="Calibri" pitchFamily="34" charset="-120"/>
              </a:rPr>
              <a:t>₹45,000</a:t>
            </a:r>
            <a:endParaRPr lang="en-US" sz="950" dirty="0"/>
          </a:p>
        </p:txBody>
      </p:sp>
      <p:sp>
        <p:nvSpPr>
          <p:cNvPr id="28" name="Text 26"/>
          <p:cNvSpPr/>
          <p:nvPr/>
        </p:nvSpPr>
        <p:spPr>
          <a:xfrm>
            <a:off x="5596128" y="2212848"/>
            <a:ext cx="914400" cy="201168"/>
          </a:xfrm>
          <a:prstGeom prst="rect">
            <a:avLst/>
          </a:prstGeom>
          <a:noFill/>
          <a:ln/>
        </p:spPr>
        <p:txBody>
          <a:bodyPr wrap="square"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flagged</a:t>
            </a:r>
            <a:endParaRPr lang="en-US" sz="900" dirty="0"/>
          </a:p>
        </p:txBody>
      </p:sp>
      <p:sp>
        <p:nvSpPr>
          <p:cNvPr id="29" name="Shape 27"/>
          <p:cNvSpPr/>
          <p:nvPr/>
        </p:nvSpPr>
        <p:spPr>
          <a:xfrm>
            <a:off x="1709928" y="2505456"/>
            <a:ext cx="64008" cy="283464"/>
          </a:xfrm>
          <a:prstGeom prst="rect">
            <a:avLst/>
          </a:prstGeom>
          <a:solidFill>
            <a:srgbClr val="F59E0B"/>
          </a:solidFill>
          <a:ln w="12700">
            <a:solidFill>
              <a:srgbClr val="F59E0B"/>
            </a:solidFill>
            <a:prstDash val="solid"/>
          </a:ln>
        </p:spPr>
      </p:sp>
      <p:sp>
        <p:nvSpPr>
          <p:cNvPr id="30" name="Text 28"/>
          <p:cNvSpPr/>
          <p:nvPr/>
        </p:nvSpPr>
        <p:spPr>
          <a:xfrm>
            <a:off x="1847088" y="2532888"/>
            <a:ext cx="1371600" cy="256032"/>
          </a:xfrm>
          <a:prstGeom prst="rect">
            <a:avLst/>
          </a:prstGeom>
          <a:noFill/>
          <a:ln/>
        </p:spPr>
        <p:txBody>
          <a:bodyPr wrap="square" lIns="50800" tIns="50800" rIns="50800" bIns="50800" rtlCol="0" anchor="t"/>
          <a:lstStyle/>
          <a:p>
            <a:pPr algn="l" indent="0" marL="0">
              <a:buNone/>
            </a:pPr>
            <a:r>
              <a:rPr lang="en-US" sz="950" dirty="0">
                <a:solidFill>
                  <a:srgbClr val="8096C4"/>
                </a:solidFill>
                <a:latin typeface="Courier New" pitchFamily="34" charset="0"/>
                <a:ea typeface="Courier New" pitchFamily="34" charset="-122"/>
                <a:cs typeface="Courier New" pitchFamily="34" charset="-120"/>
              </a:rPr>
              <a:t>seed_c9d8…</a:t>
            </a:r>
            <a:endParaRPr lang="en-US" sz="950" dirty="0"/>
          </a:p>
        </p:txBody>
      </p:sp>
      <p:sp>
        <p:nvSpPr>
          <p:cNvPr id="31" name="Text 29"/>
          <p:cNvSpPr/>
          <p:nvPr/>
        </p:nvSpPr>
        <p:spPr>
          <a:xfrm>
            <a:off x="3264408" y="2532888"/>
            <a:ext cx="1280160" cy="256032"/>
          </a:xfrm>
          <a:prstGeom prst="rect">
            <a:avLst/>
          </a:prstGeom>
          <a:noFill/>
          <a:ln/>
        </p:spPr>
        <p:txBody>
          <a:bodyPr wrap="square" lIns="50800" tIns="50800" rIns="50800" bIns="50800" rtlCol="0" anchor="t"/>
          <a:lstStyle/>
          <a:p>
            <a:pPr algn="l" indent="0" marL="0">
              <a:buNone/>
            </a:pPr>
            <a:r>
              <a:rPr lang="en-US" sz="950" dirty="0">
                <a:solidFill>
                  <a:srgbClr val="E8EDF8"/>
                </a:solidFill>
                <a:latin typeface="Calibri" pitchFamily="34" charset="0"/>
                <a:ea typeface="Calibri" pitchFamily="34" charset="-122"/>
                <a:cs typeface="Calibri" pitchFamily="34" charset="-120"/>
              </a:rPr>
              <a:t>m_casino</a:t>
            </a:r>
            <a:endParaRPr lang="en-US" sz="950" dirty="0"/>
          </a:p>
        </p:txBody>
      </p:sp>
      <p:sp>
        <p:nvSpPr>
          <p:cNvPr id="32" name="Text 30"/>
          <p:cNvSpPr/>
          <p:nvPr/>
        </p:nvSpPr>
        <p:spPr>
          <a:xfrm>
            <a:off x="4544568" y="2532888"/>
            <a:ext cx="1005840" cy="256032"/>
          </a:xfrm>
          <a:prstGeom prst="rect">
            <a:avLst/>
          </a:prstGeom>
          <a:noFill/>
          <a:ln/>
        </p:spPr>
        <p:txBody>
          <a:bodyPr wrap="square" lIns="50800" tIns="50800" rIns="50800" bIns="50800" rtlCol="0" anchor="t"/>
          <a:lstStyle/>
          <a:p>
            <a:pPr algn="l" indent="0" marL="0">
              <a:buNone/>
            </a:pPr>
            <a:r>
              <a:rPr lang="en-US" sz="950" dirty="0">
                <a:solidFill>
                  <a:srgbClr val="E8EDF8"/>
                </a:solidFill>
                <a:latin typeface="Calibri" pitchFamily="34" charset="0"/>
                <a:ea typeface="Calibri" pitchFamily="34" charset="-122"/>
                <a:cs typeface="Calibri" pitchFamily="34" charset="-120"/>
              </a:rPr>
              <a:t>₹500,000</a:t>
            </a:r>
            <a:endParaRPr lang="en-US" sz="950" dirty="0"/>
          </a:p>
        </p:txBody>
      </p:sp>
      <p:sp>
        <p:nvSpPr>
          <p:cNvPr id="33" name="Text 31"/>
          <p:cNvSpPr/>
          <p:nvPr/>
        </p:nvSpPr>
        <p:spPr>
          <a:xfrm>
            <a:off x="5596128" y="2551176"/>
            <a:ext cx="914400" cy="201168"/>
          </a:xfrm>
          <a:prstGeom prst="rect">
            <a:avLst/>
          </a:prstGeom>
          <a:noFill/>
          <a:ln/>
        </p:spPr>
        <p:txBody>
          <a:bodyPr wrap="square" rtlCol="0" anchor="ctr"/>
          <a:lstStyle/>
          <a:p>
            <a:pPr indent="0" marL="0">
              <a:buNone/>
            </a:pPr>
            <a:r>
              <a:rPr lang="en-US" sz="900" b="1" dirty="0">
                <a:solidFill>
                  <a:srgbClr val="F59E0B"/>
                </a:solidFill>
                <a:latin typeface="Calibri" pitchFamily="34" charset="0"/>
                <a:ea typeface="Calibri" pitchFamily="34" charset="-122"/>
                <a:cs typeface="Calibri" pitchFamily="34" charset="-120"/>
              </a:rPr>
              <a:t>flagged</a:t>
            </a:r>
            <a:endParaRPr lang="en-US" sz="900" dirty="0"/>
          </a:p>
        </p:txBody>
      </p:sp>
      <p:sp>
        <p:nvSpPr>
          <p:cNvPr id="34" name="Shape 32"/>
          <p:cNvSpPr/>
          <p:nvPr/>
        </p:nvSpPr>
        <p:spPr>
          <a:xfrm>
            <a:off x="1709928" y="2843784"/>
            <a:ext cx="64008" cy="283464"/>
          </a:xfrm>
          <a:prstGeom prst="rect">
            <a:avLst/>
          </a:prstGeom>
          <a:solidFill>
            <a:srgbClr val="EF4444"/>
          </a:solidFill>
          <a:ln w="12700">
            <a:solidFill>
              <a:srgbClr val="EF4444"/>
            </a:solidFill>
            <a:prstDash val="solid"/>
          </a:ln>
        </p:spPr>
      </p:sp>
      <p:sp>
        <p:nvSpPr>
          <p:cNvPr id="35" name="Text 33"/>
          <p:cNvSpPr/>
          <p:nvPr/>
        </p:nvSpPr>
        <p:spPr>
          <a:xfrm>
            <a:off x="1847088" y="2871216"/>
            <a:ext cx="1371600" cy="256032"/>
          </a:xfrm>
          <a:prstGeom prst="rect">
            <a:avLst/>
          </a:prstGeom>
          <a:noFill/>
          <a:ln/>
        </p:spPr>
        <p:txBody>
          <a:bodyPr wrap="square" lIns="50800" tIns="50800" rIns="50800" bIns="50800" rtlCol="0" anchor="t"/>
          <a:lstStyle/>
          <a:p>
            <a:pPr algn="l" indent="0" marL="0">
              <a:buNone/>
            </a:pPr>
            <a:r>
              <a:rPr lang="en-US" sz="950" dirty="0">
                <a:solidFill>
                  <a:srgbClr val="8096C4"/>
                </a:solidFill>
                <a:latin typeface="Courier New" pitchFamily="34" charset="0"/>
                <a:ea typeface="Courier New" pitchFamily="34" charset="-122"/>
                <a:cs typeface="Courier New" pitchFamily="34" charset="-120"/>
              </a:rPr>
              <a:t>seed_d1e4…</a:t>
            </a:r>
            <a:endParaRPr lang="en-US" sz="950" dirty="0"/>
          </a:p>
        </p:txBody>
      </p:sp>
      <p:sp>
        <p:nvSpPr>
          <p:cNvPr id="36" name="Text 34"/>
          <p:cNvSpPr/>
          <p:nvPr/>
        </p:nvSpPr>
        <p:spPr>
          <a:xfrm>
            <a:off x="3264408" y="2871216"/>
            <a:ext cx="1280160" cy="256032"/>
          </a:xfrm>
          <a:prstGeom prst="rect">
            <a:avLst/>
          </a:prstGeom>
          <a:noFill/>
          <a:ln/>
        </p:spPr>
        <p:txBody>
          <a:bodyPr wrap="square" lIns="50800" tIns="50800" rIns="50800" bIns="50800" rtlCol="0" anchor="t"/>
          <a:lstStyle/>
          <a:p>
            <a:pPr algn="l" indent="0" marL="0">
              <a:buNone/>
            </a:pPr>
            <a:r>
              <a:rPr lang="en-US" sz="950" dirty="0">
                <a:solidFill>
                  <a:srgbClr val="E8EDF8"/>
                </a:solidFill>
                <a:latin typeface="Calibri" pitchFamily="34" charset="0"/>
                <a:ea typeface="Calibri" pitchFamily="34" charset="-122"/>
                <a:cs typeface="Calibri" pitchFamily="34" charset="-120"/>
              </a:rPr>
              <a:t>m_zomato</a:t>
            </a:r>
            <a:endParaRPr lang="en-US" sz="950" dirty="0"/>
          </a:p>
        </p:txBody>
      </p:sp>
      <p:sp>
        <p:nvSpPr>
          <p:cNvPr id="37" name="Text 35"/>
          <p:cNvSpPr/>
          <p:nvPr/>
        </p:nvSpPr>
        <p:spPr>
          <a:xfrm>
            <a:off x="4544568" y="2871216"/>
            <a:ext cx="1005840" cy="256032"/>
          </a:xfrm>
          <a:prstGeom prst="rect">
            <a:avLst/>
          </a:prstGeom>
          <a:noFill/>
          <a:ln/>
        </p:spPr>
        <p:txBody>
          <a:bodyPr wrap="square" lIns="50800" tIns="50800" rIns="50800" bIns="50800" rtlCol="0" anchor="t"/>
          <a:lstStyle/>
          <a:p>
            <a:pPr algn="l" indent="0" marL="0">
              <a:buNone/>
            </a:pPr>
            <a:r>
              <a:rPr lang="en-US" sz="950" dirty="0">
                <a:solidFill>
                  <a:srgbClr val="E8EDF8"/>
                </a:solidFill>
                <a:latin typeface="Calibri" pitchFamily="34" charset="0"/>
                <a:ea typeface="Calibri" pitchFamily="34" charset="-122"/>
                <a:cs typeface="Calibri" pitchFamily="34" charset="-120"/>
              </a:rPr>
              <a:t>₹320</a:t>
            </a:r>
            <a:endParaRPr lang="en-US" sz="950" dirty="0"/>
          </a:p>
        </p:txBody>
      </p:sp>
      <p:sp>
        <p:nvSpPr>
          <p:cNvPr id="38" name="Text 36"/>
          <p:cNvSpPr/>
          <p:nvPr/>
        </p:nvSpPr>
        <p:spPr>
          <a:xfrm>
            <a:off x="5596128" y="2889504"/>
            <a:ext cx="914400" cy="201168"/>
          </a:xfrm>
          <a:prstGeom prst="rect">
            <a:avLst/>
          </a:prstGeom>
          <a:noFill/>
          <a:ln/>
        </p:spPr>
        <p:txBody>
          <a:bodyPr wrap="square" rtlCol="0" anchor="ctr"/>
          <a:lstStyle/>
          <a:p>
            <a:pPr indent="0" marL="0">
              <a:buNone/>
            </a:pPr>
            <a:r>
              <a:rPr lang="en-US" sz="900" b="1" dirty="0">
                <a:solidFill>
                  <a:srgbClr val="EF4444"/>
                </a:solidFill>
                <a:latin typeface="Calibri" pitchFamily="34" charset="0"/>
                <a:ea typeface="Calibri" pitchFamily="34" charset="-122"/>
                <a:cs typeface="Calibri" pitchFamily="34" charset="-120"/>
              </a:rPr>
              <a:t>failed</a:t>
            </a:r>
            <a:endParaRPr lang="en-US" sz="900" dirty="0"/>
          </a:p>
        </p:txBody>
      </p:sp>
      <p:sp>
        <p:nvSpPr>
          <p:cNvPr id="39" name="Text 37"/>
          <p:cNvSpPr/>
          <p:nvPr/>
        </p:nvSpPr>
        <p:spPr>
          <a:xfrm>
            <a:off x="5394960" y="1901952"/>
            <a:ext cx="2286000" cy="1188720"/>
          </a:xfrm>
          <a:prstGeom prst="rect">
            <a:avLst/>
          </a:prstGeom>
          <a:noFill/>
          <a:ln/>
        </p:spPr>
        <p:txBody>
          <a:bodyPr wrap="square" rtlCol="0" anchor="ctr"/>
          <a:lstStyle/>
          <a:p>
            <a:pPr indent="0" marL="0">
              <a:buNone/>
            </a:pPr>
            <a:r>
              <a:rPr lang="en-US" sz="1100" i="1" dirty="0">
                <a:solidFill>
                  <a:srgbClr val="8096C4"/>
                </a:solidFill>
                <a:latin typeface="Calibri" pitchFamily="34" charset="0"/>
                <a:ea typeface="Calibri" pitchFamily="34" charset="-122"/>
                <a:cs typeface="Calibri" pitchFamily="34" charset="-120"/>
              </a:rPr>
              <a:t>→  detail drawer slides in</a:t>
            </a:r>
            <a:endParaRPr lang="en-US" sz="1100" dirty="0"/>
          </a:p>
        </p:txBody>
      </p:sp>
      <p:sp>
        <p:nvSpPr>
          <p:cNvPr id="40" name="Text 38"/>
          <p:cNvSpPr/>
          <p:nvPr/>
        </p:nvSpPr>
        <p:spPr>
          <a:xfrm>
            <a:off x="365760" y="4325112"/>
            <a:ext cx="1965960" cy="246888"/>
          </a:xfrm>
          <a:prstGeom prst="rect">
            <a:avLst/>
          </a:prstGeom>
          <a:noFill/>
          <a:ln/>
        </p:spPr>
        <p:txBody>
          <a:bodyPr wrap="square" rtlCol="0" anchor="ctr"/>
          <a:lstStyle/>
          <a:p>
            <a:pPr indent="0" marL="0">
              <a:buNone/>
            </a:pPr>
            <a:r>
              <a:rPr lang="en-US" sz="1100" b="1" dirty="0">
                <a:solidFill>
                  <a:srgbClr val="CADCFC"/>
                </a:solidFill>
                <a:latin typeface="Calibri" pitchFamily="34" charset="0"/>
                <a:ea typeface="Calibri" pitchFamily="34" charset="-122"/>
                <a:cs typeface="Calibri" pitchFamily="34" charset="-120"/>
              </a:rPr>
              <a:t>▌  Risk spine</a:t>
            </a:r>
            <a:endParaRPr lang="en-US" sz="1100" dirty="0"/>
          </a:p>
        </p:txBody>
      </p:sp>
      <p:sp>
        <p:nvSpPr>
          <p:cNvPr id="41" name="Text 39"/>
          <p:cNvSpPr/>
          <p:nvPr/>
        </p:nvSpPr>
        <p:spPr>
          <a:xfrm>
            <a:off x="365760" y="4562856"/>
            <a:ext cx="1965960" cy="228600"/>
          </a:xfrm>
          <a:prstGeom prst="rect">
            <a:avLst/>
          </a:prstGeom>
          <a:noFill/>
          <a:ln/>
        </p:spPr>
        <p:txBody>
          <a:bodyPr wrap="square" rtlCol="0" anchor="ctr"/>
          <a:lstStyle/>
          <a:p>
            <a:pPr indent="0" marL="0">
              <a:buNone/>
            </a:pPr>
            <a:r>
              <a:rPr lang="en-US" sz="1000" dirty="0">
                <a:solidFill>
                  <a:srgbClr val="8096C4"/>
                </a:solidFill>
                <a:latin typeface="Calibri" pitchFamily="34" charset="0"/>
                <a:ea typeface="Calibri" pitchFamily="34" charset="-122"/>
                <a:cs typeface="Calibri" pitchFamily="34" charset="-120"/>
              </a:rPr>
              <a:t>left border cyan/amber/red</a:t>
            </a:r>
            <a:endParaRPr lang="en-US" sz="1000" dirty="0"/>
          </a:p>
        </p:txBody>
      </p:sp>
      <p:sp>
        <p:nvSpPr>
          <p:cNvPr id="42" name="Text 40"/>
          <p:cNvSpPr/>
          <p:nvPr/>
        </p:nvSpPr>
        <p:spPr>
          <a:xfrm>
            <a:off x="2514600" y="4325112"/>
            <a:ext cx="1965960" cy="246888"/>
          </a:xfrm>
          <a:prstGeom prst="rect">
            <a:avLst/>
          </a:prstGeom>
          <a:noFill/>
          <a:ln/>
        </p:spPr>
        <p:txBody>
          <a:bodyPr wrap="square" rtlCol="0" anchor="ctr"/>
          <a:lstStyle/>
          <a:p>
            <a:pPr indent="0" marL="0">
              <a:buNone/>
            </a:pPr>
            <a:r>
              <a:rPr lang="en-US" sz="1100" b="1" dirty="0">
                <a:solidFill>
                  <a:srgbClr val="CADCFC"/>
                </a:solidFill>
                <a:latin typeface="Calibri" pitchFamily="34" charset="0"/>
                <a:ea typeface="Calibri" pitchFamily="34" charset="-122"/>
                <a:cs typeface="Calibri" pitchFamily="34" charset="-120"/>
              </a:rPr>
              <a:t>◉  Score panel</a:t>
            </a:r>
            <a:endParaRPr lang="en-US" sz="1100" dirty="0"/>
          </a:p>
        </p:txBody>
      </p:sp>
      <p:sp>
        <p:nvSpPr>
          <p:cNvPr id="43" name="Text 41"/>
          <p:cNvSpPr/>
          <p:nvPr/>
        </p:nvSpPr>
        <p:spPr>
          <a:xfrm>
            <a:off x="2514600" y="4562856"/>
            <a:ext cx="1965960" cy="228600"/>
          </a:xfrm>
          <a:prstGeom prst="rect">
            <a:avLst/>
          </a:prstGeom>
          <a:noFill/>
          <a:ln/>
        </p:spPr>
        <p:txBody>
          <a:bodyPr wrap="square" rtlCol="0" anchor="ctr"/>
          <a:lstStyle/>
          <a:p>
            <a:pPr indent="0" marL="0">
              <a:buNone/>
            </a:pPr>
            <a:r>
              <a:rPr lang="en-US" sz="1000" dirty="0">
                <a:solidFill>
                  <a:srgbClr val="8096C4"/>
                </a:solidFill>
                <a:latin typeface="Calibri" pitchFamily="34" charset="0"/>
                <a:ea typeface="Calibri" pitchFamily="34" charset="-122"/>
                <a:cs typeface="Calibri" pitchFamily="34" charset="-120"/>
              </a:rPr>
              <a:t>0–100 animated meter</a:t>
            </a:r>
            <a:endParaRPr lang="en-US" sz="1000" dirty="0"/>
          </a:p>
        </p:txBody>
      </p:sp>
      <p:sp>
        <p:nvSpPr>
          <p:cNvPr id="44" name="Text 42"/>
          <p:cNvSpPr/>
          <p:nvPr/>
        </p:nvSpPr>
        <p:spPr>
          <a:xfrm>
            <a:off x="4663440" y="4325112"/>
            <a:ext cx="1965960" cy="246888"/>
          </a:xfrm>
          <a:prstGeom prst="rect">
            <a:avLst/>
          </a:prstGeom>
          <a:noFill/>
          <a:ln/>
        </p:spPr>
        <p:txBody>
          <a:bodyPr wrap="square" rtlCol="0" anchor="ctr"/>
          <a:lstStyle/>
          <a:p>
            <a:pPr indent="0" marL="0">
              <a:buNone/>
            </a:pPr>
            <a:r>
              <a:rPr lang="en-US" sz="1100" b="1" dirty="0">
                <a:solidFill>
                  <a:srgbClr val="CADCFC"/>
                </a:solidFill>
                <a:latin typeface="Calibri" pitchFamily="34" charset="0"/>
                <a:ea typeface="Calibri" pitchFamily="34" charset="-122"/>
                <a:cs typeface="Calibri" pitchFamily="34" charset="-120"/>
              </a:rPr>
              <a:t>◈  Rule hits</a:t>
            </a:r>
            <a:endParaRPr lang="en-US" sz="1100" dirty="0"/>
          </a:p>
        </p:txBody>
      </p:sp>
      <p:sp>
        <p:nvSpPr>
          <p:cNvPr id="45" name="Text 43"/>
          <p:cNvSpPr/>
          <p:nvPr/>
        </p:nvSpPr>
        <p:spPr>
          <a:xfrm>
            <a:off x="4663440" y="4562856"/>
            <a:ext cx="1965960" cy="228600"/>
          </a:xfrm>
          <a:prstGeom prst="rect">
            <a:avLst/>
          </a:prstGeom>
          <a:noFill/>
          <a:ln/>
        </p:spPr>
        <p:txBody>
          <a:bodyPr wrap="square" rtlCol="0" anchor="ctr"/>
          <a:lstStyle/>
          <a:p>
            <a:pPr indent="0" marL="0">
              <a:buNone/>
            </a:pPr>
            <a:r>
              <a:rPr lang="en-US" sz="1000" dirty="0">
                <a:solidFill>
                  <a:srgbClr val="8096C4"/>
                </a:solidFill>
                <a:latin typeface="Calibri" pitchFamily="34" charset="0"/>
                <a:ea typeface="Calibri" pitchFamily="34" charset="-122"/>
                <a:cs typeface="Calibri" pitchFamily="34" charset="-120"/>
              </a:rPr>
              <a:t>category pills + evidence</a:t>
            </a:r>
            <a:endParaRPr lang="en-US" sz="1000" dirty="0"/>
          </a:p>
        </p:txBody>
      </p:sp>
      <p:sp>
        <p:nvSpPr>
          <p:cNvPr id="46" name="Text 44"/>
          <p:cNvSpPr/>
          <p:nvPr/>
        </p:nvSpPr>
        <p:spPr>
          <a:xfrm>
            <a:off x="6812280" y="4325112"/>
            <a:ext cx="1965960" cy="246888"/>
          </a:xfrm>
          <a:prstGeom prst="rect">
            <a:avLst/>
          </a:prstGeom>
          <a:noFill/>
          <a:ln/>
        </p:spPr>
        <p:txBody>
          <a:bodyPr wrap="square" rtlCol="0" anchor="ctr"/>
          <a:lstStyle/>
          <a:p>
            <a:pPr indent="0" marL="0">
              <a:buNone/>
            </a:pPr>
            <a:r>
              <a:rPr lang="en-US" sz="1100" b="1" dirty="0">
                <a:solidFill>
                  <a:srgbClr val="CADCFC"/>
                </a:solidFill>
                <a:latin typeface="Calibri" pitchFamily="34" charset="0"/>
                <a:ea typeface="Calibri" pitchFamily="34" charset="-122"/>
                <a:cs typeface="Calibri" pitchFamily="34" charset="-120"/>
              </a:rPr>
              <a:t>◎  Policy assist</a:t>
            </a:r>
            <a:endParaRPr lang="en-US" sz="1100" dirty="0"/>
          </a:p>
        </p:txBody>
      </p:sp>
      <p:sp>
        <p:nvSpPr>
          <p:cNvPr id="47" name="Text 45"/>
          <p:cNvSpPr/>
          <p:nvPr/>
        </p:nvSpPr>
        <p:spPr>
          <a:xfrm>
            <a:off x="6812280" y="4562856"/>
            <a:ext cx="1965960" cy="228600"/>
          </a:xfrm>
          <a:prstGeom prst="rect">
            <a:avLst/>
          </a:prstGeom>
          <a:noFill/>
          <a:ln/>
        </p:spPr>
        <p:txBody>
          <a:bodyPr wrap="square" rtlCol="0" anchor="ctr"/>
          <a:lstStyle/>
          <a:p>
            <a:pPr indent="0" marL="0">
              <a:buNone/>
            </a:pPr>
            <a:r>
              <a:rPr lang="en-US" sz="1000" dirty="0">
                <a:solidFill>
                  <a:srgbClr val="8096C4"/>
                </a:solidFill>
                <a:latin typeface="Calibri" pitchFamily="34" charset="0"/>
                <a:ea typeface="Calibri" pitchFamily="34" charset="-122"/>
                <a:cs typeface="Calibri" pitchFamily="34" charset="-120"/>
              </a:rPr>
              <a:t>vector/keyword badge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One Command, Five Containers</a:t>
            </a:r>
            <a:endParaRPr lang="en-US" sz="3200" dirty="0"/>
          </a:p>
        </p:txBody>
      </p:sp>
      <p:sp>
        <p:nvSpPr>
          <p:cNvPr id="3" name="Shape 1"/>
          <p:cNvSpPr/>
          <p:nvPr/>
        </p:nvSpPr>
        <p:spPr>
          <a:xfrm>
            <a:off x="365760" y="1005840"/>
            <a:ext cx="4023360" cy="2194560"/>
          </a:xfrm>
          <a:prstGeom prst="roundRect">
            <a:avLst>
              <a:gd name="adj" fmla="val 5000"/>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pic>
        <p:nvPicPr>
          <p:cNvPr id="4" name="Image 0" descr="preencoded.png">    </p:cNvPr>
          <p:cNvPicPr>
            <a:picLocks noChangeAspect="1"/>
          </p:cNvPicPr>
          <p:nvPr/>
        </p:nvPicPr>
        <p:blipFill>
          <a:blip r:embed="rId1"/>
          <a:stretch>
            <a:fillRect/>
          </a:stretch>
        </p:blipFill>
        <p:spPr>
          <a:xfrm>
            <a:off x="548640" y="1097280"/>
            <a:ext cx="411480" cy="411480"/>
          </a:xfrm>
          <a:prstGeom prst="rect">
            <a:avLst/>
          </a:prstGeom>
        </p:spPr>
      </p:pic>
      <p:sp>
        <p:nvSpPr>
          <p:cNvPr id="5" name="Text 2"/>
          <p:cNvSpPr/>
          <p:nvPr/>
        </p:nvSpPr>
        <p:spPr>
          <a:xfrm>
            <a:off x="1051560" y="1161288"/>
            <a:ext cx="3108960" cy="320040"/>
          </a:xfrm>
          <a:prstGeom prst="rect">
            <a:avLst/>
          </a:prstGeom>
          <a:noFill/>
          <a:ln/>
        </p:spPr>
        <p:txBody>
          <a:bodyPr wrap="square"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Startup Commands</a:t>
            </a:r>
            <a:endParaRPr lang="en-US" sz="1300" dirty="0"/>
          </a:p>
        </p:txBody>
      </p:sp>
      <p:sp>
        <p:nvSpPr>
          <p:cNvPr id="6" name="Text 3"/>
          <p:cNvSpPr/>
          <p:nvPr/>
        </p:nvSpPr>
        <p:spPr>
          <a:xfrm>
            <a:off x="594360" y="1600200"/>
            <a:ext cx="3611880" cy="384048"/>
          </a:xfrm>
          <a:prstGeom prst="rect">
            <a:avLst/>
          </a:prstGeom>
          <a:noFill/>
          <a:ln/>
        </p:spPr>
        <p:txBody>
          <a:bodyPr wrap="square" lIns="50800" tIns="50800" rIns="50800" bIns="50800" rtlCol="0" anchor="t"/>
          <a:lstStyle/>
          <a:p>
            <a:pPr algn="l" indent="0" marL="0">
              <a:buNone/>
            </a:pPr>
            <a:r>
              <a:rPr lang="en-US" sz="1200" dirty="0">
                <a:solidFill>
                  <a:srgbClr val="38BDF8"/>
                </a:solidFill>
                <a:latin typeface="Courier New" pitchFamily="34" charset="0"/>
                <a:ea typeface="Courier New" pitchFamily="34" charset="-122"/>
                <a:cs typeface="Courier New" pitchFamily="34" charset="-120"/>
              </a:rPr>
              <a:t>make up     # build + start all</a:t>
            </a:r>
            <a:endParaRPr lang="en-US" sz="1200" dirty="0"/>
          </a:p>
        </p:txBody>
      </p:sp>
      <p:sp>
        <p:nvSpPr>
          <p:cNvPr id="7" name="Text 4"/>
          <p:cNvSpPr/>
          <p:nvPr/>
        </p:nvSpPr>
        <p:spPr>
          <a:xfrm>
            <a:off x="594360" y="2075688"/>
            <a:ext cx="3611880" cy="384048"/>
          </a:xfrm>
          <a:prstGeom prst="rect">
            <a:avLst/>
          </a:prstGeom>
          <a:noFill/>
          <a:ln/>
        </p:spPr>
        <p:txBody>
          <a:bodyPr wrap="square" lIns="50800" tIns="50800" rIns="50800" bIns="50800" rtlCol="0" anchor="t"/>
          <a:lstStyle/>
          <a:p>
            <a:pPr algn="l" indent="0" marL="0">
              <a:buNone/>
            </a:pPr>
            <a:r>
              <a:rPr lang="en-US" sz="1200" dirty="0">
                <a:solidFill>
                  <a:srgbClr val="38BDF8"/>
                </a:solidFill>
                <a:latin typeface="Courier New" pitchFamily="34" charset="0"/>
                <a:ea typeface="Courier New" pitchFamily="34" charset="-122"/>
                <a:cs typeface="Courier New" pitchFamily="34" charset="-120"/>
              </a:rPr>
              <a:t>make health # verify endpoints</a:t>
            </a:r>
            <a:endParaRPr lang="en-US" sz="1200" dirty="0"/>
          </a:p>
        </p:txBody>
      </p:sp>
      <p:sp>
        <p:nvSpPr>
          <p:cNvPr id="8" name="Text 5"/>
          <p:cNvSpPr/>
          <p:nvPr/>
        </p:nvSpPr>
        <p:spPr>
          <a:xfrm>
            <a:off x="594360" y="2551176"/>
            <a:ext cx="3611880" cy="384048"/>
          </a:xfrm>
          <a:prstGeom prst="rect">
            <a:avLst/>
          </a:prstGeom>
          <a:noFill/>
          <a:ln/>
        </p:spPr>
        <p:txBody>
          <a:bodyPr wrap="square" lIns="50800" tIns="50800" rIns="50800" bIns="50800" rtlCol="0" anchor="t"/>
          <a:lstStyle/>
          <a:p>
            <a:pPr algn="l" indent="0" marL="0">
              <a:buNone/>
            </a:pPr>
            <a:r>
              <a:rPr lang="en-US" sz="1200" dirty="0">
                <a:solidFill>
                  <a:srgbClr val="38BDF8"/>
                </a:solidFill>
                <a:latin typeface="Courier New" pitchFamily="34" charset="0"/>
                <a:ea typeface="Courier New" pitchFamily="34" charset="-122"/>
                <a:cs typeface="Courier New" pitchFamily="34" charset="-120"/>
              </a:rPr>
              <a:t>make ps     # show container status</a:t>
            </a:r>
            <a:endParaRPr lang="en-US" sz="1200" dirty="0"/>
          </a:p>
        </p:txBody>
      </p:sp>
      <p:sp>
        <p:nvSpPr>
          <p:cNvPr id="9" name="Shape 6"/>
          <p:cNvSpPr/>
          <p:nvPr/>
        </p:nvSpPr>
        <p:spPr>
          <a:xfrm>
            <a:off x="365760" y="3291840"/>
            <a:ext cx="4023360" cy="1508760"/>
          </a:xfrm>
          <a:prstGeom prst="roundRect">
            <a:avLst>
              <a:gd name="adj" fmla="val 7273"/>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10" name="Text 7"/>
          <p:cNvSpPr/>
          <p:nvPr/>
        </p:nvSpPr>
        <p:spPr>
          <a:xfrm>
            <a:off x="594360" y="3364992"/>
            <a:ext cx="3566160" cy="301752"/>
          </a:xfrm>
          <a:prstGeom prst="rect">
            <a:avLst/>
          </a:prstGeom>
          <a:noFill/>
          <a:ln/>
        </p:spPr>
        <p:txBody>
          <a:bodyPr wrap="square" rtlCol="0" anchor="ctr"/>
          <a:lstStyle/>
          <a:p>
            <a:pPr indent="0" marL="0">
              <a:buNone/>
            </a:pPr>
            <a:r>
              <a:rPr lang="en-US" sz="1200" b="1" dirty="0">
                <a:solidFill>
                  <a:srgbClr val="CADCFC"/>
                </a:solidFill>
                <a:latin typeface="Calibri" pitchFamily="34" charset="0"/>
                <a:ea typeface="Calibri" pitchFamily="34" charset="-122"/>
                <a:cs typeface="Calibri" pitchFamily="34" charset="-120"/>
              </a:rPr>
              <a:t>Startup Dependency Order</a:t>
            </a:r>
            <a:endParaRPr lang="en-US" sz="1200" dirty="0"/>
          </a:p>
        </p:txBody>
      </p:sp>
      <p:sp>
        <p:nvSpPr>
          <p:cNvPr id="11" name="Text 8"/>
          <p:cNvSpPr/>
          <p:nvPr/>
        </p:nvSpPr>
        <p:spPr>
          <a:xfrm>
            <a:off x="594360" y="3730752"/>
            <a:ext cx="3566160" cy="320040"/>
          </a:xfrm>
          <a:prstGeom prst="rect">
            <a:avLst/>
          </a:prstGeom>
          <a:noFill/>
          <a:ln/>
        </p:spPr>
        <p:txBody>
          <a:bodyPr wrap="square" lIns="50800" tIns="50800" rIns="50800" bIns="50800" rtlCol="0" anchor="t"/>
          <a:lstStyle/>
          <a:p>
            <a:pPr algn="l" indent="0" marL="0">
              <a:buNone/>
            </a:pPr>
            <a:r>
              <a:rPr lang="en-US" sz="1050" dirty="0">
                <a:solidFill>
                  <a:srgbClr val="38BDF8"/>
                </a:solidFill>
                <a:latin typeface="Courier New" pitchFamily="34" charset="0"/>
                <a:ea typeface="Courier New" pitchFamily="34" charset="-122"/>
                <a:cs typeface="Courier New" pitchFamily="34" charset="-120"/>
              </a:rPr>
              <a:t>pg-postgres  →  pg-redis  →  pg-core-api  →  pg-ai-service  →  pg-frontend</a:t>
            </a:r>
            <a:endParaRPr lang="en-US" sz="1050" dirty="0"/>
          </a:p>
        </p:txBody>
      </p:sp>
      <p:sp>
        <p:nvSpPr>
          <p:cNvPr id="12" name="Text 9"/>
          <p:cNvSpPr/>
          <p:nvPr/>
        </p:nvSpPr>
        <p:spPr>
          <a:xfrm>
            <a:off x="594360" y="4096512"/>
            <a:ext cx="3566160" cy="256032"/>
          </a:xfrm>
          <a:prstGeom prst="rect">
            <a:avLst/>
          </a:prstGeom>
          <a:noFill/>
          <a:ln/>
        </p:spPr>
        <p:txBody>
          <a:bodyPr wrap="square" rtlCol="0" anchor="ctr"/>
          <a:lstStyle/>
          <a:p>
            <a:pPr indent="0" marL="0">
              <a:buNone/>
            </a:pPr>
            <a:r>
              <a:rPr lang="en-US" sz="1000" i="1" dirty="0">
                <a:solidFill>
                  <a:srgbClr val="8096C4"/>
                </a:solidFill>
                <a:latin typeface="Calibri" pitchFamily="34" charset="0"/>
                <a:ea typeface="Calibri" pitchFamily="34" charset="-122"/>
                <a:cs typeface="Calibri" pitchFamily="34" charset="-120"/>
              </a:rPr>
              <a:t>healthcheck conditions — API services wait for DB ready</a:t>
            </a:r>
            <a:endParaRPr lang="en-US" sz="1000" dirty="0"/>
          </a:p>
        </p:txBody>
      </p:sp>
      <p:sp>
        <p:nvSpPr>
          <p:cNvPr id="13" name="Shape 10"/>
          <p:cNvSpPr/>
          <p:nvPr/>
        </p:nvSpPr>
        <p:spPr>
          <a:xfrm>
            <a:off x="4617720" y="1005840"/>
            <a:ext cx="4160520" cy="2194560"/>
          </a:xfrm>
          <a:prstGeom prst="roundRect">
            <a:avLst>
              <a:gd name="adj" fmla="val 5000"/>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14" name="Text 11"/>
          <p:cNvSpPr/>
          <p:nvPr/>
        </p:nvSpPr>
        <p:spPr>
          <a:xfrm>
            <a:off x="4800600" y="1078992"/>
            <a:ext cx="3749040" cy="301752"/>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Makefile Targets</a:t>
            </a:r>
            <a:endParaRPr lang="en-US" sz="1300" dirty="0"/>
          </a:p>
        </p:txBody>
      </p:sp>
      <p:sp>
        <p:nvSpPr>
          <p:cNvPr id="15" name="Text 12"/>
          <p:cNvSpPr/>
          <p:nvPr/>
        </p:nvSpPr>
        <p:spPr>
          <a:xfrm>
            <a:off x="4800600" y="1444752"/>
            <a:ext cx="1005840" cy="237744"/>
          </a:xfrm>
          <a:prstGeom prst="rect">
            <a:avLst/>
          </a:prstGeom>
          <a:noFill/>
          <a:ln/>
        </p:spPr>
        <p:txBody>
          <a:bodyPr wrap="square" lIns="50800" tIns="50800" rIns="50800" bIns="50800" rtlCol="0" anchor="t"/>
          <a:lstStyle/>
          <a:p>
            <a:pPr algn="l" indent="0" marL="0">
              <a:buNone/>
            </a:pPr>
            <a:r>
              <a:rPr lang="en-US" sz="1050" dirty="0">
                <a:solidFill>
                  <a:srgbClr val="38BDF8"/>
                </a:solidFill>
                <a:latin typeface="Courier New" pitchFamily="34" charset="0"/>
                <a:ea typeface="Courier New" pitchFamily="34" charset="-122"/>
                <a:cs typeface="Courier New" pitchFamily="34" charset="-120"/>
              </a:rPr>
              <a:t>up</a:t>
            </a:r>
            <a:endParaRPr lang="en-US" sz="1050" dirty="0"/>
          </a:p>
        </p:txBody>
      </p:sp>
      <p:sp>
        <p:nvSpPr>
          <p:cNvPr id="16" name="Text 13"/>
          <p:cNvSpPr/>
          <p:nvPr/>
        </p:nvSpPr>
        <p:spPr>
          <a:xfrm>
            <a:off x="5897880" y="1444752"/>
            <a:ext cx="2651760" cy="237744"/>
          </a:xfrm>
          <a:prstGeom prst="rect">
            <a:avLst/>
          </a:prstGeom>
          <a:noFill/>
          <a:ln/>
        </p:spPr>
        <p:txBody>
          <a:bodyPr wrap="square" lIns="50800" tIns="50800" rIns="50800" bIns="50800" rtlCol="0" anchor="t"/>
          <a:lstStyle/>
          <a:p>
            <a:pPr algn="l" indent="0" marL="0">
              <a:buNone/>
            </a:pPr>
            <a:r>
              <a:rPr lang="en-US" sz="1050" dirty="0">
                <a:solidFill>
                  <a:srgbClr val="E8EDF8"/>
                </a:solidFill>
                <a:latin typeface="Calibri" pitchFamily="34" charset="0"/>
                <a:ea typeface="Calibri" pitchFamily="34" charset="-122"/>
                <a:cs typeface="Calibri" pitchFamily="34" charset="-120"/>
              </a:rPr>
              <a:t>Build + start (background)</a:t>
            </a:r>
            <a:endParaRPr lang="en-US" sz="1050" dirty="0"/>
          </a:p>
        </p:txBody>
      </p:sp>
      <p:sp>
        <p:nvSpPr>
          <p:cNvPr id="17" name="Text 14"/>
          <p:cNvSpPr/>
          <p:nvPr/>
        </p:nvSpPr>
        <p:spPr>
          <a:xfrm>
            <a:off x="4800600" y="1709928"/>
            <a:ext cx="1005840" cy="237744"/>
          </a:xfrm>
          <a:prstGeom prst="rect">
            <a:avLst/>
          </a:prstGeom>
          <a:noFill/>
          <a:ln/>
        </p:spPr>
        <p:txBody>
          <a:bodyPr wrap="square" lIns="50800" tIns="50800" rIns="50800" bIns="50800" rtlCol="0" anchor="t"/>
          <a:lstStyle/>
          <a:p>
            <a:pPr algn="l" indent="0" marL="0">
              <a:buNone/>
            </a:pPr>
            <a:r>
              <a:rPr lang="en-US" sz="1050" dirty="0">
                <a:solidFill>
                  <a:srgbClr val="38BDF8"/>
                </a:solidFill>
                <a:latin typeface="Courier New" pitchFamily="34" charset="0"/>
                <a:ea typeface="Courier New" pitchFamily="34" charset="-122"/>
                <a:cs typeface="Courier New" pitchFamily="34" charset="-120"/>
              </a:rPr>
              <a:t>down</a:t>
            </a:r>
            <a:endParaRPr lang="en-US" sz="1050" dirty="0"/>
          </a:p>
        </p:txBody>
      </p:sp>
      <p:sp>
        <p:nvSpPr>
          <p:cNvPr id="18" name="Text 15"/>
          <p:cNvSpPr/>
          <p:nvPr/>
        </p:nvSpPr>
        <p:spPr>
          <a:xfrm>
            <a:off x="5897880" y="1709928"/>
            <a:ext cx="2651760" cy="237744"/>
          </a:xfrm>
          <a:prstGeom prst="rect">
            <a:avLst/>
          </a:prstGeom>
          <a:noFill/>
          <a:ln/>
        </p:spPr>
        <p:txBody>
          <a:bodyPr wrap="square" lIns="50800" tIns="50800" rIns="50800" bIns="50800" rtlCol="0" anchor="t"/>
          <a:lstStyle/>
          <a:p>
            <a:pPr algn="l" indent="0" marL="0">
              <a:buNone/>
            </a:pPr>
            <a:r>
              <a:rPr lang="en-US" sz="1050" dirty="0">
                <a:solidFill>
                  <a:srgbClr val="E8EDF8"/>
                </a:solidFill>
                <a:latin typeface="Calibri" pitchFamily="34" charset="0"/>
                <a:ea typeface="Calibri" pitchFamily="34" charset="-122"/>
                <a:cs typeface="Calibri" pitchFamily="34" charset="-120"/>
              </a:rPr>
              <a:t>Stop, keep volumes</a:t>
            </a:r>
            <a:endParaRPr lang="en-US" sz="1050" dirty="0"/>
          </a:p>
        </p:txBody>
      </p:sp>
      <p:sp>
        <p:nvSpPr>
          <p:cNvPr id="19" name="Text 16"/>
          <p:cNvSpPr/>
          <p:nvPr/>
        </p:nvSpPr>
        <p:spPr>
          <a:xfrm>
            <a:off x="4800600" y="1975104"/>
            <a:ext cx="1005840" cy="237744"/>
          </a:xfrm>
          <a:prstGeom prst="rect">
            <a:avLst/>
          </a:prstGeom>
          <a:noFill/>
          <a:ln/>
        </p:spPr>
        <p:txBody>
          <a:bodyPr wrap="square" lIns="50800" tIns="50800" rIns="50800" bIns="50800" rtlCol="0" anchor="t"/>
          <a:lstStyle/>
          <a:p>
            <a:pPr algn="l" indent="0" marL="0">
              <a:buNone/>
            </a:pPr>
            <a:r>
              <a:rPr lang="en-US" sz="1050" dirty="0">
                <a:solidFill>
                  <a:srgbClr val="38BDF8"/>
                </a:solidFill>
                <a:latin typeface="Courier New" pitchFamily="34" charset="0"/>
                <a:ea typeface="Courier New" pitchFamily="34" charset="-122"/>
                <a:cs typeface="Courier New" pitchFamily="34" charset="-120"/>
              </a:rPr>
              <a:t>clean</a:t>
            </a:r>
            <a:endParaRPr lang="en-US" sz="1050" dirty="0"/>
          </a:p>
        </p:txBody>
      </p:sp>
      <p:sp>
        <p:nvSpPr>
          <p:cNvPr id="20" name="Text 17"/>
          <p:cNvSpPr/>
          <p:nvPr/>
        </p:nvSpPr>
        <p:spPr>
          <a:xfrm>
            <a:off x="5897880" y="1975104"/>
            <a:ext cx="2651760" cy="237744"/>
          </a:xfrm>
          <a:prstGeom prst="rect">
            <a:avLst/>
          </a:prstGeom>
          <a:noFill/>
          <a:ln/>
        </p:spPr>
        <p:txBody>
          <a:bodyPr wrap="square" lIns="50800" tIns="50800" rIns="50800" bIns="50800" rtlCol="0" anchor="t"/>
          <a:lstStyle/>
          <a:p>
            <a:pPr algn="l" indent="0" marL="0">
              <a:buNone/>
            </a:pPr>
            <a:r>
              <a:rPr lang="en-US" sz="1050" dirty="0">
                <a:solidFill>
                  <a:srgbClr val="E8EDF8"/>
                </a:solidFill>
                <a:latin typeface="Calibri" pitchFamily="34" charset="0"/>
                <a:ea typeface="Calibri" pitchFamily="34" charset="-122"/>
                <a:cs typeface="Calibri" pitchFamily="34" charset="-120"/>
              </a:rPr>
              <a:t>Stop + delete volumes</a:t>
            </a:r>
            <a:endParaRPr lang="en-US" sz="1050" dirty="0"/>
          </a:p>
        </p:txBody>
      </p:sp>
      <p:sp>
        <p:nvSpPr>
          <p:cNvPr id="21" name="Text 18"/>
          <p:cNvSpPr/>
          <p:nvPr/>
        </p:nvSpPr>
        <p:spPr>
          <a:xfrm>
            <a:off x="4800600" y="2240280"/>
            <a:ext cx="1005840" cy="237744"/>
          </a:xfrm>
          <a:prstGeom prst="rect">
            <a:avLst/>
          </a:prstGeom>
          <a:noFill/>
          <a:ln/>
        </p:spPr>
        <p:txBody>
          <a:bodyPr wrap="square" lIns="50800" tIns="50800" rIns="50800" bIns="50800" rtlCol="0" anchor="t"/>
          <a:lstStyle/>
          <a:p>
            <a:pPr algn="l" indent="0" marL="0">
              <a:buNone/>
            </a:pPr>
            <a:r>
              <a:rPr lang="en-US" sz="1050" dirty="0">
                <a:solidFill>
                  <a:srgbClr val="38BDF8"/>
                </a:solidFill>
                <a:latin typeface="Courier New" pitchFamily="34" charset="0"/>
                <a:ea typeface="Courier New" pitchFamily="34" charset="-122"/>
                <a:cs typeface="Courier New" pitchFamily="34" charset="-120"/>
              </a:rPr>
              <a:t>health</a:t>
            </a:r>
            <a:endParaRPr lang="en-US" sz="1050" dirty="0"/>
          </a:p>
        </p:txBody>
      </p:sp>
      <p:sp>
        <p:nvSpPr>
          <p:cNvPr id="22" name="Text 19"/>
          <p:cNvSpPr/>
          <p:nvPr/>
        </p:nvSpPr>
        <p:spPr>
          <a:xfrm>
            <a:off x="5897880" y="2240280"/>
            <a:ext cx="2651760" cy="237744"/>
          </a:xfrm>
          <a:prstGeom prst="rect">
            <a:avLst/>
          </a:prstGeom>
          <a:noFill/>
          <a:ln/>
        </p:spPr>
        <p:txBody>
          <a:bodyPr wrap="square" lIns="50800" tIns="50800" rIns="50800" bIns="50800" rtlCol="0" anchor="t"/>
          <a:lstStyle/>
          <a:p>
            <a:pPr algn="l" indent="0" marL="0">
              <a:buNone/>
            </a:pPr>
            <a:r>
              <a:rPr lang="en-US" sz="1050" dirty="0">
                <a:solidFill>
                  <a:srgbClr val="E8EDF8"/>
                </a:solidFill>
                <a:latin typeface="Calibri" pitchFamily="34" charset="0"/>
                <a:ea typeface="Calibri" pitchFamily="34" charset="-122"/>
                <a:cs typeface="Calibri" pitchFamily="34" charset="-120"/>
              </a:rPr>
              <a:t>Curl each /healthz</a:t>
            </a:r>
            <a:endParaRPr lang="en-US" sz="1050" dirty="0"/>
          </a:p>
        </p:txBody>
      </p:sp>
      <p:sp>
        <p:nvSpPr>
          <p:cNvPr id="23" name="Text 20"/>
          <p:cNvSpPr/>
          <p:nvPr/>
        </p:nvSpPr>
        <p:spPr>
          <a:xfrm>
            <a:off x="4800600" y="2505456"/>
            <a:ext cx="1005840" cy="237744"/>
          </a:xfrm>
          <a:prstGeom prst="rect">
            <a:avLst/>
          </a:prstGeom>
          <a:noFill/>
          <a:ln/>
        </p:spPr>
        <p:txBody>
          <a:bodyPr wrap="square" lIns="50800" tIns="50800" rIns="50800" bIns="50800" rtlCol="0" anchor="t"/>
          <a:lstStyle/>
          <a:p>
            <a:pPr algn="l" indent="0" marL="0">
              <a:buNone/>
            </a:pPr>
            <a:r>
              <a:rPr lang="en-US" sz="1050" dirty="0">
                <a:solidFill>
                  <a:srgbClr val="38BDF8"/>
                </a:solidFill>
                <a:latin typeface="Courier New" pitchFamily="34" charset="0"/>
                <a:ea typeface="Courier New" pitchFamily="34" charset="-122"/>
                <a:cs typeface="Courier New" pitchFamily="34" charset="-120"/>
              </a:rPr>
              <a:t>logs</a:t>
            </a:r>
            <a:endParaRPr lang="en-US" sz="1050" dirty="0"/>
          </a:p>
        </p:txBody>
      </p:sp>
      <p:sp>
        <p:nvSpPr>
          <p:cNvPr id="24" name="Text 21"/>
          <p:cNvSpPr/>
          <p:nvPr/>
        </p:nvSpPr>
        <p:spPr>
          <a:xfrm>
            <a:off x="5897880" y="2505456"/>
            <a:ext cx="2651760" cy="237744"/>
          </a:xfrm>
          <a:prstGeom prst="rect">
            <a:avLst/>
          </a:prstGeom>
          <a:noFill/>
          <a:ln/>
        </p:spPr>
        <p:txBody>
          <a:bodyPr wrap="square" lIns="50800" tIns="50800" rIns="50800" bIns="50800" rtlCol="0" anchor="t"/>
          <a:lstStyle/>
          <a:p>
            <a:pPr algn="l" indent="0" marL="0">
              <a:buNone/>
            </a:pPr>
            <a:r>
              <a:rPr lang="en-US" sz="1050" dirty="0">
                <a:solidFill>
                  <a:srgbClr val="E8EDF8"/>
                </a:solidFill>
                <a:latin typeface="Calibri" pitchFamily="34" charset="0"/>
                <a:ea typeface="Calibri" pitchFamily="34" charset="-122"/>
                <a:cs typeface="Calibri" pitchFamily="34" charset="-120"/>
              </a:rPr>
              <a:t>Tail all containers</a:t>
            </a:r>
            <a:endParaRPr lang="en-US" sz="1050" dirty="0"/>
          </a:p>
        </p:txBody>
      </p:sp>
      <p:sp>
        <p:nvSpPr>
          <p:cNvPr id="25" name="Text 22"/>
          <p:cNvSpPr/>
          <p:nvPr/>
        </p:nvSpPr>
        <p:spPr>
          <a:xfrm>
            <a:off x="4800600" y="2770632"/>
            <a:ext cx="1005840" cy="237744"/>
          </a:xfrm>
          <a:prstGeom prst="rect">
            <a:avLst/>
          </a:prstGeom>
          <a:noFill/>
          <a:ln/>
        </p:spPr>
        <p:txBody>
          <a:bodyPr wrap="square" lIns="50800" tIns="50800" rIns="50800" bIns="50800" rtlCol="0" anchor="t"/>
          <a:lstStyle/>
          <a:p>
            <a:pPr algn="l" indent="0" marL="0">
              <a:buNone/>
            </a:pPr>
            <a:r>
              <a:rPr lang="en-US" sz="1050" dirty="0">
                <a:solidFill>
                  <a:srgbClr val="38BDF8"/>
                </a:solidFill>
                <a:latin typeface="Courier New" pitchFamily="34" charset="0"/>
                <a:ea typeface="Courier New" pitchFamily="34" charset="-122"/>
                <a:cs typeface="Courier New" pitchFamily="34" charset="-120"/>
              </a:rPr>
              <a:t>shell-core</a:t>
            </a:r>
            <a:endParaRPr lang="en-US" sz="1050" dirty="0"/>
          </a:p>
        </p:txBody>
      </p:sp>
      <p:sp>
        <p:nvSpPr>
          <p:cNvPr id="26" name="Text 23"/>
          <p:cNvSpPr/>
          <p:nvPr/>
        </p:nvSpPr>
        <p:spPr>
          <a:xfrm>
            <a:off x="5897880" y="2770632"/>
            <a:ext cx="2651760" cy="237744"/>
          </a:xfrm>
          <a:prstGeom prst="rect">
            <a:avLst/>
          </a:prstGeom>
          <a:noFill/>
          <a:ln/>
        </p:spPr>
        <p:txBody>
          <a:bodyPr wrap="square" lIns="50800" tIns="50800" rIns="50800" bIns="50800" rtlCol="0" anchor="t"/>
          <a:lstStyle/>
          <a:p>
            <a:pPr algn="l" indent="0" marL="0">
              <a:buNone/>
            </a:pPr>
            <a:r>
              <a:rPr lang="en-US" sz="1050" dirty="0">
                <a:solidFill>
                  <a:srgbClr val="E8EDF8"/>
                </a:solidFill>
                <a:latin typeface="Calibri" pitchFamily="34" charset="0"/>
                <a:ea typeface="Calibri" pitchFamily="34" charset="-122"/>
                <a:cs typeface="Calibri" pitchFamily="34" charset="-120"/>
              </a:rPr>
              <a:t>bash inside core-api</a:t>
            </a:r>
            <a:endParaRPr lang="en-US" sz="1050" dirty="0"/>
          </a:p>
        </p:txBody>
      </p:sp>
      <p:sp>
        <p:nvSpPr>
          <p:cNvPr id="27" name="Shape 24"/>
          <p:cNvSpPr/>
          <p:nvPr/>
        </p:nvSpPr>
        <p:spPr>
          <a:xfrm>
            <a:off x="4617720" y="3291840"/>
            <a:ext cx="4160520" cy="1508760"/>
          </a:xfrm>
          <a:prstGeom prst="roundRect">
            <a:avLst>
              <a:gd name="adj" fmla="val 7273"/>
            </a:avLst>
          </a:prstGeom>
          <a:solidFill>
            <a:srgbClr val="253080"/>
          </a:solidFill>
          <a:ln w="12700">
            <a:solidFill>
              <a:srgbClr val="F59E0B"/>
            </a:solidFill>
            <a:prstDash val="solid"/>
          </a:ln>
          <a:effectLst>
            <a:outerShdw sx="100000" sy="100000" kx="0" ky="0" algn="bl" rotWithShape="0" blurRad="101600" dist="38100" dir="2700000">
              <a:srgbClr val="000000">
                <a:alpha val="30000"/>
              </a:srgbClr>
            </a:outerShdw>
          </a:effectLst>
        </p:spPr>
      </p:sp>
      <p:sp>
        <p:nvSpPr>
          <p:cNvPr id="28" name="Text 25"/>
          <p:cNvSpPr/>
          <p:nvPr/>
        </p:nvSpPr>
        <p:spPr>
          <a:xfrm>
            <a:off x="4800600" y="3364992"/>
            <a:ext cx="3749040" cy="301752"/>
          </a:xfrm>
          <a:prstGeom prst="rect">
            <a:avLst/>
          </a:prstGeom>
          <a:noFill/>
          <a:ln/>
        </p:spPr>
        <p:txBody>
          <a:bodyPr wrap="square"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Production Target</a:t>
            </a:r>
            <a:endParaRPr lang="en-US" sz="1200" dirty="0"/>
          </a:p>
        </p:txBody>
      </p:sp>
      <p:sp>
        <p:nvSpPr>
          <p:cNvPr id="29" name="Text 26"/>
          <p:cNvSpPr/>
          <p:nvPr/>
        </p:nvSpPr>
        <p:spPr>
          <a:xfrm>
            <a:off x="4800600" y="3712464"/>
            <a:ext cx="3749040" cy="822960"/>
          </a:xfrm>
          <a:prstGeom prst="rect">
            <a:avLst/>
          </a:prstGeom>
          <a:noFill/>
          <a:ln/>
        </p:spPr>
        <p:txBody>
          <a:bodyPr wrap="square" rtlCol="0" anchor="ctr"/>
          <a:lstStyle/>
          <a:p>
            <a:pPr indent="0" marL="0">
              <a:buNone/>
            </a:pPr>
            <a:r>
              <a:rPr lang="en-US" sz="1200" dirty="0">
                <a:solidFill>
                  <a:srgbClr val="E8EDF8"/>
                </a:solidFill>
                <a:latin typeface="Calibri" pitchFamily="34" charset="0"/>
                <a:ea typeface="Calibri" pitchFamily="34" charset="-122"/>
                <a:cs typeface="Calibri" pitchFamily="34" charset="-120"/>
              </a:rPr>
              <a:t>Kubernetes (AKS)  ·  ADR-005</a:t>
            </a:r>
            <a:endParaRPr lang="en-US" sz="1200" dirty="0"/>
          </a:p>
          <a:p>
            <a:pPr indent="0" marL="0">
              <a:buNone/>
            </a:pPr>
            <a:r>
              <a:rPr lang="en-US" sz="1200" dirty="0">
                <a:solidFill>
                  <a:srgbClr val="E8EDF8"/>
                </a:solidFill>
                <a:latin typeface="Calibri" pitchFamily="34" charset="0"/>
                <a:ea typeface="Calibri" pitchFamily="34" charset="-122"/>
                <a:cs typeface="Calibri" pitchFamily="34" charset="-120"/>
              </a:rPr>
              <a:t>Active-active: Central India + South India</a:t>
            </a:r>
            <a:endParaRPr lang="en-US" sz="1200" dirty="0"/>
          </a:p>
          <a:p>
            <a:pPr indent="0" marL="0">
              <a:buNone/>
            </a:pPr>
            <a:r>
              <a:rPr lang="en-US" sz="1200" dirty="0">
                <a:solidFill>
                  <a:srgbClr val="E8EDF8"/>
                </a:solidFill>
                <a:latin typeface="Calibri" pitchFamily="34" charset="0"/>
                <a:ea typeface="Calibri" pitchFamily="34" charset="-122"/>
                <a:cs typeface="Calibri" pitchFamily="34" charset="-120"/>
              </a:rPr>
              <a:t>HPA + KEDA  ·  Istio mTLS  ·  14 services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What We Measured</a:t>
            </a:r>
            <a:endParaRPr lang="en-US" sz="3200" dirty="0"/>
          </a:p>
        </p:txBody>
      </p:sp>
      <p:sp>
        <p:nvSpPr>
          <p:cNvPr id="3" name="Shape 1"/>
          <p:cNvSpPr/>
          <p:nvPr/>
        </p:nvSpPr>
        <p:spPr>
          <a:xfrm>
            <a:off x="365760" y="987552"/>
            <a:ext cx="2029968" cy="1024128"/>
          </a:xfrm>
          <a:prstGeom prst="roundRect">
            <a:avLst>
              <a:gd name="adj" fmla="val 8929"/>
            </a:avLst>
          </a:prstGeom>
          <a:solidFill>
            <a:srgbClr val="253080"/>
          </a:solidFill>
          <a:ln w="12700">
            <a:solidFill>
              <a:srgbClr val="2E3F9E"/>
            </a:solidFill>
            <a:prstDash val="solid"/>
          </a:ln>
        </p:spPr>
      </p:sp>
      <p:sp>
        <p:nvSpPr>
          <p:cNvPr id="4" name="Text 2"/>
          <p:cNvSpPr/>
          <p:nvPr/>
        </p:nvSpPr>
        <p:spPr>
          <a:xfrm>
            <a:off x="365760" y="1033272"/>
            <a:ext cx="2029968" cy="502920"/>
          </a:xfrm>
          <a:prstGeom prst="rect">
            <a:avLst/>
          </a:prstGeom>
          <a:noFill/>
          <a:ln/>
        </p:spPr>
        <p:txBody>
          <a:bodyPr wrap="square" rtlCol="0" anchor="ctr"/>
          <a:lstStyle/>
          <a:p>
            <a:pPr algn="ctr" indent="0" marL="0">
              <a:buNone/>
            </a:pPr>
            <a:r>
              <a:rPr lang="en-US" sz="2800" b="1" dirty="0">
                <a:solidFill>
                  <a:srgbClr val="CADCFC"/>
                </a:solidFill>
                <a:latin typeface="Calibri" pitchFamily="34" charset="0"/>
                <a:ea typeface="Calibri" pitchFamily="34" charset="-122"/>
                <a:cs typeface="Calibri" pitchFamily="34" charset="-120"/>
              </a:rPr>
              <a:t>10,045</a:t>
            </a:r>
            <a:endParaRPr lang="en-US" sz="2800" dirty="0"/>
          </a:p>
        </p:txBody>
      </p:sp>
      <p:sp>
        <p:nvSpPr>
          <p:cNvPr id="5" name="Text 3"/>
          <p:cNvSpPr/>
          <p:nvPr/>
        </p:nvSpPr>
        <p:spPr>
          <a:xfrm>
            <a:off x="365760" y="1517904"/>
            <a:ext cx="2029968" cy="420624"/>
          </a:xfrm>
          <a:prstGeom prst="rect">
            <a:avLst/>
          </a:prstGeom>
          <a:noFill/>
          <a:ln/>
        </p:spPr>
        <p:txBody>
          <a:bodyPr wrap="square" rtlCol="0" anchor="ctr"/>
          <a:lstStyle/>
          <a:p>
            <a:pPr algn="ctr" indent="0" marL="0">
              <a:buNone/>
            </a:pPr>
            <a:r>
              <a:rPr lang="en-US" sz="1000" dirty="0">
                <a:solidFill>
                  <a:srgbClr val="8096C4"/>
                </a:solidFill>
                <a:latin typeface="Calibri" pitchFamily="34" charset="0"/>
                <a:ea typeface="Calibri" pitchFamily="34" charset="-122"/>
                <a:cs typeface="Calibri" pitchFamily="34" charset="-120"/>
              </a:rPr>
              <a:t>transactions</a:t>
            </a:r>
            <a:endParaRPr lang="en-US" sz="1000" dirty="0"/>
          </a:p>
          <a:p>
            <a:pPr algn="ctr" indent="0" marL="0">
              <a:buNone/>
            </a:pPr>
            <a:r>
              <a:rPr lang="en-US" sz="1000" dirty="0">
                <a:solidFill>
                  <a:srgbClr val="8096C4"/>
                </a:solidFill>
                <a:latin typeface="Calibri" pitchFamily="34" charset="0"/>
                <a:ea typeface="Calibri" pitchFamily="34" charset="-122"/>
                <a:cs typeface="Calibri" pitchFamily="34" charset="-120"/>
              </a:rPr>
              <a:t>seeded</a:t>
            </a:r>
            <a:endParaRPr lang="en-US" sz="1000" dirty="0"/>
          </a:p>
        </p:txBody>
      </p:sp>
      <p:sp>
        <p:nvSpPr>
          <p:cNvPr id="6" name="Shape 4"/>
          <p:cNvSpPr/>
          <p:nvPr/>
        </p:nvSpPr>
        <p:spPr>
          <a:xfrm>
            <a:off x="2514600" y="987552"/>
            <a:ext cx="2029968" cy="1024128"/>
          </a:xfrm>
          <a:prstGeom prst="roundRect">
            <a:avLst>
              <a:gd name="adj" fmla="val 8929"/>
            </a:avLst>
          </a:prstGeom>
          <a:solidFill>
            <a:srgbClr val="253080"/>
          </a:solidFill>
          <a:ln w="12700">
            <a:solidFill>
              <a:srgbClr val="2E3F9E"/>
            </a:solidFill>
            <a:prstDash val="solid"/>
          </a:ln>
        </p:spPr>
      </p:sp>
      <p:sp>
        <p:nvSpPr>
          <p:cNvPr id="7" name="Text 5"/>
          <p:cNvSpPr/>
          <p:nvPr/>
        </p:nvSpPr>
        <p:spPr>
          <a:xfrm>
            <a:off x="2514600" y="1033272"/>
            <a:ext cx="2029968" cy="502920"/>
          </a:xfrm>
          <a:prstGeom prst="rect">
            <a:avLst/>
          </a:prstGeom>
          <a:noFill/>
          <a:ln/>
        </p:spPr>
        <p:txBody>
          <a:bodyPr wrap="square" rtlCol="0" anchor="ctr"/>
          <a:lstStyle/>
          <a:p>
            <a:pPr algn="ctr" indent="0" marL="0">
              <a:buNone/>
            </a:pPr>
            <a:r>
              <a:rPr lang="en-US" sz="2800" b="1" dirty="0">
                <a:solidFill>
                  <a:srgbClr val="CADCFC"/>
                </a:solidFill>
                <a:latin typeface="Calibri" pitchFamily="34" charset="0"/>
                <a:ea typeface="Calibri" pitchFamily="34" charset="-122"/>
                <a:cs typeface="Calibri" pitchFamily="34" charset="-120"/>
              </a:rPr>
              <a:t>0</a:t>
            </a:r>
            <a:endParaRPr lang="en-US" sz="2800" dirty="0"/>
          </a:p>
        </p:txBody>
      </p:sp>
      <p:sp>
        <p:nvSpPr>
          <p:cNvPr id="8" name="Text 6"/>
          <p:cNvSpPr/>
          <p:nvPr/>
        </p:nvSpPr>
        <p:spPr>
          <a:xfrm>
            <a:off x="2514600" y="1517904"/>
            <a:ext cx="2029968" cy="420624"/>
          </a:xfrm>
          <a:prstGeom prst="rect">
            <a:avLst/>
          </a:prstGeom>
          <a:noFill/>
          <a:ln/>
        </p:spPr>
        <p:txBody>
          <a:bodyPr wrap="square" rtlCol="0" anchor="ctr"/>
          <a:lstStyle/>
          <a:p>
            <a:pPr algn="ctr" indent="0" marL="0">
              <a:buNone/>
            </a:pPr>
            <a:r>
              <a:rPr lang="en-US" sz="1000" dirty="0">
                <a:solidFill>
                  <a:srgbClr val="8096C4"/>
                </a:solidFill>
                <a:latin typeface="Calibri" pitchFamily="34" charset="0"/>
                <a:ea typeface="Calibri" pitchFamily="34" charset="-122"/>
                <a:cs typeface="Calibri" pitchFamily="34" charset="-120"/>
              </a:rPr>
              <a:t>imbalanced</a:t>
            </a:r>
            <a:endParaRPr lang="en-US" sz="1000" dirty="0"/>
          </a:p>
          <a:p>
            <a:pPr algn="ctr" indent="0" marL="0">
              <a:buNone/>
            </a:pPr>
            <a:r>
              <a:rPr lang="en-US" sz="1000" dirty="0">
                <a:solidFill>
                  <a:srgbClr val="8096C4"/>
                </a:solidFill>
                <a:latin typeface="Calibri" pitchFamily="34" charset="0"/>
                <a:ea typeface="Calibri" pitchFamily="34" charset="-122"/>
                <a:cs typeface="Calibri" pitchFamily="34" charset="-120"/>
              </a:rPr>
              <a:t>ledger rows</a:t>
            </a:r>
            <a:endParaRPr lang="en-US" sz="1000" dirty="0"/>
          </a:p>
        </p:txBody>
      </p:sp>
      <p:sp>
        <p:nvSpPr>
          <p:cNvPr id="9" name="Shape 7"/>
          <p:cNvSpPr/>
          <p:nvPr/>
        </p:nvSpPr>
        <p:spPr>
          <a:xfrm>
            <a:off x="4663440" y="987552"/>
            <a:ext cx="2029968" cy="1024128"/>
          </a:xfrm>
          <a:prstGeom prst="roundRect">
            <a:avLst>
              <a:gd name="adj" fmla="val 8929"/>
            </a:avLst>
          </a:prstGeom>
          <a:solidFill>
            <a:srgbClr val="253080"/>
          </a:solidFill>
          <a:ln w="12700">
            <a:solidFill>
              <a:srgbClr val="2E3F9E"/>
            </a:solidFill>
            <a:prstDash val="solid"/>
          </a:ln>
        </p:spPr>
      </p:sp>
      <p:sp>
        <p:nvSpPr>
          <p:cNvPr id="10" name="Text 8"/>
          <p:cNvSpPr/>
          <p:nvPr/>
        </p:nvSpPr>
        <p:spPr>
          <a:xfrm>
            <a:off x="4663440" y="1033272"/>
            <a:ext cx="2029968" cy="502920"/>
          </a:xfrm>
          <a:prstGeom prst="rect">
            <a:avLst/>
          </a:prstGeom>
          <a:noFill/>
          <a:ln/>
        </p:spPr>
        <p:txBody>
          <a:bodyPr wrap="square" rtlCol="0" anchor="ctr"/>
          <a:lstStyle/>
          <a:p>
            <a:pPr algn="ctr" indent="0" marL="0">
              <a:buNone/>
            </a:pPr>
            <a:r>
              <a:rPr lang="en-US" sz="2800" b="1" dirty="0">
                <a:solidFill>
                  <a:srgbClr val="CADCFC"/>
                </a:solidFill>
                <a:latin typeface="Calibri" pitchFamily="34" charset="0"/>
                <a:ea typeface="Calibri" pitchFamily="34" charset="-122"/>
                <a:cs typeface="Calibri" pitchFamily="34" charset="-120"/>
              </a:rPr>
              <a:t>100%</a:t>
            </a:r>
            <a:endParaRPr lang="en-US" sz="2800" dirty="0"/>
          </a:p>
        </p:txBody>
      </p:sp>
      <p:sp>
        <p:nvSpPr>
          <p:cNvPr id="11" name="Text 9"/>
          <p:cNvSpPr/>
          <p:nvPr/>
        </p:nvSpPr>
        <p:spPr>
          <a:xfrm>
            <a:off x="4663440" y="1517904"/>
            <a:ext cx="2029968" cy="420624"/>
          </a:xfrm>
          <a:prstGeom prst="rect">
            <a:avLst/>
          </a:prstGeom>
          <a:noFill/>
          <a:ln/>
        </p:spPr>
        <p:txBody>
          <a:bodyPr wrap="square" rtlCol="0" anchor="ctr"/>
          <a:lstStyle/>
          <a:p>
            <a:pPr algn="ctr" indent="0" marL="0">
              <a:buNone/>
            </a:pPr>
            <a:r>
              <a:rPr lang="en-US" sz="1000" dirty="0">
                <a:solidFill>
                  <a:srgbClr val="8096C4"/>
                </a:solidFill>
                <a:latin typeface="Calibri" pitchFamily="34" charset="0"/>
                <a:ea typeface="Calibri" pitchFamily="34" charset="-122"/>
                <a:cs typeface="Calibri" pitchFamily="34" charset="-120"/>
              </a:rPr>
              <a:t>RAG top-1</a:t>
            </a:r>
            <a:endParaRPr lang="en-US" sz="1000" dirty="0"/>
          </a:p>
          <a:p>
            <a:pPr algn="ctr" indent="0" marL="0">
              <a:buNone/>
            </a:pPr>
            <a:r>
              <a:rPr lang="en-US" sz="1000" dirty="0">
                <a:solidFill>
                  <a:srgbClr val="8096C4"/>
                </a:solidFill>
                <a:latin typeface="Calibri" pitchFamily="34" charset="0"/>
                <a:ea typeface="Calibri" pitchFamily="34" charset="-122"/>
                <a:cs typeface="Calibri" pitchFamily="34" charset="-120"/>
              </a:rPr>
              <a:t>accuracy</a:t>
            </a:r>
            <a:endParaRPr lang="en-US" sz="1000" dirty="0"/>
          </a:p>
        </p:txBody>
      </p:sp>
      <p:sp>
        <p:nvSpPr>
          <p:cNvPr id="12" name="Shape 10"/>
          <p:cNvSpPr/>
          <p:nvPr/>
        </p:nvSpPr>
        <p:spPr>
          <a:xfrm>
            <a:off x="6812280" y="987552"/>
            <a:ext cx="2029968" cy="1024128"/>
          </a:xfrm>
          <a:prstGeom prst="roundRect">
            <a:avLst>
              <a:gd name="adj" fmla="val 8929"/>
            </a:avLst>
          </a:prstGeom>
          <a:solidFill>
            <a:srgbClr val="253080"/>
          </a:solidFill>
          <a:ln w="12700">
            <a:solidFill>
              <a:srgbClr val="2E3F9E"/>
            </a:solidFill>
            <a:prstDash val="solid"/>
          </a:ln>
        </p:spPr>
      </p:sp>
      <p:sp>
        <p:nvSpPr>
          <p:cNvPr id="13" name="Text 11"/>
          <p:cNvSpPr/>
          <p:nvPr/>
        </p:nvSpPr>
        <p:spPr>
          <a:xfrm>
            <a:off x="6812280" y="1033272"/>
            <a:ext cx="2029968" cy="502920"/>
          </a:xfrm>
          <a:prstGeom prst="rect">
            <a:avLst/>
          </a:prstGeom>
          <a:noFill/>
          <a:ln/>
        </p:spPr>
        <p:txBody>
          <a:bodyPr wrap="square" rtlCol="0" anchor="ctr"/>
          <a:lstStyle/>
          <a:p>
            <a:pPr algn="ctr" indent="0" marL="0">
              <a:buNone/>
            </a:pPr>
            <a:r>
              <a:rPr lang="en-US" sz="2800" b="1" dirty="0">
                <a:solidFill>
                  <a:srgbClr val="CADCFC"/>
                </a:solidFill>
                <a:latin typeface="Calibri" pitchFamily="34" charset="0"/>
                <a:ea typeface="Calibri" pitchFamily="34" charset="-122"/>
                <a:cs typeface="Calibri" pitchFamily="34" charset="-120"/>
              </a:rPr>
              <a:t>48/48</a:t>
            </a:r>
            <a:endParaRPr lang="en-US" sz="2800" dirty="0"/>
          </a:p>
        </p:txBody>
      </p:sp>
      <p:sp>
        <p:nvSpPr>
          <p:cNvPr id="14" name="Text 12"/>
          <p:cNvSpPr/>
          <p:nvPr/>
        </p:nvSpPr>
        <p:spPr>
          <a:xfrm>
            <a:off x="6812280" y="1517904"/>
            <a:ext cx="2029968" cy="420624"/>
          </a:xfrm>
          <a:prstGeom prst="rect">
            <a:avLst/>
          </a:prstGeom>
          <a:noFill/>
          <a:ln/>
        </p:spPr>
        <p:txBody>
          <a:bodyPr wrap="square" rtlCol="0" anchor="ctr"/>
          <a:lstStyle/>
          <a:p>
            <a:pPr algn="ctr" indent="0" marL="0">
              <a:buNone/>
            </a:pPr>
            <a:r>
              <a:rPr lang="en-US" sz="1000" dirty="0">
                <a:solidFill>
                  <a:srgbClr val="8096C4"/>
                </a:solidFill>
                <a:latin typeface="Calibri" pitchFamily="34" charset="0"/>
                <a:ea typeface="Calibri" pitchFamily="34" charset="-122"/>
                <a:cs typeface="Calibri" pitchFamily="34" charset="-120"/>
              </a:rPr>
              <a:t>chunks</a:t>
            </a:r>
            <a:endParaRPr lang="en-US" sz="1000" dirty="0"/>
          </a:p>
          <a:p>
            <a:pPr algn="ctr" indent="0" marL="0">
              <a:buNone/>
            </a:pPr>
            <a:r>
              <a:rPr lang="en-US" sz="1000" dirty="0">
                <a:solidFill>
                  <a:srgbClr val="8096C4"/>
                </a:solidFill>
                <a:latin typeface="Calibri" pitchFamily="34" charset="0"/>
                <a:ea typeface="Calibri" pitchFamily="34" charset="-122"/>
                <a:cs typeface="Calibri" pitchFamily="34" charset="-120"/>
              </a:rPr>
              <a:t>embedded</a:t>
            </a:r>
            <a:endParaRPr lang="en-US" sz="1000" dirty="0"/>
          </a:p>
        </p:txBody>
      </p:sp>
      <p:sp>
        <p:nvSpPr>
          <p:cNvPr id="15" name="Shape 13"/>
          <p:cNvSpPr/>
          <p:nvPr/>
        </p:nvSpPr>
        <p:spPr>
          <a:xfrm>
            <a:off x="365760" y="2121408"/>
            <a:ext cx="4251960" cy="2761488"/>
          </a:xfrm>
          <a:prstGeom prst="roundRect">
            <a:avLst>
              <a:gd name="adj" fmla="val 3974"/>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16" name="Text 14"/>
          <p:cNvSpPr/>
          <p:nvPr/>
        </p:nvSpPr>
        <p:spPr>
          <a:xfrm>
            <a:off x="594360" y="2194560"/>
            <a:ext cx="3749040" cy="301752"/>
          </a:xfrm>
          <a:prstGeom prst="rect">
            <a:avLst/>
          </a:prstGeom>
          <a:noFill/>
          <a:ln/>
        </p:spPr>
        <p:txBody>
          <a:bodyPr wrap="square" rtlCol="0" anchor="ctr"/>
          <a:lstStyle/>
          <a:p>
            <a:pPr indent="0" marL="0">
              <a:buNone/>
            </a:pPr>
            <a:r>
              <a:rPr lang="en-US" sz="1200" b="1" dirty="0">
                <a:solidFill>
                  <a:srgbClr val="CADCFC"/>
                </a:solidFill>
                <a:latin typeface="Calibri" pitchFamily="34" charset="0"/>
                <a:ea typeface="Calibri" pitchFamily="34" charset="-122"/>
                <a:cs typeface="Calibri" pitchFamily="34" charset="-120"/>
              </a:rPr>
              <a:t>API Latency (P50 / P99)</a:t>
            </a:r>
            <a:endParaRPr lang="en-US" sz="1200" dirty="0"/>
          </a:p>
        </p:txBody>
      </p:sp>
      <p:sp>
        <p:nvSpPr>
          <p:cNvPr id="17" name="Shape 15"/>
          <p:cNvSpPr/>
          <p:nvPr/>
        </p:nvSpPr>
        <p:spPr>
          <a:xfrm>
            <a:off x="384048" y="2560320"/>
            <a:ext cx="4215384" cy="347472"/>
          </a:xfrm>
          <a:prstGeom prst="rect">
            <a:avLst/>
          </a:prstGeom>
          <a:solidFill>
            <a:srgbClr val="2E3F9E"/>
          </a:solidFill>
          <a:ln w="12700">
            <a:solidFill>
              <a:srgbClr val="000000"/>
            </a:solidFill>
            <a:prstDash val="solid"/>
          </a:ln>
        </p:spPr>
      </p:sp>
      <p:sp>
        <p:nvSpPr>
          <p:cNvPr id="18" name="Text 16"/>
          <p:cNvSpPr/>
          <p:nvPr/>
        </p:nvSpPr>
        <p:spPr>
          <a:xfrm>
            <a:off x="548640" y="2596896"/>
            <a:ext cx="2606040" cy="292608"/>
          </a:xfrm>
          <a:prstGeom prst="rect">
            <a:avLst/>
          </a:prstGeom>
          <a:noFill/>
          <a:ln/>
        </p:spPr>
        <p:txBody>
          <a:bodyPr wrap="square" lIns="50800" tIns="50800" rIns="50800" bIns="50800" rtlCol="0" anchor="t"/>
          <a:lstStyle/>
          <a:p>
            <a:pPr algn="l" indent="0" marL="0">
              <a:buNone/>
            </a:pPr>
            <a:r>
              <a:rPr lang="en-US" sz="1050" dirty="0">
                <a:solidFill>
                  <a:srgbClr val="E8EDF8"/>
                </a:solidFill>
                <a:latin typeface="Calibri" pitchFamily="34" charset="0"/>
                <a:ea typeface="Calibri" pitchFamily="34" charset="-122"/>
                <a:cs typeface="Calibri" pitchFamily="34" charset="-120"/>
              </a:rPr>
              <a:t>GET /v1/payments</a:t>
            </a:r>
            <a:endParaRPr lang="en-US" sz="1050" dirty="0"/>
          </a:p>
        </p:txBody>
      </p:sp>
      <p:sp>
        <p:nvSpPr>
          <p:cNvPr id="19" name="Text 17"/>
          <p:cNvSpPr/>
          <p:nvPr/>
        </p:nvSpPr>
        <p:spPr>
          <a:xfrm>
            <a:off x="3200400" y="2596896"/>
            <a:ext cx="621792" cy="292608"/>
          </a:xfrm>
          <a:prstGeom prst="rect">
            <a:avLst/>
          </a:prstGeom>
          <a:noFill/>
          <a:ln/>
        </p:spPr>
        <p:txBody>
          <a:bodyPr wrap="square" rtlCol="0" anchor="ctr"/>
          <a:lstStyle/>
          <a:p>
            <a:pPr algn="ctr" indent="0" marL="0">
              <a:buNone/>
            </a:pPr>
            <a:r>
              <a:rPr lang="en-US" sz="1050" dirty="0">
                <a:solidFill>
                  <a:srgbClr val="38BDF8"/>
                </a:solidFill>
                <a:latin typeface="Courier New" pitchFamily="34" charset="0"/>
                <a:ea typeface="Courier New" pitchFamily="34" charset="-122"/>
                <a:cs typeface="Courier New" pitchFamily="34" charset="-120"/>
              </a:rPr>
              <a:t>15ms</a:t>
            </a:r>
            <a:endParaRPr lang="en-US" sz="1050" dirty="0"/>
          </a:p>
        </p:txBody>
      </p:sp>
      <p:sp>
        <p:nvSpPr>
          <p:cNvPr id="20" name="Text 18"/>
          <p:cNvSpPr/>
          <p:nvPr/>
        </p:nvSpPr>
        <p:spPr>
          <a:xfrm>
            <a:off x="3822192" y="2596896"/>
            <a:ext cx="685800" cy="292608"/>
          </a:xfrm>
          <a:prstGeom prst="rect">
            <a:avLst/>
          </a:prstGeom>
          <a:noFill/>
          <a:ln/>
        </p:spPr>
        <p:txBody>
          <a:bodyPr wrap="square" rtlCol="0" anchor="ctr"/>
          <a:lstStyle/>
          <a:p>
            <a:pPr algn="ctr" indent="0" marL="0">
              <a:buNone/>
            </a:pPr>
            <a:r>
              <a:rPr lang="en-US" sz="1050" dirty="0">
                <a:solidFill>
                  <a:srgbClr val="CADCFC"/>
                </a:solidFill>
                <a:latin typeface="Courier New" pitchFamily="34" charset="0"/>
                <a:ea typeface="Courier New" pitchFamily="34" charset="-122"/>
                <a:cs typeface="Courier New" pitchFamily="34" charset="-120"/>
              </a:rPr>
              <a:t>45ms</a:t>
            </a:r>
            <a:endParaRPr lang="en-US" sz="1050" dirty="0"/>
          </a:p>
        </p:txBody>
      </p:sp>
      <p:sp>
        <p:nvSpPr>
          <p:cNvPr id="21" name="Shape 19"/>
          <p:cNvSpPr/>
          <p:nvPr/>
        </p:nvSpPr>
        <p:spPr>
          <a:xfrm>
            <a:off x="384048" y="2916936"/>
            <a:ext cx="4215384" cy="347472"/>
          </a:xfrm>
          <a:prstGeom prst="rect">
            <a:avLst/>
          </a:prstGeom>
          <a:solidFill>
            <a:srgbClr val="253080"/>
          </a:solidFill>
          <a:ln w="12700">
            <a:solidFill>
              <a:srgbClr val="000000"/>
            </a:solidFill>
            <a:prstDash val="solid"/>
          </a:ln>
        </p:spPr>
      </p:sp>
      <p:sp>
        <p:nvSpPr>
          <p:cNvPr id="22" name="Text 20"/>
          <p:cNvSpPr/>
          <p:nvPr/>
        </p:nvSpPr>
        <p:spPr>
          <a:xfrm>
            <a:off x="548640" y="2953512"/>
            <a:ext cx="2606040" cy="292608"/>
          </a:xfrm>
          <a:prstGeom prst="rect">
            <a:avLst/>
          </a:prstGeom>
          <a:noFill/>
          <a:ln/>
        </p:spPr>
        <p:txBody>
          <a:bodyPr wrap="square" lIns="50800" tIns="50800" rIns="50800" bIns="50800" rtlCol="0" anchor="t"/>
          <a:lstStyle/>
          <a:p>
            <a:pPr algn="l" indent="0" marL="0">
              <a:buNone/>
            </a:pPr>
            <a:r>
              <a:rPr lang="en-US" sz="1050" dirty="0">
                <a:solidFill>
                  <a:srgbClr val="E8EDF8"/>
                </a:solidFill>
                <a:latin typeface="Calibri" pitchFamily="34" charset="0"/>
                <a:ea typeface="Calibri" pitchFamily="34" charset="-122"/>
                <a:cs typeface="Calibri" pitchFamily="34" charset="-120"/>
              </a:rPr>
              <a:t>POST /v1/payments</a:t>
            </a:r>
            <a:endParaRPr lang="en-US" sz="1050" dirty="0"/>
          </a:p>
        </p:txBody>
      </p:sp>
      <p:sp>
        <p:nvSpPr>
          <p:cNvPr id="23" name="Text 21"/>
          <p:cNvSpPr/>
          <p:nvPr/>
        </p:nvSpPr>
        <p:spPr>
          <a:xfrm>
            <a:off x="3200400" y="2953512"/>
            <a:ext cx="621792" cy="292608"/>
          </a:xfrm>
          <a:prstGeom prst="rect">
            <a:avLst/>
          </a:prstGeom>
          <a:noFill/>
          <a:ln/>
        </p:spPr>
        <p:txBody>
          <a:bodyPr wrap="square" rtlCol="0" anchor="ctr"/>
          <a:lstStyle/>
          <a:p>
            <a:pPr algn="ctr" indent="0" marL="0">
              <a:buNone/>
            </a:pPr>
            <a:r>
              <a:rPr lang="en-US" sz="1050" dirty="0">
                <a:solidFill>
                  <a:srgbClr val="38BDF8"/>
                </a:solidFill>
                <a:latin typeface="Courier New" pitchFamily="34" charset="0"/>
                <a:ea typeface="Courier New" pitchFamily="34" charset="-122"/>
                <a:cs typeface="Courier New" pitchFamily="34" charset="-120"/>
              </a:rPr>
              <a:t>35ms</a:t>
            </a:r>
            <a:endParaRPr lang="en-US" sz="1050" dirty="0"/>
          </a:p>
        </p:txBody>
      </p:sp>
      <p:sp>
        <p:nvSpPr>
          <p:cNvPr id="24" name="Text 22"/>
          <p:cNvSpPr/>
          <p:nvPr/>
        </p:nvSpPr>
        <p:spPr>
          <a:xfrm>
            <a:off x="3822192" y="2953512"/>
            <a:ext cx="685800" cy="292608"/>
          </a:xfrm>
          <a:prstGeom prst="rect">
            <a:avLst/>
          </a:prstGeom>
          <a:noFill/>
          <a:ln/>
        </p:spPr>
        <p:txBody>
          <a:bodyPr wrap="square" rtlCol="0" anchor="ctr"/>
          <a:lstStyle/>
          <a:p>
            <a:pPr algn="ctr" indent="0" marL="0">
              <a:buNone/>
            </a:pPr>
            <a:r>
              <a:rPr lang="en-US" sz="1050" dirty="0">
                <a:solidFill>
                  <a:srgbClr val="CADCFC"/>
                </a:solidFill>
                <a:latin typeface="Courier New" pitchFamily="34" charset="0"/>
                <a:ea typeface="Courier New" pitchFamily="34" charset="-122"/>
                <a:cs typeface="Courier New" pitchFamily="34" charset="-120"/>
              </a:rPr>
              <a:t>90ms</a:t>
            </a:r>
            <a:endParaRPr lang="en-US" sz="1050" dirty="0"/>
          </a:p>
        </p:txBody>
      </p:sp>
      <p:sp>
        <p:nvSpPr>
          <p:cNvPr id="25" name="Shape 23"/>
          <p:cNvSpPr/>
          <p:nvPr/>
        </p:nvSpPr>
        <p:spPr>
          <a:xfrm>
            <a:off x="384048" y="3273552"/>
            <a:ext cx="4215384" cy="347472"/>
          </a:xfrm>
          <a:prstGeom prst="rect">
            <a:avLst/>
          </a:prstGeom>
          <a:solidFill>
            <a:srgbClr val="2E3F9E"/>
          </a:solidFill>
          <a:ln w="12700">
            <a:solidFill>
              <a:srgbClr val="000000"/>
            </a:solidFill>
            <a:prstDash val="solid"/>
          </a:ln>
        </p:spPr>
      </p:sp>
      <p:sp>
        <p:nvSpPr>
          <p:cNvPr id="26" name="Text 24"/>
          <p:cNvSpPr/>
          <p:nvPr/>
        </p:nvSpPr>
        <p:spPr>
          <a:xfrm>
            <a:off x="548640" y="3310128"/>
            <a:ext cx="2606040" cy="292608"/>
          </a:xfrm>
          <a:prstGeom prst="rect">
            <a:avLst/>
          </a:prstGeom>
          <a:noFill/>
          <a:ln/>
        </p:spPr>
        <p:txBody>
          <a:bodyPr wrap="square" lIns="50800" tIns="50800" rIns="50800" bIns="50800" rtlCol="0" anchor="t"/>
          <a:lstStyle/>
          <a:p>
            <a:pPr algn="l" indent="0" marL="0">
              <a:buNone/>
            </a:pPr>
            <a:r>
              <a:rPr lang="en-US" sz="1050" dirty="0">
                <a:solidFill>
                  <a:srgbClr val="E8EDF8"/>
                </a:solidFill>
                <a:latin typeface="Calibri" pitchFamily="34" charset="0"/>
                <a:ea typeface="Calibri" pitchFamily="34" charset="-122"/>
                <a:cs typeface="Calibri" pitchFamily="34" charset="-120"/>
              </a:rPr>
              <a:t>POST /v1/fraud/score (rules)</a:t>
            </a:r>
            <a:endParaRPr lang="en-US" sz="1050" dirty="0"/>
          </a:p>
        </p:txBody>
      </p:sp>
      <p:sp>
        <p:nvSpPr>
          <p:cNvPr id="27" name="Text 25"/>
          <p:cNvSpPr/>
          <p:nvPr/>
        </p:nvSpPr>
        <p:spPr>
          <a:xfrm>
            <a:off x="3200400" y="3310128"/>
            <a:ext cx="621792" cy="292608"/>
          </a:xfrm>
          <a:prstGeom prst="rect">
            <a:avLst/>
          </a:prstGeom>
          <a:noFill/>
          <a:ln/>
        </p:spPr>
        <p:txBody>
          <a:bodyPr wrap="square" rtlCol="0" anchor="ctr"/>
          <a:lstStyle/>
          <a:p>
            <a:pPr algn="ctr" indent="0" marL="0">
              <a:buNone/>
            </a:pPr>
            <a:r>
              <a:rPr lang="en-US" sz="1050" dirty="0">
                <a:solidFill>
                  <a:srgbClr val="38BDF8"/>
                </a:solidFill>
                <a:latin typeface="Courier New" pitchFamily="34" charset="0"/>
                <a:ea typeface="Courier New" pitchFamily="34" charset="-122"/>
                <a:cs typeface="Courier New" pitchFamily="34" charset="-120"/>
              </a:rPr>
              <a:t>&lt;1ms</a:t>
            </a:r>
            <a:endParaRPr lang="en-US" sz="1050" dirty="0"/>
          </a:p>
        </p:txBody>
      </p:sp>
      <p:sp>
        <p:nvSpPr>
          <p:cNvPr id="28" name="Text 26"/>
          <p:cNvSpPr/>
          <p:nvPr/>
        </p:nvSpPr>
        <p:spPr>
          <a:xfrm>
            <a:off x="3822192" y="3310128"/>
            <a:ext cx="685800" cy="292608"/>
          </a:xfrm>
          <a:prstGeom prst="rect">
            <a:avLst/>
          </a:prstGeom>
          <a:noFill/>
          <a:ln/>
        </p:spPr>
        <p:txBody>
          <a:bodyPr wrap="square" rtlCol="0" anchor="ctr"/>
          <a:lstStyle/>
          <a:p>
            <a:pPr algn="ctr" indent="0" marL="0">
              <a:buNone/>
            </a:pPr>
            <a:r>
              <a:rPr lang="en-US" sz="1050" dirty="0">
                <a:solidFill>
                  <a:srgbClr val="CADCFC"/>
                </a:solidFill>
                <a:latin typeface="Courier New" pitchFamily="34" charset="0"/>
                <a:ea typeface="Courier New" pitchFamily="34" charset="-122"/>
                <a:cs typeface="Courier New" pitchFamily="34" charset="-120"/>
              </a:rPr>
              <a:t>&lt;1ms</a:t>
            </a:r>
            <a:endParaRPr lang="en-US" sz="1050" dirty="0"/>
          </a:p>
        </p:txBody>
      </p:sp>
      <p:sp>
        <p:nvSpPr>
          <p:cNvPr id="29" name="Shape 27"/>
          <p:cNvSpPr/>
          <p:nvPr/>
        </p:nvSpPr>
        <p:spPr>
          <a:xfrm>
            <a:off x="384048" y="3630168"/>
            <a:ext cx="4215384" cy="347472"/>
          </a:xfrm>
          <a:prstGeom prst="rect">
            <a:avLst/>
          </a:prstGeom>
          <a:solidFill>
            <a:srgbClr val="253080"/>
          </a:solidFill>
          <a:ln w="12700">
            <a:solidFill>
              <a:srgbClr val="000000"/>
            </a:solidFill>
            <a:prstDash val="solid"/>
          </a:ln>
        </p:spPr>
      </p:sp>
      <p:sp>
        <p:nvSpPr>
          <p:cNvPr id="30" name="Text 28"/>
          <p:cNvSpPr/>
          <p:nvPr/>
        </p:nvSpPr>
        <p:spPr>
          <a:xfrm>
            <a:off x="548640" y="3666744"/>
            <a:ext cx="2606040" cy="292608"/>
          </a:xfrm>
          <a:prstGeom prst="rect">
            <a:avLst/>
          </a:prstGeom>
          <a:noFill/>
          <a:ln/>
        </p:spPr>
        <p:txBody>
          <a:bodyPr wrap="square" lIns="50800" tIns="50800" rIns="50800" bIns="50800" rtlCol="0" anchor="t"/>
          <a:lstStyle/>
          <a:p>
            <a:pPr algn="l" indent="0" marL="0">
              <a:buNone/>
            </a:pPr>
            <a:r>
              <a:rPr lang="en-US" sz="1050" dirty="0">
                <a:solidFill>
                  <a:srgbClr val="E8EDF8"/>
                </a:solidFill>
                <a:latin typeface="Calibri" pitchFamily="34" charset="0"/>
                <a:ea typeface="Calibri" pitchFamily="34" charset="-122"/>
                <a:cs typeface="Calibri" pitchFamily="34" charset="-120"/>
              </a:rPr>
              <a:t>POST /v1/fraud/score (LLM)</a:t>
            </a:r>
            <a:endParaRPr lang="en-US" sz="1050" dirty="0"/>
          </a:p>
        </p:txBody>
      </p:sp>
      <p:sp>
        <p:nvSpPr>
          <p:cNvPr id="31" name="Text 29"/>
          <p:cNvSpPr/>
          <p:nvPr/>
        </p:nvSpPr>
        <p:spPr>
          <a:xfrm>
            <a:off x="3200400" y="3666744"/>
            <a:ext cx="621792" cy="292608"/>
          </a:xfrm>
          <a:prstGeom prst="rect">
            <a:avLst/>
          </a:prstGeom>
          <a:noFill/>
          <a:ln/>
        </p:spPr>
        <p:txBody>
          <a:bodyPr wrap="square" rtlCol="0" anchor="ctr"/>
          <a:lstStyle/>
          <a:p>
            <a:pPr algn="ctr" indent="0" marL="0">
              <a:buNone/>
            </a:pPr>
            <a:r>
              <a:rPr lang="en-US" sz="1050" dirty="0">
                <a:solidFill>
                  <a:srgbClr val="38BDF8"/>
                </a:solidFill>
                <a:latin typeface="Courier New" pitchFamily="34" charset="0"/>
                <a:ea typeface="Courier New" pitchFamily="34" charset="-122"/>
                <a:cs typeface="Courier New" pitchFamily="34" charset="-120"/>
              </a:rPr>
              <a:t>350ms</a:t>
            </a:r>
            <a:endParaRPr lang="en-US" sz="1050" dirty="0"/>
          </a:p>
        </p:txBody>
      </p:sp>
      <p:sp>
        <p:nvSpPr>
          <p:cNvPr id="32" name="Text 30"/>
          <p:cNvSpPr/>
          <p:nvPr/>
        </p:nvSpPr>
        <p:spPr>
          <a:xfrm>
            <a:off x="3822192" y="3666744"/>
            <a:ext cx="685800" cy="292608"/>
          </a:xfrm>
          <a:prstGeom prst="rect">
            <a:avLst/>
          </a:prstGeom>
          <a:noFill/>
          <a:ln/>
        </p:spPr>
        <p:txBody>
          <a:bodyPr wrap="square" rtlCol="0" anchor="ctr"/>
          <a:lstStyle/>
          <a:p>
            <a:pPr algn="ctr" indent="0" marL="0">
              <a:buNone/>
            </a:pPr>
            <a:r>
              <a:rPr lang="en-US" sz="1050" dirty="0">
                <a:solidFill>
                  <a:srgbClr val="CADCFC"/>
                </a:solidFill>
                <a:latin typeface="Courier New" pitchFamily="34" charset="0"/>
                <a:ea typeface="Courier New" pitchFamily="34" charset="-122"/>
                <a:cs typeface="Courier New" pitchFamily="34" charset="-120"/>
              </a:rPr>
              <a:t>700ms</a:t>
            </a:r>
            <a:endParaRPr lang="en-US" sz="1050" dirty="0"/>
          </a:p>
        </p:txBody>
      </p:sp>
      <p:sp>
        <p:nvSpPr>
          <p:cNvPr id="33" name="Shape 31"/>
          <p:cNvSpPr/>
          <p:nvPr/>
        </p:nvSpPr>
        <p:spPr>
          <a:xfrm>
            <a:off x="384048" y="3986784"/>
            <a:ext cx="4215384" cy="347472"/>
          </a:xfrm>
          <a:prstGeom prst="rect">
            <a:avLst/>
          </a:prstGeom>
          <a:solidFill>
            <a:srgbClr val="2E3F9E"/>
          </a:solidFill>
          <a:ln w="12700">
            <a:solidFill>
              <a:srgbClr val="000000"/>
            </a:solidFill>
            <a:prstDash val="solid"/>
          </a:ln>
        </p:spPr>
      </p:sp>
      <p:sp>
        <p:nvSpPr>
          <p:cNvPr id="34" name="Text 32"/>
          <p:cNvSpPr/>
          <p:nvPr/>
        </p:nvSpPr>
        <p:spPr>
          <a:xfrm>
            <a:off x="548640" y="4023360"/>
            <a:ext cx="2606040" cy="292608"/>
          </a:xfrm>
          <a:prstGeom prst="rect">
            <a:avLst/>
          </a:prstGeom>
          <a:noFill/>
          <a:ln/>
        </p:spPr>
        <p:txBody>
          <a:bodyPr wrap="square" lIns="50800" tIns="50800" rIns="50800" bIns="50800" rtlCol="0" anchor="t"/>
          <a:lstStyle/>
          <a:p>
            <a:pPr algn="l" indent="0" marL="0">
              <a:buNone/>
            </a:pPr>
            <a:r>
              <a:rPr lang="en-US" sz="1050" dirty="0">
                <a:solidFill>
                  <a:srgbClr val="E8EDF8"/>
                </a:solidFill>
                <a:latin typeface="Calibri" pitchFamily="34" charset="0"/>
                <a:ea typeface="Calibri" pitchFamily="34" charset="-122"/>
                <a:cs typeface="Calibri" pitchFamily="34" charset="-120"/>
              </a:rPr>
              <a:t>POST /v1/rag/query (keyword)</a:t>
            </a:r>
            <a:endParaRPr lang="en-US" sz="1050" dirty="0"/>
          </a:p>
        </p:txBody>
      </p:sp>
      <p:sp>
        <p:nvSpPr>
          <p:cNvPr id="35" name="Text 33"/>
          <p:cNvSpPr/>
          <p:nvPr/>
        </p:nvSpPr>
        <p:spPr>
          <a:xfrm>
            <a:off x="3200400" y="4023360"/>
            <a:ext cx="621792" cy="292608"/>
          </a:xfrm>
          <a:prstGeom prst="rect">
            <a:avLst/>
          </a:prstGeom>
          <a:noFill/>
          <a:ln/>
        </p:spPr>
        <p:txBody>
          <a:bodyPr wrap="square" rtlCol="0" anchor="ctr"/>
          <a:lstStyle/>
          <a:p>
            <a:pPr algn="ctr" indent="0" marL="0">
              <a:buNone/>
            </a:pPr>
            <a:r>
              <a:rPr lang="en-US" sz="1050" dirty="0">
                <a:solidFill>
                  <a:srgbClr val="38BDF8"/>
                </a:solidFill>
                <a:latin typeface="Courier New" pitchFamily="34" charset="0"/>
                <a:ea typeface="Courier New" pitchFamily="34" charset="-122"/>
                <a:cs typeface="Courier New" pitchFamily="34" charset="-120"/>
              </a:rPr>
              <a:t>5ms</a:t>
            </a:r>
            <a:endParaRPr lang="en-US" sz="1050" dirty="0"/>
          </a:p>
        </p:txBody>
      </p:sp>
      <p:sp>
        <p:nvSpPr>
          <p:cNvPr id="36" name="Text 34"/>
          <p:cNvSpPr/>
          <p:nvPr/>
        </p:nvSpPr>
        <p:spPr>
          <a:xfrm>
            <a:off x="3822192" y="4023360"/>
            <a:ext cx="685800" cy="292608"/>
          </a:xfrm>
          <a:prstGeom prst="rect">
            <a:avLst/>
          </a:prstGeom>
          <a:noFill/>
          <a:ln/>
        </p:spPr>
        <p:txBody>
          <a:bodyPr wrap="square" rtlCol="0" anchor="ctr"/>
          <a:lstStyle/>
          <a:p>
            <a:pPr algn="ctr" indent="0" marL="0">
              <a:buNone/>
            </a:pPr>
            <a:r>
              <a:rPr lang="en-US" sz="1050" dirty="0">
                <a:solidFill>
                  <a:srgbClr val="CADCFC"/>
                </a:solidFill>
                <a:latin typeface="Courier New" pitchFamily="34" charset="0"/>
                <a:ea typeface="Courier New" pitchFamily="34" charset="-122"/>
                <a:cs typeface="Courier New" pitchFamily="34" charset="-120"/>
              </a:rPr>
              <a:t>5ms</a:t>
            </a:r>
            <a:endParaRPr lang="en-US" sz="1050" dirty="0"/>
          </a:p>
        </p:txBody>
      </p:sp>
      <p:sp>
        <p:nvSpPr>
          <p:cNvPr id="37" name="Shape 35"/>
          <p:cNvSpPr/>
          <p:nvPr/>
        </p:nvSpPr>
        <p:spPr>
          <a:xfrm>
            <a:off x="384048" y="4343400"/>
            <a:ext cx="4215384" cy="347472"/>
          </a:xfrm>
          <a:prstGeom prst="rect">
            <a:avLst/>
          </a:prstGeom>
          <a:solidFill>
            <a:srgbClr val="253080"/>
          </a:solidFill>
          <a:ln w="12700">
            <a:solidFill>
              <a:srgbClr val="000000"/>
            </a:solidFill>
            <a:prstDash val="solid"/>
          </a:ln>
        </p:spPr>
      </p:sp>
      <p:sp>
        <p:nvSpPr>
          <p:cNvPr id="38" name="Text 36"/>
          <p:cNvSpPr/>
          <p:nvPr/>
        </p:nvSpPr>
        <p:spPr>
          <a:xfrm>
            <a:off x="548640" y="4379976"/>
            <a:ext cx="2606040" cy="292608"/>
          </a:xfrm>
          <a:prstGeom prst="rect">
            <a:avLst/>
          </a:prstGeom>
          <a:noFill/>
          <a:ln/>
        </p:spPr>
        <p:txBody>
          <a:bodyPr wrap="square" lIns="50800" tIns="50800" rIns="50800" bIns="50800" rtlCol="0" anchor="t"/>
          <a:lstStyle/>
          <a:p>
            <a:pPr algn="l" indent="0" marL="0">
              <a:buNone/>
            </a:pPr>
            <a:r>
              <a:rPr lang="en-US" sz="1050" dirty="0">
                <a:solidFill>
                  <a:srgbClr val="E8EDF8"/>
                </a:solidFill>
                <a:latin typeface="Calibri" pitchFamily="34" charset="0"/>
                <a:ea typeface="Calibri" pitchFamily="34" charset="-122"/>
                <a:cs typeface="Calibri" pitchFamily="34" charset="-120"/>
              </a:rPr>
              <a:t>POST /v1/rag/query (vector)</a:t>
            </a:r>
            <a:endParaRPr lang="en-US" sz="1050" dirty="0"/>
          </a:p>
        </p:txBody>
      </p:sp>
      <p:sp>
        <p:nvSpPr>
          <p:cNvPr id="39" name="Text 37"/>
          <p:cNvSpPr/>
          <p:nvPr/>
        </p:nvSpPr>
        <p:spPr>
          <a:xfrm>
            <a:off x="3200400" y="4379976"/>
            <a:ext cx="621792" cy="292608"/>
          </a:xfrm>
          <a:prstGeom prst="rect">
            <a:avLst/>
          </a:prstGeom>
          <a:noFill/>
          <a:ln/>
        </p:spPr>
        <p:txBody>
          <a:bodyPr wrap="square" rtlCol="0" anchor="ctr"/>
          <a:lstStyle/>
          <a:p>
            <a:pPr algn="ctr" indent="0" marL="0">
              <a:buNone/>
            </a:pPr>
            <a:r>
              <a:rPr lang="en-US" sz="1050" dirty="0">
                <a:solidFill>
                  <a:srgbClr val="38BDF8"/>
                </a:solidFill>
                <a:latin typeface="Courier New" pitchFamily="34" charset="0"/>
                <a:ea typeface="Courier New" pitchFamily="34" charset="-122"/>
                <a:cs typeface="Courier New" pitchFamily="34" charset="-120"/>
              </a:rPr>
              <a:t>180ms</a:t>
            </a:r>
            <a:endParaRPr lang="en-US" sz="1050" dirty="0"/>
          </a:p>
        </p:txBody>
      </p:sp>
      <p:sp>
        <p:nvSpPr>
          <p:cNvPr id="40" name="Text 38"/>
          <p:cNvSpPr/>
          <p:nvPr/>
        </p:nvSpPr>
        <p:spPr>
          <a:xfrm>
            <a:off x="3822192" y="4379976"/>
            <a:ext cx="685800" cy="292608"/>
          </a:xfrm>
          <a:prstGeom prst="rect">
            <a:avLst/>
          </a:prstGeom>
          <a:noFill/>
          <a:ln/>
        </p:spPr>
        <p:txBody>
          <a:bodyPr wrap="square" rtlCol="0" anchor="ctr"/>
          <a:lstStyle/>
          <a:p>
            <a:pPr algn="ctr" indent="0" marL="0">
              <a:buNone/>
            </a:pPr>
            <a:r>
              <a:rPr lang="en-US" sz="1050" dirty="0">
                <a:solidFill>
                  <a:srgbClr val="CADCFC"/>
                </a:solidFill>
                <a:latin typeface="Courier New" pitchFamily="34" charset="0"/>
                <a:ea typeface="Courier New" pitchFamily="34" charset="-122"/>
                <a:cs typeface="Courier New" pitchFamily="34" charset="-120"/>
              </a:rPr>
              <a:t>450ms</a:t>
            </a:r>
            <a:endParaRPr lang="en-US" sz="1050" dirty="0"/>
          </a:p>
        </p:txBody>
      </p:sp>
      <p:graphicFrame>
        <p:nvGraphicFramePr>
          <p:cNvPr id="41" name="Chart 0" descr=""/>
          <p:cNvGraphicFramePr/>
          <p:nvPr/>
        </p:nvGraphicFramePr>
        <p:xfrm>
          <a:off x="4800600" y="2084832"/>
          <a:ext cx="3977640" cy="2816352"/>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What's Built vs What Production Needs</a:t>
            </a:r>
            <a:endParaRPr lang="en-US" sz="3200" dirty="0"/>
          </a:p>
        </p:txBody>
      </p:sp>
      <p:sp>
        <p:nvSpPr>
          <p:cNvPr id="3" name="Text 1"/>
          <p:cNvSpPr/>
          <p:nvPr/>
        </p:nvSpPr>
        <p:spPr>
          <a:xfrm>
            <a:off x="365760" y="960120"/>
            <a:ext cx="1417320" cy="274320"/>
          </a:xfrm>
          <a:prstGeom prst="rect">
            <a:avLst/>
          </a:prstGeom>
          <a:noFill/>
          <a:ln/>
        </p:spPr>
        <p:txBody>
          <a:bodyPr wrap="square" rtlCol="0" anchor="ctr"/>
          <a:lstStyle/>
          <a:p>
            <a:pPr indent="0" marL="0">
              <a:buNone/>
            </a:pPr>
            <a:r>
              <a:rPr lang="en-US" sz="1100" b="1" dirty="0">
                <a:solidFill>
                  <a:srgbClr val="8096C4"/>
                </a:solidFill>
                <a:latin typeface="Calibri" pitchFamily="34" charset="0"/>
                <a:ea typeface="Calibri" pitchFamily="34" charset="-122"/>
                <a:cs typeface="Calibri" pitchFamily="34" charset="-120"/>
              </a:rPr>
              <a:t>Item</a:t>
            </a:r>
            <a:endParaRPr lang="en-US" sz="1100" dirty="0"/>
          </a:p>
        </p:txBody>
      </p:sp>
      <p:sp>
        <p:nvSpPr>
          <p:cNvPr id="4" name="Text 2"/>
          <p:cNvSpPr/>
          <p:nvPr/>
        </p:nvSpPr>
        <p:spPr>
          <a:xfrm>
            <a:off x="1828800" y="960120"/>
            <a:ext cx="1874520" cy="274320"/>
          </a:xfrm>
          <a:prstGeom prst="rect">
            <a:avLst/>
          </a:prstGeom>
          <a:noFill/>
          <a:ln/>
        </p:spPr>
        <p:txBody>
          <a:bodyPr wrap="square" rtlCol="0" anchor="ctr"/>
          <a:lstStyle/>
          <a:p>
            <a:pPr indent="0" marL="0">
              <a:buNone/>
            </a:pPr>
            <a:r>
              <a:rPr lang="en-US" sz="1100" b="1" dirty="0">
                <a:solidFill>
                  <a:srgbClr val="8096C4"/>
                </a:solidFill>
                <a:latin typeface="Calibri" pitchFamily="34" charset="0"/>
                <a:ea typeface="Calibri" pitchFamily="34" charset="-122"/>
                <a:cs typeface="Calibri" pitchFamily="34" charset="-120"/>
              </a:rPr>
              <a:t>MVP</a:t>
            </a:r>
            <a:endParaRPr lang="en-US" sz="1100" dirty="0"/>
          </a:p>
        </p:txBody>
      </p:sp>
      <p:sp>
        <p:nvSpPr>
          <p:cNvPr id="5" name="Text 3"/>
          <p:cNvSpPr/>
          <p:nvPr/>
        </p:nvSpPr>
        <p:spPr>
          <a:xfrm>
            <a:off x="3749040" y="960120"/>
            <a:ext cx="2926080" cy="274320"/>
          </a:xfrm>
          <a:prstGeom prst="rect">
            <a:avLst/>
          </a:prstGeom>
          <a:noFill/>
          <a:ln/>
        </p:spPr>
        <p:txBody>
          <a:bodyPr wrap="square" rtlCol="0" anchor="ctr"/>
          <a:lstStyle/>
          <a:p>
            <a:pPr indent="0" marL="0">
              <a:buNone/>
            </a:pPr>
            <a:r>
              <a:rPr lang="en-US" sz="1100" b="1" dirty="0">
                <a:solidFill>
                  <a:srgbClr val="8096C4"/>
                </a:solidFill>
                <a:latin typeface="Calibri" pitchFamily="34" charset="0"/>
                <a:ea typeface="Calibri" pitchFamily="34" charset="-122"/>
                <a:cs typeface="Calibri" pitchFamily="34" charset="-120"/>
              </a:rPr>
              <a:t>Production Target</a:t>
            </a:r>
            <a:endParaRPr lang="en-US" sz="1100" dirty="0"/>
          </a:p>
        </p:txBody>
      </p:sp>
      <p:sp>
        <p:nvSpPr>
          <p:cNvPr id="6" name="Text 4"/>
          <p:cNvSpPr/>
          <p:nvPr/>
        </p:nvSpPr>
        <p:spPr>
          <a:xfrm>
            <a:off x="6720840" y="960120"/>
            <a:ext cx="1143000" cy="274320"/>
          </a:xfrm>
          <a:prstGeom prst="rect">
            <a:avLst/>
          </a:prstGeom>
          <a:noFill/>
          <a:ln/>
        </p:spPr>
        <p:txBody>
          <a:bodyPr wrap="square" rtlCol="0" anchor="ctr"/>
          <a:lstStyle/>
          <a:p>
            <a:pPr algn="ctr" indent="0" marL="0">
              <a:buNone/>
            </a:pPr>
            <a:r>
              <a:rPr lang="en-US" sz="1100" b="1" dirty="0">
                <a:solidFill>
                  <a:srgbClr val="8096C4"/>
                </a:solidFill>
                <a:latin typeface="Calibri" pitchFamily="34" charset="0"/>
                <a:ea typeface="Calibri" pitchFamily="34" charset="-122"/>
                <a:cs typeface="Calibri" pitchFamily="34" charset="-120"/>
              </a:rPr>
              <a:t>Priority</a:t>
            </a:r>
            <a:endParaRPr lang="en-US" sz="1100" dirty="0"/>
          </a:p>
        </p:txBody>
      </p:sp>
      <p:sp>
        <p:nvSpPr>
          <p:cNvPr id="7" name="Shape 5"/>
          <p:cNvSpPr/>
          <p:nvPr/>
        </p:nvSpPr>
        <p:spPr>
          <a:xfrm>
            <a:off x="347472" y="1261872"/>
            <a:ext cx="8458200" cy="301752"/>
          </a:xfrm>
          <a:prstGeom prst="rect">
            <a:avLst/>
          </a:prstGeom>
          <a:solidFill>
            <a:srgbClr val="253080"/>
          </a:solidFill>
          <a:ln w="12700">
            <a:solidFill>
              <a:srgbClr val="000000"/>
            </a:solidFill>
            <a:prstDash val="solid"/>
          </a:ln>
        </p:spPr>
      </p:sp>
      <p:sp>
        <p:nvSpPr>
          <p:cNvPr id="8" name="Text 6"/>
          <p:cNvSpPr/>
          <p:nvPr/>
        </p:nvSpPr>
        <p:spPr>
          <a:xfrm>
            <a:off x="365760" y="1298448"/>
            <a:ext cx="1417320" cy="274320"/>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Auth / RBAC</a:t>
            </a:r>
            <a:endParaRPr lang="en-US" sz="1100" dirty="0"/>
          </a:p>
        </p:txBody>
      </p:sp>
      <p:sp>
        <p:nvSpPr>
          <p:cNvPr id="9" name="Text 7"/>
          <p:cNvSpPr/>
          <p:nvPr/>
        </p:nvSpPr>
        <p:spPr>
          <a:xfrm>
            <a:off x="1828800" y="1298448"/>
            <a:ext cx="1874520" cy="274320"/>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None</a:t>
            </a:r>
            <a:endParaRPr lang="en-US" sz="1100" dirty="0"/>
          </a:p>
        </p:txBody>
      </p:sp>
      <p:sp>
        <p:nvSpPr>
          <p:cNvPr id="10" name="Text 8"/>
          <p:cNvSpPr/>
          <p:nvPr/>
        </p:nvSpPr>
        <p:spPr>
          <a:xfrm>
            <a:off x="3749040" y="1298448"/>
            <a:ext cx="2926080" cy="274320"/>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JWT RS256 + OPA</a:t>
            </a:r>
            <a:endParaRPr lang="en-US" sz="1100" dirty="0"/>
          </a:p>
        </p:txBody>
      </p:sp>
      <p:sp>
        <p:nvSpPr>
          <p:cNvPr id="11" name="Shape 9"/>
          <p:cNvSpPr/>
          <p:nvPr/>
        </p:nvSpPr>
        <p:spPr>
          <a:xfrm>
            <a:off x="6793992" y="1289304"/>
            <a:ext cx="1005840" cy="237744"/>
          </a:xfrm>
          <a:prstGeom prst="roundRect">
            <a:avLst>
              <a:gd name="adj" fmla="val 19231"/>
            </a:avLst>
          </a:prstGeom>
          <a:solidFill>
            <a:srgbClr val="253080"/>
          </a:solidFill>
          <a:ln w="19050">
            <a:solidFill>
              <a:srgbClr val="EF4444"/>
            </a:solidFill>
            <a:prstDash val="solid"/>
          </a:ln>
        </p:spPr>
      </p:sp>
      <p:sp>
        <p:nvSpPr>
          <p:cNvPr id="12" name="Text 10"/>
          <p:cNvSpPr/>
          <p:nvPr/>
        </p:nvSpPr>
        <p:spPr>
          <a:xfrm>
            <a:off x="6793992" y="1289304"/>
            <a:ext cx="1005840" cy="237744"/>
          </a:xfrm>
          <a:prstGeom prst="rect">
            <a:avLst/>
          </a:prstGeom>
          <a:noFill/>
          <a:ln/>
        </p:spPr>
        <p:txBody>
          <a:bodyPr wrap="square" rtlCol="0" anchor="ctr"/>
          <a:lstStyle/>
          <a:p>
            <a:pPr algn="ctr" indent="0" marL="0">
              <a:buNone/>
            </a:pPr>
            <a:r>
              <a:rPr lang="en-US" sz="1050" b="1" dirty="0">
                <a:solidFill>
                  <a:srgbClr val="EF4444"/>
                </a:solidFill>
                <a:latin typeface="Calibri" pitchFamily="34" charset="0"/>
                <a:ea typeface="Calibri" pitchFamily="34" charset="-122"/>
                <a:cs typeface="Calibri" pitchFamily="34" charset="-120"/>
              </a:rPr>
              <a:t>P0</a:t>
            </a:r>
            <a:endParaRPr lang="en-US" sz="1050" dirty="0"/>
          </a:p>
        </p:txBody>
      </p:sp>
      <p:sp>
        <p:nvSpPr>
          <p:cNvPr id="13" name="Text 11"/>
          <p:cNvSpPr/>
          <p:nvPr/>
        </p:nvSpPr>
        <p:spPr>
          <a:xfrm>
            <a:off x="365760" y="1600200"/>
            <a:ext cx="1417320" cy="274320"/>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TLS</a:t>
            </a:r>
            <a:endParaRPr lang="en-US" sz="1100" dirty="0"/>
          </a:p>
        </p:txBody>
      </p:sp>
      <p:sp>
        <p:nvSpPr>
          <p:cNvPr id="14" name="Text 12"/>
          <p:cNvSpPr/>
          <p:nvPr/>
        </p:nvSpPr>
        <p:spPr>
          <a:xfrm>
            <a:off x="1828800" y="1600200"/>
            <a:ext cx="1874520" cy="274320"/>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HTTP on bridge</a:t>
            </a:r>
            <a:endParaRPr lang="en-US" sz="1100" dirty="0"/>
          </a:p>
        </p:txBody>
      </p:sp>
      <p:sp>
        <p:nvSpPr>
          <p:cNvPr id="15" name="Text 13"/>
          <p:cNvSpPr/>
          <p:nvPr/>
        </p:nvSpPr>
        <p:spPr>
          <a:xfrm>
            <a:off x="3749040" y="1600200"/>
            <a:ext cx="2926080" cy="274320"/>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mTLS via Istio</a:t>
            </a:r>
            <a:endParaRPr lang="en-US" sz="1100" dirty="0"/>
          </a:p>
        </p:txBody>
      </p:sp>
      <p:sp>
        <p:nvSpPr>
          <p:cNvPr id="16" name="Shape 14"/>
          <p:cNvSpPr/>
          <p:nvPr/>
        </p:nvSpPr>
        <p:spPr>
          <a:xfrm>
            <a:off x="6793992" y="1591056"/>
            <a:ext cx="1005840" cy="237744"/>
          </a:xfrm>
          <a:prstGeom prst="roundRect">
            <a:avLst>
              <a:gd name="adj" fmla="val 19231"/>
            </a:avLst>
          </a:prstGeom>
          <a:solidFill>
            <a:srgbClr val="253080"/>
          </a:solidFill>
          <a:ln w="19050">
            <a:solidFill>
              <a:srgbClr val="EF4444"/>
            </a:solidFill>
            <a:prstDash val="solid"/>
          </a:ln>
        </p:spPr>
      </p:sp>
      <p:sp>
        <p:nvSpPr>
          <p:cNvPr id="17" name="Text 15"/>
          <p:cNvSpPr/>
          <p:nvPr/>
        </p:nvSpPr>
        <p:spPr>
          <a:xfrm>
            <a:off x="6793992" y="1591056"/>
            <a:ext cx="1005840" cy="237744"/>
          </a:xfrm>
          <a:prstGeom prst="rect">
            <a:avLst/>
          </a:prstGeom>
          <a:noFill/>
          <a:ln/>
        </p:spPr>
        <p:txBody>
          <a:bodyPr wrap="square" rtlCol="0" anchor="ctr"/>
          <a:lstStyle/>
          <a:p>
            <a:pPr algn="ctr" indent="0" marL="0">
              <a:buNone/>
            </a:pPr>
            <a:r>
              <a:rPr lang="en-US" sz="1050" b="1" dirty="0">
                <a:solidFill>
                  <a:srgbClr val="EF4444"/>
                </a:solidFill>
                <a:latin typeface="Calibri" pitchFamily="34" charset="0"/>
                <a:ea typeface="Calibri" pitchFamily="34" charset="-122"/>
                <a:cs typeface="Calibri" pitchFamily="34" charset="-120"/>
              </a:rPr>
              <a:t>P0</a:t>
            </a:r>
            <a:endParaRPr lang="en-US" sz="1050" dirty="0"/>
          </a:p>
        </p:txBody>
      </p:sp>
      <p:sp>
        <p:nvSpPr>
          <p:cNvPr id="18" name="Shape 16"/>
          <p:cNvSpPr/>
          <p:nvPr/>
        </p:nvSpPr>
        <p:spPr>
          <a:xfrm>
            <a:off x="347472" y="1865376"/>
            <a:ext cx="8458200" cy="301752"/>
          </a:xfrm>
          <a:prstGeom prst="rect">
            <a:avLst/>
          </a:prstGeom>
          <a:solidFill>
            <a:srgbClr val="253080"/>
          </a:solidFill>
          <a:ln w="12700">
            <a:solidFill>
              <a:srgbClr val="000000"/>
            </a:solidFill>
            <a:prstDash val="solid"/>
          </a:ln>
        </p:spPr>
      </p:sp>
      <p:sp>
        <p:nvSpPr>
          <p:cNvPr id="19" name="Text 17"/>
          <p:cNvSpPr/>
          <p:nvPr/>
        </p:nvSpPr>
        <p:spPr>
          <a:xfrm>
            <a:off x="365760" y="1901952"/>
            <a:ext cx="1417320" cy="274320"/>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Secrets</a:t>
            </a:r>
            <a:endParaRPr lang="en-US" sz="1100" dirty="0"/>
          </a:p>
        </p:txBody>
      </p:sp>
      <p:sp>
        <p:nvSpPr>
          <p:cNvPr id="20" name="Text 18"/>
          <p:cNvSpPr/>
          <p:nvPr/>
        </p:nvSpPr>
        <p:spPr>
          <a:xfrm>
            <a:off x="1828800" y="1901952"/>
            <a:ext cx="1874520" cy="274320"/>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.env file</a:t>
            </a:r>
            <a:endParaRPr lang="en-US" sz="1100" dirty="0"/>
          </a:p>
        </p:txBody>
      </p:sp>
      <p:sp>
        <p:nvSpPr>
          <p:cNvPr id="21" name="Text 19"/>
          <p:cNvSpPr/>
          <p:nvPr/>
        </p:nvSpPr>
        <p:spPr>
          <a:xfrm>
            <a:off x="3749040" y="1901952"/>
            <a:ext cx="2926080" cy="274320"/>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Azure Key Vault CSI</a:t>
            </a:r>
            <a:endParaRPr lang="en-US" sz="1100" dirty="0"/>
          </a:p>
        </p:txBody>
      </p:sp>
      <p:sp>
        <p:nvSpPr>
          <p:cNvPr id="22" name="Shape 20"/>
          <p:cNvSpPr/>
          <p:nvPr/>
        </p:nvSpPr>
        <p:spPr>
          <a:xfrm>
            <a:off x="6793992" y="1892808"/>
            <a:ext cx="1005840" cy="237744"/>
          </a:xfrm>
          <a:prstGeom prst="roundRect">
            <a:avLst>
              <a:gd name="adj" fmla="val 19231"/>
            </a:avLst>
          </a:prstGeom>
          <a:solidFill>
            <a:srgbClr val="253080"/>
          </a:solidFill>
          <a:ln w="19050">
            <a:solidFill>
              <a:srgbClr val="EF4444"/>
            </a:solidFill>
            <a:prstDash val="solid"/>
          </a:ln>
        </p:spPr>
      </p:sp>
      <p:sp>
        <p:nvSpPr>
          <p:cNvPr id="23" name="Text 21"/>
          <p:cNvSpPr/>
          <p:nvPr/>
        </p:nvSpPr>
        <p:spPr>
          <a:xfrm>
            <a:off x="6793992" y="1892808"/>
            <a:ext cx="1005840" cy="237744"/>
          </a:xfrm>
          <a:prstGeom prst="rect">
            <a:avLst/>
          </a:prstGeom>
          <a:noFill/>
          <a:ln/>
        </p:spPr>
        <p:txBody>
          <a:bodyPr wrap="square" rtlCol="0" anchor="ctr"/>
          <a:lstStyle/>
          <a:p>
            <a:pPr algn="ctr" indent="0" marL="0">
              <a:buNone/>
            </a:pPr>
            <a:r>
              <a:rPr lang="en-US" sz="1050" b="1" dirty="0">
                <a:solidFill>
                  <a:srgbClr val="EF4444"/>
                </a:solidFill>
                <a:latin typeface="Calibri" pitchFamily="34" charset="0"/>
                <a:ea typeface="Calibri" pitchFamily="34" charset="-122"/>
                <a:cs typeface="Calibri" pitchFamily="34" charset="-120"/>
              </a:rPr>
              <a:t>P0</a:t>
            </a:r>
            <a:endParaRPr lang="en-US" sz="1050" dirty="0"/>
          </a:p>
        </p:txBody>
      </p:sp>
      <p:sp>
        <p:nvSpPr>
          <p:cNvPr id="24" name="Text 22"/>
          <p:cNvSpPr/>
          <p:nvPr/>
        </p:nvSpPr>
        <p:spPr>
          <a:xfrm>
            <a:off x="365760" y="2203704"/>
            <a:ext cx="1417320" cy="274320"/>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Observability</a:t>
            </a:r>
            <a:endParaRPr lang="en-US" sz="1100" dirty="0"/>
          </a:p>
        </p:txBody>
      </p:sp>
      <p:sp>
        <p:nvSpPr>
          <p:cNvPr id="25" name="Text 23"/>
          <p:cNvSpPr/>
          <p:nvPr/>
        </p:nvSpPr>
        <p:spPr>
          <a:xfrm>
            <a:off x="1828800" y="2203704"/>
            <a:ext cx="1874520" cy="274320"/>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Logs only</a:t>
            </a:r>
            <a:endParaRPr lang="en-US" sz="1100" dirty="0"/>
          </a:p>
        </p:txBody>
      </p:sp>
      <p:sp>
        <p:nvSpPr>
          <p:cNvPr id="26" name="Text 24"/>
          <p:cNvSpPr/>
          <p:nvPr/>
        </p:nvSpPr>
        <p:spPr>
          <a:xfrm>
            <a:off x="3749040" y="2203704"/>
            <a:ext cx="2926080" cy="274320"/>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Prometheus + Jaeger + Grafana</a:t>
            </a:r>
            <a:endParaRPr lang="en-US" sz="1100" dirty="0"/>
          </a:p>
        </p:txBody>
      </p:sp>
      <p:sp>
        <p:nvSpPr>
          <p:cNvPr id="27" name="Shape 25"/>
          <p:cNvSpPr/>
          <p:nvPr/>
        </p:nvSpPr>
        <p:spPr>
          <a:xfrm>
            <a:off x="6793992" y="2194560"/>
            <a:ext cx="1005840" cy="237744"/>
          </a:xfrm>
          <a:prstGeom prst="roundRect">
            <a:avLst>
              <a:gd name="adj" fmla="val 19231"/>
            </a:avLst>
          </a:prstGeom>
          <a:solidFill>
            <a:srgbClr val="253080"/>
          </a:solidFill>
          <a:ln w="19050">
            <a:solidFill>
              <a:srgbClr val="F59E0B"/>
            </a:solidFill>
            <a:prstDash val="solid"/>
          </a:ln>
        </p:spPr>
      </p:sp>
      <p:sp>
        <p:nvSpPr>
          <p:cNvPr id="28" name="Text 26"/>
          <p:cNvSpPr/>
          <p:nvPr/>
        </p:nvSpPr>
        <p:spPr>
          <a:xfrm>
            <a:off x="6793992" y="2194560"/>
            <a:ext cx="1005840" cy="237744"/>
          </a:xfrm>
          <a:prstGeom prst="rect">
            <a:avLst/>
          </a:prstGeom>
          <a:noFill/>
          <a:ln/>
        </p:spPr>
        <p:txBody>
          <a:bodyPr wrap="square" rtlCol="0" anchor="ctr"/>
          <a:lstStyle/>
          <a:p>
            <a:pPr algn="ctr" indent="0" marL="0">
              <a:buNone/>
            </a:pPr>
            <a:r>
              <a:rPr lang="en-US" sz="1050" b="1" dirty="0">
                <a:solidFill>
                  <a:srgbClr val="F59E0B"/>
                </a:solidFill>
                <a:latin typeface="Calibri" pitchFamily="34" charset="0"/>
                <a:ea typeface="Calibri" pitchFamily="34" charset="-122"/>
                <a:cs typeface="Calibri" pitchFamily="34" charset="-120"/>
              </a:rPr>
              <a:t>P1</a:t>
            </a:r>
            <a:endParaRPr lang="en-US" sz="1050" dirty="0"/>
          </a:p>
        </p:txBody>
      </p:sp>
      <p:sp>
        <p:nvSpPr>
          <p:cNvPr id="29" name="Shape 27"/>
          <p:cNvSpPr/>
          <p:nvPr/>
        </p:nvSpPr>
        <p:spPr>
          <a:xfrm>
            <a:off x="347472" y="2468880"/>
            <a:ext cx="8458200" cy="301752"/>
          </a:xfrm>
          <a:prstGeom prst="rect">
            <a:avLst/>
          </a:prstGeom>
          <a:solidFill>
            <a:srgbClr val="253080"/>
          </a:solidFill>
          <a:ln w="12700">
            <a:solidFill>
              <a:srgbClr val="000000"/>
            </a:solidFill>
            <a:prstDash val="solid"/>
          </a:ln>
        </p:spPr>
      </p:sp>
      <p:sp>
        <p:nvSpPr>
          <p:cNvPr id="30" name="Text 28"/>
          <p:cNvSpPr/>
          <p:nvPr/>
        </p:nvSpPr>
        <p:spPr>
          <a:xfrm>
            <a:off x="365760" y="2505456"/>
            <a:ext cx="1417320" cy="274320"/>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Postgres HA</a:t>
            </a:r>
            <a:endParaRPr lang="en-US" sz="1100" dirty="0"/>
          </a:p>
        </p:txBody>
      </p:sp>
      <p:sp>
        <p:nvSpPr>
          <p:cNvPr id="31" name="Text 29"/>
          <p:cNvSpPr/>
          <p:nvPr/>
        </p:nvSpPr>
        <p:spPr>
          <a:xfrm>
            <a:off x="1828800" y="2505456"/>
            <a:ext cx="1874520" cy="274320"/>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Single node</a:t>
            </a:r>
            <a:endParaRPr lang="en-US" sz="1100" dirty="0"/>
          </a:p>
        </p:txBody>
      </p:sp>
      <p:sp>
        <p:nvSpPr>
          <p:cNvPr id="32" name="Text 30"/>
          <p:cNvSpPr/>
          <p:nvPr/>
        </p:nvSpPr>
        <p:spPr>
          <a:xfrm>
            <a:off x="3749040" y="2505456"/>
            <a:ext cx="2926080" cy="274320"/>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Sync replication, 2 standbys</a:t>
            </a:r>
            <a:endParaRPr lang="en-US" sz="1100" dirty="0"/>
          </a:p>
        </p:txBody>
      </p:sp>
      <p:sp>
        <p:nvSpPr>
          <p:cNvPr id="33" name="Shape 31"/>
          <p:cNvSpPr/>
          <p:nvPr/>
        </p:nvSpPr>
        <p:spPr>
          <a:xfrm>
            <a:off x="6793992" y="2496312"/>
            <a:ext cx="1005840" cy="237744"/>
          </a:xfrm>
          <a:prstGeom prst="roundRect">
            <a:avLst>
              <a:gd name="adj" fmla="val 19231"/>
            </a:avLst>
          </a:prstGeom>
          <a:solidFill>
            <a:srgbClr val="253080"/>
          </a:solidFill>
          <a:ln w="19050">
            <a:solidFill>
              <a:srgbClr val="F59E0B"/>
            </a:solidFill>
            <a:prstDash val="solid"/>
          </a:ln>
        </p:spPr>
      </p:sp>
      <p:sp>
        <p:nvSpPr>
          <p:cNvPr id="34" name="Text 32"/>
          <p:cNvSpPr/>
          <p:nvPr/>
        </p:nvSpPr>
        <p:spPr>
          <a:xfrm>
            <a:off x="6793992" y="2496312"/>
            <a:ext cx="1005840" cy="237744"/>
          </a:xfrm>
          <a:prstGeom prst="rect">
            <a:avLst/>
          </a:prstGeom>
          <a:noFill/>
          <a:ln/>
        </p:spPr>
        <p:txBody>
          <a:bodyPr wrap="square" rtlCol="0" anchor="ctr"/>
          <a:lstStyle/>
          <a:p>
            <a:pPr algn="ctr" indent="0" marL="0">
              <a:buNone/>
            </a:pPr>
            <a:r>
              <a:rPr lang="en-US" sz="1050" b="1" dirty="0">
                <a:solidFill>
                  <a:srgbClr val="F59E0B"/>
                </a:solidFill>
                <a:latin typeface="Calibri" pitchFamily="34" charset="0"/>
                <a:ea typeface="Calibri" pitchFamily="34" charset="-122"/>
                <a:cs typeface="Calibri" pitchFamily="34" charset="-120"/>
              </a:rPr>
              <a:t>P1</a:t>
            </a:r>
            <a:endParaRPr lang="en-US" sz="1050" dirty="0"/>
          </a:p>
        </p:txBody>
      </p:sp>
      <p:sp>
        <p:nvSpPr>
          <p:cNvPr id="35" name="Text 33"/>
          <p:cNvSpPr/>
          <p:nvPr/>
        </p:nvSpPr>
        <p:spPr>
          <a:xfrm>
            <a:off x="365760" y="2807208"/>
            <a:ext cx="1417320" cy="274320"/>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Backups</a:t>
            </a:r>
            <a:endParaRPr lang="en-US" sz="1100" dirty="0"/>
          </a:p>
        </p:txBody>
      </p:sp>
      <p:sp>
        <p:nvSpPr>
          <p:cNvPr id="36" name="Text 34"/>
          <p:cNvSpPr/>
          <p:nvPr/>
        </p:nvSpPr>
        <p:spPr>
          <a:xfrm>
            <a:off x="1828800" y="2807208"/>
            <a:ext cx="1874520" cy="274320"/>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None</a:t>
            </a:r>
            <a:endParaRPr lang="en-US" sz="1100" dirty="0"/>
          </a:p>
        </p:txBody>
      </p:sp>
      <p:sp>
        <p:nvSpPr>
          <p:cNvPr id="37" name="Text 35"/>
          <p:cNvSpPr/>
          <p:nvPr/>
        </p:nvSpPr>
        <p:spPr>
          <a:xfrm>
            <a:off x="3749040" y="2807208"/>
            <a:ext cx="2926080" cy="274320"/>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WAL archiving, RPO ≤ 5min</a:t>
            </a:r>
            <a:endParaRPr lang="en-US" sz="1100" dirty="0"/>
          </a:p>
        </p:txBody>
      </p:sp>
      <p:sp>
        <p:nvSpPr>
          <p:cNvPr id="38" name="Shape 36"/>
          <p:cNvSpPr/>
          <p:nvPr/>
        </p:nvSpPr>
        <p:spPr>
          <a:xfrm>
            <a:off x="6793992" y="2798064"/>
            <a:ext cx="1005840" cy="237744"/>
          </a:xfrm>
          <a:prstGeom prst="roundRect">
            <a:avLst>
              <a:gd name="adj" fmla="val 19231"/>
            </a:avLst>
          </a:prstGeom>
          <a:solidFill>
            <a:srgbClr val="253080"/>
          </a:solidFill>
          <a:ln w="19050">
            <a:solidFill>
              <a:srgbClr val="F59E0B"/>
            </a:solidFill>
            <a:prstDash val="solid"/>
          </a:ln>
        </p:spPr>
      </p:sp>
      <p:sp>
        <p:nvSpPr>
          <p:cNvPr id="39" name="Text 37"/>
          <p:cNvSpPr/>
          <p:nvPr/>
        </p:nvSpPr>
        <p:spPr>
          <a:xfrm>
            <a:off x="6793992" y="2798064"/>
            <a:ext cx="1005840" cy="237744"/>
          </a:xfrm>
          <a:prstGeom prst="rect">
            <a:avLst/>
          </a:prstGeom>
          <a:noFill/>
          <a:ln/>
        </p:spPr>
        <p:txBody>
          <a:bodyPr wrap="square" rtlCol="0" anchor="ctr"/>
          <a:lstStyle/>
          <a:p>
            <a:pPr algn="ctr" indent="0" marL="0">
              <a:buNone/>
            </a:pPr>
            <a:r>
              <a:rPr lang="en-US" sz="1050" b="1" dirty="0">
                <a:solidFill>
                  <a:srgbClr val="F59E0B"/>
                </a:solidFill>
                <a:latin typeface="Calibri" pitchFamily="34" charset="0"/>
                <a:ea typeface="Calibri" pitchFamily="34" charset="-122"/>
                <a:cs typeface="Calibri" pitchFamily="34" charset="-120"/>
              </a:rPr>
              <a:t>P1</a:t>
            </a:r>
            <a:endParaRPr lang="en-US" sz="1050" dirty="0"/>
          </a:p>
        </p:txBody>
      </p:sp>
      <p:sp>
        <p:nvSpPr>
          <p:cNvPr id="40" name="Shape 38"/>
          <p:cNvSpPr/>
          <p:nvPr/>
        </p:nvSpPr>
        <p:spPr>
          <a:xfrm>
            <a:off x="347472" y="3072384"/>
            <a:ext cx="8458200" cy="301752"/>
          </a:xfrm>
          <a:prstGeom prst="rect">
            <a:avLst/>
          </a:prstGeom>
          <a:solidFill>
            <a:srgbClr val="253080"/>
          </a:solidFill>
          <a:ln w="12700">
            <a:solidFill>
              <a:srgbClr val="000000"/>
            </a:solidFill>
            <a:prstDash val="solid"/>
          </a:ln>
        </p:spPr>
      </p:sp>
      <p:sp>
        <p:nvSpPr>
          <p:cNvPr id="41" name="Text 39"/>
          <p:cNvSpPr/>
          <p:nvPr/>
        </p:nvSpPr>
        <p:spPr>
          <a:xfrm>
            <a:off x="365760" y="3108960"/>
            <a:ext cx="1417320" cy="274320"/>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Rate limiting</a:t>
            </a:r>
            <a:endParaRPr lang="en-US" sz="1100" dirty="0"/>
          </a:p>
        </p:txBody>
      </p:sp>
      <p:sp>
        <p:nvSpPr>
          <p:cNvPr id="42" name="Text 40"/>
          <p:cNvSpPr/>
          <p:nvPr/>
        </p:nvSpPr>
        <p:spPr>
          <a:xfrm>
            <a:off x="1828800" y="3108960"/>
            <a:ext cx="1874520" cy="274320"/>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None</a:t>
            </a:r>
            <a:endParaRPr lang="en-US" sz="1100" dirty="0"/>
          </a:p>
        </p:txBody>
      </p:sp>
      <p:sp>
        <p:nvSpPr>
          <p:cNvPr id="43" name="Text 41"/>
          <p:cNvSpPr/>
          <p:nvPr/>
        </p:nvSpPr>
        <p:spPr>
          <a:xfrm>
            <a:off x="3749040" y="3108960"/>
            <a:ext cx="2926080" cy="274320"/>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Redis sliding window</a:t>
            </a:r>
            <a:endParaRPr lang="en-US" sz="1100" dirty="0"/>
          </a:p>
        </p:txBody>
      </p:sp>
      <p:sp>
        <p:nvSpPr>
          <p:cNvPr id="44" name="Shape 42"/>
          <p:cNvSpPr/>
          <p:nvPr/>
        </p:nvSpPr>
        <p:spPr>
          <a:xfrm>
            <a:off x="6793992" y="3099816"/>
            <a:ext cx="1005840" cy="237744"/>
          </a:xfrm>
          <a:prstGeom prst="roundRect">
            <a:avLst>
              <a:gd name="adj" fmla="val 19231"/>
            </a:avLst>
          </a:prstGeom>
          <a:solidFill>
            <a:srgbClr val="253080"/>
          </a:solidFill>
          <a:ln w="19050">
            <a:solidFill>
              <a:srgbClr val="F59E0B"/>
            </a:solidFill>
            <a:prstDash val="solid"/>
          </a:ln>
        </p:spPr>
      </p:sp>
      <p:sp>
        <p:nvSpPr>
          <p:cNvPr id="45" name="Text 43"/>
          <p:cNvSpPr/>
          <p:nvPr/>
        </p:nvSpPr>
        <p:spPr>
          <a:xfrm>
            <a:off x="6793992" y="3099816"/>
            <a:ext cx="1005840" cy="237744"/>
          </a:xfrm>
          <a:prstGeom prst="rect">
            <a:avLst/>
          </a:prstGeom>
          <a:noFill/>
          <a:ln/>
        </p:spPr>
        <p:txBody>
          <a:bodyPr wrap="square" rtlCol="0" anchor="ctr"/>
          <a:lstStyle/>
          <a:p>
            <a:pPr algn="ctr" indent="0" marL="0">
              <a:buNone/>
            </a:pPr>
            <a:r>
              <a:rPr lang="en-US" sz="1050" b="1" dirty="0">
                <a:solidFill>
                  <a:srgbClr val="F59E0B"/>
                </a:solidFill>
                <a:latin typeface="Calibri" pitchFamily="34" charset="0"/>
                <a:ea typeface="Calibri" pitchFamily="34" charset="-122"/>
                <a:cs typeface="Calibri" pitchFamily="34" charset="-120"/>
              </a:rPr>
              <a:t>P1</a:t>
            </a:r>
            <a:endParaRPr lang="en-US" sz="1050" dirty="0"/>
          </a:p>
        </p:txBody>
      </p:sp>
      <p:sp>
        <p:nvSpPr>
          <p:cNvPr id="46" name="Text 44"/>
          <p:cNvSpPr/>
          <p:nvPr/>
        </p:nvSpPr>
        <p:spPr>
          <a:xfrm>
            <a:off x="365760" y="3410712"/>
            <a:ext cx="1417320" cy="274320"/>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CI/CD</a:t>
            </a:r>
            <a:endParaRPr lang="en-US" sz="1100" dirty="0"/>
          </a:p>
        </p:txBody>
      </p:sp>
      <p:sp>
        <p:nvSpPr>
          <p:cNvPr id="47" name="Text 45"/>
          <p:cNvSpPr/>
          <p:nvPr/>
        </p:nvSpPr>
        <p:spPr>
          <a:xfrm>
            <a:off x="1828800" y="3410712"/>
            <a:ext cx="1874520" cy="274320"/>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None</a:t>
            </a:r>
            <a:endParaRPr lang="en-US" sz="1100" dirty="0"/>
          </a:p>
        </p:txBody>
      </p:sp>
      <p:sp>
        <p:nvSpPr>
          <p:cNvPr id="48" name="Text 46"/>
          <p:cNvSpPr/>
          <p:nvPr/>
        </p:nvSpPr>
        <p:spPr>
          <a:xfrm>
            <a:off x="3749040" y="3410712"/>
            <a:ext cx="2926080" cy="274320"/>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GitHub Actions + canary</a:t>
            </a:r>
            <a:endParaRPr lang="en-US" sz="1100" dirty="0"/>
          </a:p>
        </p:txBody>
      </p:sp>
      <p:sp>
        <p:nvSpPr>
          <p:cNvPr id="49" name="Shape 47"/>
          <p:cNvSpPr/>
          <p:nvPr/>
        </p:nvSpPr>
        <p:spPr>
          <a:xfrm>
            <a:off x="6793992" y="3401568"/>
            <a:ext cx="1005840" cy="237744"/>
          </a:xfrm>
          <a:prstGeom prst="roundRect">
            <a:avLst>
              <a:gd name="adj" fmla="val 19231"/>
            </a:avLst>
          </a:prstGeom>
          <a:solidFill>
            <a:srgbClr val="253080"/>
          </a:solidFill>
          <a:ln w="19050">
            <a:solidFill>
              <a:srgbClr val="FB923C"/>
            </a:solidFill>
            <a:prstDash val="solid"/>
          </a:ln>
        </p:spPr>
      </p:sp>
      <p:sp>
        <p:nvSpPr>
          <p:cNvPr id="50" name="Text 48"/>
          <p:cNvSpPr/>
          <p:nvPr/>
        </p:nvSpPr>
        <p:spPr>
          <a:xfrm>
            <a:off x="6793992" y="3401568"/>
            <a:ext cx="1005840" cy="237744"/>
          </a:xfrm>
          <a:prstGeom prst="rect">
            <a:avLst/>
          </a:prstGeom>
          <a:noFill/>
          <a:ln/>
        </p:spPr>
        <p:txBody>
          <a:bodyPr wrap="square" rtlCol="0" anchor="ctr"/>
          <a:lstStyle/>
          <a:p>
            <a:pPr algn="ctr" indent="0" marL="0">
              <a:buNone/>
            </a:pPr>
            <a:r>
              <a:rPr lang="en-US" sz="1050" b="1" dirty="0">
                <a:solidFill>
                  <a:srgbClr val="FB923C"/>
                </a:solidFill>
                <a:latin typeface="Calibri" pitchFamily="34" charset="0"/>
                <a:ea typeface="Calibri" pitchFamily="34" charset="-122"/>
                <a:cs typeface="Calibri" pitchFamily="34" charset="-120"/>
              </a:rPr>
              <a:t>P2</a:t>
            </a:r>
            <a:endParaRPr lang="en-US" sz="1050" dirty="0"/>
          </a:p>
        </p:txBody>
      </p:sp>
      <p:sp>
        <p:nvSpPr>
          <p:cNvPr id="51" name="Shape 49"/>
          <p:cNvSpPr/>
          <p:nvPr/>
        </p:nvSpPr>
        <p:spPr>
          <a:xfrm>
            <a:off x="347472" y="3675888"/>
            <a:ext cx="8458200" cy="301752"/>
          </a:xfrm>
          <a:prstGeom prst="rect">
            <a:avLst/>
          </a:prstGeom>
          <a:solidFill>
            <a:srgbClr val="253080"/>
          </a:solidFill>
          <a:ln w="12700">
            <a:solidFill>
              <a:srgbClr val="000000"/>
            </a:solidFill>
            <a:prstDash val="solid"/>
          </a:ln>
        </p:spPr>
      </p:sp>
      <p:sp>
        <p:nvSpPr>
          <p:cNvPr id="52" name="Text 50"/>
          <p:cNvSpPr/>
          <p:nvPr/>
        </p:nvSpPr>
        <p:spPr>
          <a:xfrm>
            <a:off x="365760" y="3712464"/>
            <a:ext cx="1417320" cy="274320"/>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Fraud ML</a:t>
            </a:r>
            <a:endParaRPr lang="en-US" sz="1100" dirty="0"/>
          </a:p>
        </p:txBody>
      </p:sp>
      <p:sp>
        <p:nvSpPr>
          <p:cNvPr id="53" name="Text 51"/>
          <p:cNvSpPr/>
          <p:nvPr/>
        </p:nvSpPr>
        <p:spPr>
          <a:xfrm>
            <a:off x="1828800" y="3712464"/>
            <a:ext cx="1874520" cy="274320"/>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15 rules</a:t>
            </a:r>
            <a:endParaRPr lang="en-US" sz="1100" dirty="0"/>
          </a:p>
        </p:txBody>
      </p:sp>
      <p:sp>
        <p:nvSpPr>
          <p:cNvPr id="54" name="Text 52"/>
          <p:cNvSpPr/>
          <p:nvPr/>
        </p:nvSpPr>
        <p:spPr>
          <a:xfrm>
            <a:off x="3749040" y="3712464"/>
            <a:ext cx="2926080" cy="274320"/>
          </a:xfrm>
          <a:prstGeom prst="rect">
            <a:avLst/>
          </a:prstGeom>
          <a:noFill/>
          <a:ln/>
        </p:spPr>
        <p:txBody>
          <a:bodyPr wrap="square" lIns="50800" tIns="50800" rIns="50800" bIns="50800" rtlCol="0" anchor="t"/>
          <a:lstStyle/>
          <a:p>
            <a:pPr algn="l" indent="0" marL="0">
              <a:buNone/>
            </a:pPr>
            <a:r>
              <a:rPr lang="en-US" sz="1100" dirty="0">
                <a:solidFill>
                  <a:srgbClr val="E8EDF8"/>
                </a:solidFill>
                <a:latin typeface="Calibri" pitchFamily="34" charset="0"/>
                <a:ea typeface="Calibri" pitchFamily="34" charset="-122"/>
                <a:cs typeface="Calibri" pitchFamily="34" charset="-120"/>
              </a:rPr>
              <a:t>XGBoost + feature store</a:t>
            </a:r>
            <a:endParaRPr lang="en-US" sz="1100" dirty="0"/>
          </a:p>
        </p:txBody>
      </p:sp>
      <p:sp>
        <p:nvSpPr>
          <p:cNvPr id="55" name="Shape 53"/>
          <p:cNvSpPr/>
          <p:nvPr/>
        </p:nvSpPr>
        <p:spPr>
          <a:xfrm>
            <a:off x="6793992" y="3703320"/>
            <a:ext cx="1005840" cy="237744"/>
          </a:xfrm>
          <a:prstGeom prst="roundRect">
            <a:avLst>
              <a:gd name="adj" fmla="val 19231"/>
            </a:avLst>
          </a:prstGeom>
          <a:solidFill>
            <a:srgbClr val="253080"/>
          </a:solidFill>
          <a:ln w="19050">
            <a:solidFill>
              <a:srgbClr val="FB923C"/>
            </a:solidFill>
            <a:prstDash val="solid"/>
          </a:ln>
        </p:spPr>
      </p:sp>
      <p:sp>
        <p:nvSpPr>
          <p:cNvPr id="56" name="Text 54"/>
          <p:cNvSpPr/>
          <p:nvPr/>
        </p:nvSpPr>
        <p:spPr>
          <a:xfrm>
            <a:off x="6793992" y="3703320"/>
            <a:ext cx="1005840" cy="237744"/>
          </a:xfrm>
          <a:prstGeom prst="rect">
            <a:avLst/>
          </a:prstGeom>
          <a:noFill/>
          <a:ln/>
        </p:spPr>
        <p:txBody>
          <a:bodyPr wrap="square" rtlCol="0" anchor="ctr"/>
          <a:lstStyle/>
          <a:p>
            <a:pPr algn="ctr" indent="0" marL="0">
              <a:buNone/>
            </a:pPr>
            <a:r>
              <a:rPr lang="en-US" sz="1050" b="1" dirty="0">
                <a:solidFill>
                  <a:srgbClr val="FB923C"/>
                </a:solidFill>
                <a:latin typeface="Calibri" pitchFamily="34" charset="0"/>
                <a:ea typeface="Calibri" pitchFamily="34" charset="-122"/>
                <a:cs typeface="Calibri" pitchFamily="34" charset="-120"/>
              </a:rPr>
              <a:t>P2</a:t>
            </a:r>
            <a:endParaRPr lang="en-US" sz="1050" dirty="0"/>
          </a:p>
        </p:txBody>
      </p:sp>
      <p:sp>
        <p:nvSpPr>
          <p:cNvPr id="57" name="Text 55"/>
          <p:cNvSpPr/>
          <p:nvPr/>
        </p:nvSpPr>
        <p:spPr>
          <a:xfrm>
            <a:off x="365760" y="4014216"/>
            <a:ext cx="1417320" cy="274320"/>
          </a:xfrm>
          <a:prstGeom prst="rect">
            <a:avLst/>
          </a:prstGeom>
          <a:noFill/>
          <a:ln/>
        </p:spPr>
        <p:txBody>
          <a:bodyPr wrap="square" lIns="50800" tIns="50800" rIns="50800" bIns="50800" rtlCol="0" anchor="t"/>
          <a:lstStyle/>
          <a:p>
            <a:pPr algn="l" indent="0" marL="0">
              <a:buNone/>
            </a:pPr>
            <a:r>
              <a:rPr lang="en-US" sz="1100" b="1" dirty="0">
                <a:solidFill>
                  <a:srgbClr val="E8EDF8"/>
                </a:solidFill>
                <a:latin typeface="Calibri" pitchFamily="34" charset="0"/>
                <a:ea typeface="Calibri" pitchFamily="34" charset="-122"/>
                <a:cs typeface="Calibri" pitchFamily="34" charset="-120"/>
              </a:rPr>
              <a:t>Payment logic</a:t>
            </a:r>
            <a:endParaRPr lang="en-US" sz="1100" dirty="0"/>
          </a:p>
        </p:txBody>
      </p:sp>
      <p:sp>
        <p:nvSpPr>
          <p:cNvPr id="58" name="Text 56"/>
          <p:cNvSpPr/>
          <p:nvPr/>
        </p:nvSpPr>
        <p:spPr>
          <a:xfrm>
            <a:off x="1828800" y="4014216"/>
            <a:ext cx="1874520" cy="274320"/>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Complete</a:t>
            </a:r>
            <a:endParaRPr lang="en-US" sz="1100" dirty="0"/>
          </a:p>
        </p:txBody>
      </p:sp>
      <p:sp>
        <p:nvSpPr>
          <p:cNvPr id="59" name="Text 57"/>
          <p:cNvSpPr/>
          <p:nvPr/>
        </p:nvSpPr>
        <p:spPr>
          <a:xfrm>
            <a:off x="3749040" y="4014216"/>
            <a:ext cx="2926080" cy="274320"/>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a:t>
            </a:r>
            <a:endParaRPr lang="en-US" sz="1100" dirty="0"/>
          </a:p>
        </p:txBody>
      </p:sp>
      <p:sp>
        <p:nvSpPr>
          <p:cNvPr id="60" name="Shape 58"/>
          <p:cNvSpPr/>
          <p:nvPr/>
        </p:nvSpPr>
        <p:spPr>
          <a:xfrm>
            <a:off x="6793992" y="4005072"/>
            <a:ext cx="1005840" cy="237744"/>
          </a:xfrm>
          <a:prstGeom prst="roundRect">
            <a:avLst>
              <a:gd name="adj" fmla="val 19231"/>
            </a:avLst>
          </a:prstGeom>
          <a:solidFill>
            <a:srgbClr val="253080"/>
          </a:solidFill>
          <a:ln w="19050">
            <a:solidFill>
              <a:srgbClr val="22C55E"/>
            </a:solidFill>
            <a:prstDash val="solid"/>
          </a:ln>
        </p:spPr>
      </p:sp>
      <p:sp>
        <p:nvSpPr>
          <p:cNvPr id="61" name="Text 59"/>
          <p:cNvSpPr/>
          <p:nvPr/>
        </p:nvSpPr>
        <p:spPr>
          <a:xfrm>
            <a:off x="6793992" y="4005072"/>
            <a:ext cx="1005840" cy="237744"/>
          </a:xfrm>
          <a:prstGeom prst="rect">
            <a:avLst/>
          </a:prstGeom>
          <a:noFill/>
          <a:ln/>
        </p:spPr>
        <p:txBody>
          <a:bodyPr wrap="square" rtlCol="0" anchor="ctr"/>
          <a:lstStyle/>
          <a:p>
            <a:pPr algn="ctr" indent="0" marL="0">
              <a:buNone/>
            </a:pPr>
            <a:r>
              <a:rPr lang="en-US" sz="1050" b="1" dirty="0">
                <a:solidFill>
                  <a:srgbClr val="22C55E"/>
                </a:solidFill>
                <a:latin typeface="Calibri" pitchFamily="34" charset="0"/>
                <a:ea typeface="Calibri" pitchFamily="34" charset="-122"/>
                <a:cs typeface="Calibri" pitchFamily="34" charset="-120"/>
              </a:rPr>
              <a:t>Done</a:t>
            </a:r>
            <a:endParaRPr lang="en-US" sz="1050" dirty="0"/>
          </a:p>
        </p:txBody>
      </p:sp>
      <p:sp>
        <p:nvSpPr>
          <p:cNvPr id="62" name="Shape 60"/>
          <p:cNvSpPr/>
          <p:nvPr/>
        </p:nvSpPr>
        <p:spPr>
          <a:xfrm>
            <a:off x="347472" y="4279392"/>
            <a:ext cx="8458200" cy="301752"/>
          </a:xfrm>
          <a:prstGeom prst="rect">
            <a:avLst/>
          </a:prstGeom>
          <a:solidFill>
            <a:srgbClr val="253080"/>
          </a:solidFill>
          <a:ln w="12700">
            <a:solidFill>
              <a:srgbClr val="000000"/>
            </a:solidFill>
            <a:prstDash val="solid"/>
          </a:ln>
        </p:spPr>
      </p:sp>
      <p:sp>
        <p:nvSpPr>
          <p:cNvPr id="63" name="Text 61"/>
          <p:cNvSpPr/>
          <p:nvPr/>
        </p:nvSpPr>
        <p:spPr>
          <a:xfrm>
            <a:off x="365760" y="4315968"/>
            <a:ext cx="1417320" cy="274320"/>
          </a:xfrm>
          <a:prstGeom prst="rect">
            <a:avLst/>
          </a:prstGeom>
          <a:noFill/>
          <a:ln/>
        </p:spPr>
        <p:txBody>
          <a:bodyPr wrap="square" lIns="50800" tIns="50800" rIns="50800" bIns="50800" rtlCol="0" anchor="t"/>
          <a:lstStyle/>
          <a:p>
            <a:pPr algn="l" indent="0" marL="0">
              <a:buNone/>
            </a:pPr>
            <a:r>
              <a:rPr lang="en-US" sz="1100" b="1" dirty="0">
                <a:solidFill>
                  <a:srgbClr val="E8EDF8"/>
                </a:solidFill>
                <a:latin typeface="Calibri" pitchFamily="34" charset="0"/>
                <a:ea typeface="Calibri" pitchFamily="34" charset="-122"/>
                <a:cs typeface="Calibri" pitchFamily="34" charset="-120"/>
              </a:rPr>
              <a:t>API design</a:t>
            </a:r>
            <a:endParaRPr lang="en-US" sz="1100" dirty="0"/>
          </a:p>
        </p:txBody>
      </p:sp>
      <p:sp>
        <p:nvSpPr>
          <p:cNvPr id="64" name="Text 62"/>
          <p:cNvSpPr/>
          <p:nvPr/>
        </p:nvSpPr>
        <p:spPr>
          <a:xfrm>
            <a:off x="1828800" y="4315968"/>
            <a:ext cx="1874520" cy="274320"/>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Complete</a:t>
            </a:r>
            <a:endParaRPr lang="en-US" sz="1100" dirty="0"/>
          </a:p>
        </p:txBody>
      </p:sp>
      <p:sp>
        <p:nvSpPr>
          <p:cNvPr id="65" name="Text 63"/>
          <p:cNvSpPr/>
          <p:nvPr/>
        </p:nvSpPr>
        <p:spPr>
          <a:xfrm>
            <a:off x="3749040" y="4315968"/>
            <a:ext cx="2926080" cy="274320"/>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a:t>
            </a:r>
            <a:endParaRPr lang="en-US" sz="1100" dirty="0"/>
          </a:p>
        </p:txBody>
      </p:sp>
      <p:sp>
        <p:nvSpPr>
          <p:cNvPr id="66" name="Shape 64"/>
          <p:cNvSpPr/>
          <p:nvPr/>
        </p:nvSpPr>
        <p:spPr>
          <a:xfrm>
            <a:off x="6793992" y="4306824"/>
            <a:ext cx="1005840" cy="237744"/>
          </a:xfrm>
          <a:prstGeom prst="roundRect">
            <a:avLst>
              <a:gd name="adj" fmla="val 19231"/>
            </a:avLst>
          </a:prstGeom>
          <a:solidFill>
            <a:srgbClr val="253080"/>
          </a:solidFill>
          <a:ln w="19050">
            <a:solidFill>
              <a:srgbClr val="22C55E"/>
            </a:solidFill>
            <a:prstDash val="solid"/>
          </a:ln>
        </p:spPr>
      </p:sp>
      <p:sp>
        <p:nvSpPr>
          <p:cNvPr id="67" name="Text 65"/>
          <p:cNvSpPr/>
          <p:nvPr/>
        </p:nvSpPr>
        <p:spPr>
          <a:xfrm>
            <a:off x="6793992" y="4306824"/>
            <a:ext cx="1005840" cy="237744"/>
          </a:xfrm>
          <a:prstGeom prst="rect">
            <a:avLst/>
          </a:prstGeom>
          <a:noFill/>
          <a:ln/>
        </p:spPr>
        <p:txBody>
          <a:bodyPr wrap="square" rtlCol="0" anchor="ctr"/>
          <a:lstStyle/>
          <a:p>
            <a:pPr algn="ctr" indent="0" marL="0">
              <a:buNone/>
            </a:pPr>
            <a:r>
              <a:rPr lang="en-US" sz="1050" b="1" dirty="0">
                <a:solidFill>
                  <a:srgbClr val="22C55E"/>
                </a:solidFill>
                <a:latin typeface="Calibri" pitchFamily="34" charset="0"/>
                <a:ea typeface="Calibri" pitchFamily="34" charset="-122"/>
                <a:cs typeface="Calibri" pitchFamily="34" charset="-120"/>
              </a:rPr>
              <a:t>Done</a:t>
            </a:r>
            <a:endParaRPr lang="en-US" sz="1050" dirty="0"/>
          </a:p>
        </p:txBody>
      </p:sp>
      <p:sp>
        <p:nvSpPr>
          <p:cNvPr id="68" name="Text 66"/>
          <p:cNvSpPr/>
          <p:nvPr/>
        </p:nvSpPr>
        <p:spPr>
          <a:xfrm>
            <a:off x="365760" y="4617720"/>
            <a:ext cx="1417320" cy="274320"/>
          </a:xfrm>
          <a:prstGeom prst="rect">
            <a:avLst/>
          </a:prstGeom>
          <a:noFill/>
          <a:ln/>
        </p:spPr>
        <p:txBody>
          <a:bodyPr wrap="square" lIns="50800" tIns="50800" rIns="50800" bIns="50800" rtlCol="0" anchor="t"/>
          <a:lstStyle/>
          <a:p>
            <a:pPr algn="l" indent="0" marL="0">
              <a:buNone/>
            </a:pPr>
            <a:r>
              <a:rPr lang="en-US" sz="1100" b="1" dirty="0">
                <a:solidFill>
                  <a:srgbClr val="E8EDF8"/>
                </a:solidFill>
                <a:latin typeface="Calibri" pitchFamily="34" charset="0"/>
                <a:ea typeface="Calibri" pitchFamily="34" charset="-122"/>
                <a:cs typeface="Calibri" pitchFamily="34" charset="-120"/>
              </a:rPr>
              <a:t>AI pipeline</a:t>
            </a:r>
            <a:endParaRPr lang="en-US" sz="1100" dirty="0"/>
          </a:p>
        </p:txBody>
      </p:sp>
      <p:sp>
        <p:nvSpPr>
          <p:cNvPr id="69" name="Text 67"/>
          <p:cNvSpPr/>
          <p:nvPr/>
        </p:nvSpPr>
        <p:spPr>
          <a:xfrm>
            <a:off x="1828800" y="4617720"/>
            <a:ext cx="1874520" cy="274320"/>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Complete</a:t>
            </a:r>
            <a:endParaRPr lang="en-US" sz="1100" dirty="0"/>
          </a:p>
        </p:txBody>
      </p:sp>
      <p:sp>
        <p:nvSpPr>
          <p:cNvPr id="70" name="Text 68"/>
          <p:cNvSpPr/>
          <p:nvPr/>
        </p:nvSpPr>
        <p:spPr>
          <a:xfrm>
            <a:off x="3749040" y="4617720"/>
            <a:ext cx="2926080" cy="274320"/>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a:t>
            </a:r>
            <a:endParaRPr lang="en-US" sz="1100" dirty="0"/>
          </a:p>
        </p:txBody>
      </p:sp>
      <p:sp>
        <p:nvSpPr>
          <p:cNvPr id="71" name="Shape 69"/>
          <p:cNvSpPr/>
          <p:nvPr/>
        </p:nvSpPr>
        <p:spPr>
          <a:xfrm>
            <a:off x="6793992" y="4608576"/>
            <a:ext cx="1005840" cy="237744"/>
          </a:xfrm>
          <a:prstGeom prst="roundRect">
            <a:avLst>
              <a:gd name="adj" fmla="val 19231"/>
            </a:avLst>
          </a:prstGeom>
          <a:solidFill>
            <a:srgbClr val="253080"/>
          </a:solidFill>
          <a:ln w="19050">
            <a:solidFill>
              <a:srgbClr val="22C55E"/>
            </a:solidFill>
            <a:prstDash val="solid"/>
          </a:ln>
        </p:spPr>
      </p:sp>
      <p:sp>
        <p:nvSpPr>
          <p:cNvPr id="72" name="Text 70"/>
          <p:cNvSpPr/>
          <p:nvPr/>
        </p:nvSpPr>
        <p:spPr>
          <a:xfrm>
            <a:off x="6793992" y="4608576"/>
            <a:ext cx="1005840" cy="237744"/>
          </a:xfrm>
          <a:prstGeom prst="rect">
            <a:avLst/>
          </a:prstGeom>
          <a:noFill/>
          <a:ln/>
        </p:spPr>
        <p:txBody>
          <a:bodyPr wrap="square" rtlCol="0" anchor="ctr"/>
          <a:lstStyle/>
          <a:p>
            <a:pPr algn="ctr" indent="0" marL="0">
              <a:buNone/>
            </a:pPr>
            <a:r>
              <a:rPr lang="en-US" sz="1050" b="1" dirty="0">
                <a:solidFill>
                  <a:srgbClr val="22C55E"/>
                </a:solidFill>
                <a:latin typeface="Calibri" pitchFamily="34" charset="0"/>
                <a:ea typeface="Calibri" pitchFamily="34" charset="-122"/>
                <a:cs typeface="Calibri" pitchFamily="34" charset="-120"/>
              </a:rPr>
              <a:t>Done</a:t>
            </a:r>
            <a:endParaRPr lang="en-US" sz="1050" dirty="0"/>
          </a:p>
        </p:txBody>
      </p:sp>
      <p:sp>
        <p:nvSpPr>
          <p:cNvPr id="73" name="Shape 71"/>
          <p:cNvSpPr/>
          <p:nvPr/>
        </p:nvSpPr>
        <p:spPr>
          <a:xfrm>
            <a:off x="365760" y="4828032"/>
            <a:ext cx="8412480" cy="201168"/>
          </a:xfrm>
          <a:prstGeom prst="roundRect">
            <a:avLst>
              <a:gd name="adj" fmla="val 54545"/>
            </a:avLst>
          </a:prstGeom>
          <a:solidFill>
            <a:srgbClr val="253080"/>
          </a:solidFill>
          <a:ln w="12700">
            <a:solidFill>
              <a:srgbClr val="22C55E"/>
            </a:solidFill>
            <a:prstDash val="solid"/>
          </a:ln>
          <a:effectLst>
            <a:outerShdw sx="100000" sy="100000" kx="0" ky="0" algn="bl" rotWithShape="0" blurRad="101600" dist="38100" dir="2700000">
              <a:srgbClr val="000000">
                <a:alpha val="30000"/>
              </a:srgbClr>
            </a:outerShdw>
          </a:effectLst>
        </p:spPr>
      </p:sp>
      <p:sp>
        <p:nvSpPr>
          <p:cNvPr id="74" name="Text 72"/>
          <p:cNvSpPr/>
          <p:nvPr/>
        </p:nvSpPr>
        <p:spPr>
          <a:xfrm>
            <a:off x="594360" y="4846320"/>
            <a:ext cx="7955280" cy="182880"/>
          </a:xfrm>
          <a:prstGeom prst="rect">
            <a:avLst/>
          </a:prstGeom>
          <a:noFill/>
          <a:ln/>
        </p:spPr>
        <p:txBody>
          <a:bodyPr wrap="square" rtlCol="0" anchor="ctr"/>
          <a:lstStyle/>
          <a:p>
            <a:pPr algn="ctr" indent="0" marL="0">
              <a:buNone/>
            </a:pPr>
            <a:r>
              <a:rPr lang="en-US" sz="1100" b="1" dirty="0">
                <a:solidFill>
                  <a:srgbClr val="22C55E"/>
                </a:solidFill>
                <a:latin typeface="Calibri" pitchFamily="34" charset="0"/>
                <a:ea typeface="Calibri" pitchFamily="34" charset="-122"/>
                <a:cs typeface="Calibri" pitchFamily="34" charset="-120"/>
              </a:rPr>
              <a:t>Total estimated effort to production-ready: ~180 engineer-hours  (~4.5 weeks, two engineers)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Six Phases to Production Security</a:t>
            </a:r>
            <a:endParaRPr lang="en-US" sz="3200" dirty="0"/>
          </a:p>
        </p:txBody>
      </p:sp>
      <p:sp>
        <p:nvSpPr>
          <p:cNvPr id="3" name="Shape 1"/>
          <p:cNvSpPr/>
          <p:nvPr/>
        </p:nvSpPr>
        <p:spPr>
          <a:xfrm>
            <a:off x="292608" y="987552"/>
            <a:ext cx="1353312" cy="2926080"/>
          </a:xfrm>
          <a:prstGeom prst="roundRect">
            <a:avLst>
              <a:gd name="adj" fmla="val 6757"/>
            </a:avLst>
          </a:prstGeom>
          <a:solidFill>
            <a:srgbClr val="253080"/>
          </a:solidFill>
          <a:ln w="19050">
            <a:solidFill>
              <a:srgbClr val="EF4444"/>
            </a:solidFill>
            <a:prstDash val="solid"/>
          </a:ln>
        </p:spPr>
      </p:sp>
      <p:sp>
        <p:nvSpPr>
          <p:cNvPr id="4" name="Text 2"/>
          <p:cNvSpPr/>
          <p:nvPr/>
        </p:nvSpPr>
        <p:spPr>
          <a:xfrm>
            <a:off x="292608" y="1051560"/>
            <a:ext cx="1353312" cy="274320"/>
          </a:xfrm>
          <a:prstGeom prst="rect">
            <a:avLst/>
          </a:prstGeom>
          <a:noFill/>
          <a:ln/>
        </p:spPr>
        <p:txBody>
          <a:bodyPr wrap="square" rtlCol="0" anchor="ctr"/>
          <a:lstStyle/>
          <a:p>
            <a:pPr algn="ctr" indent="0" marL="0">
              <a:buNone/>
            </a:pPr>
            <a:r>
              <a:rPr lang="en-US" sz="1200" b="1" dirty="0">
                <a:solidFill>
                  <a:srgbClr val="EF4444"/>
                </a:solidFill>
                <a:latin typeface="Calibri" pitchFamily="34" charset="0"/>
                <a:ea typeface="Calibri" pitchFamily="34" charset="-122"/>
                <a:cs typeface="Calibri" pitchFamily="34" charset="-120"/>
              </a:rPr>
              <a:t>Phase 1</a:t>
            </a:r>
            <a:endParaRPr lang="en-US" sz="1200" dirty="0"/>
          </a:p>
        </p:txBody>
      </p:sp>
      <p:sp>
        <p:nvSpPr>
          <p:cNvPr id="5" name="Text 3"/>
          <p:cNvSpPr/>
          <p:nvPr/>
        </p:nvSpPr>
        <p:spPr>
          <a:xfrm>
            <a:off x="292608" y="1316736"/>
            <a:ext cx="1353312" cy="457200"/>
          </a:xfrm>
          <a:prstGeom prst="rect">
            <a:avLst/>
          </a:prstGeom>
          <a:noFill/>
          <a:ln/>
        </p:spPr>
        <p:txBody>
          <a:bodyPr wrap="square" rtlCol="0" anchor="ctr"/>
          <a:lstStyle/>
          <a:p>
            <a:pPr algn="ctr" indent="0" marL="0">
              <a:buNone/>
            </a:pPr>
            <a:r>
              <a:rPr lang="en-US" sz="950" dirty="0">
                <a:solidFill>
                  <a:srgbClr val="8096C4"/>
                </a:solidFill>
                <a:latin typeface="Calibri" pitchFamily="34" charset="0"/>
                <a:ea typeface="Calibri" pitchFamily="34" charset="-122"/>
                <a:cs typeface="Calibri" pitchFamily="34" charset="-120"/>
              </a:rPr>
              <a:t>Security</a:t>
            </a:r>
            <a:endParaRPr lang="en-US" sz="950" dirty="0"/>
          </a:p>
          <a:p>
            <a:pPr algn="ctr" indent="0" marL="0">
              <a:buNone/>
            </a:pPr>
            <a:r>
              <a:rPr lang="en-US" sz="950" dirty="0">
                <a:solidFill>
                  <a:srgbClr val="8096C4"/>
                </a:solidFill>
                <a:latin typeface="Calibri" pitchFamily="34" charset="0"/>
                <a:ea typeface="Calibri" pitchFamily="34" charset="-122"/>
                <a:cs typeface="Calibri" pitchFamily="34" charset="-120"/>
              </a:rPr>
              <a:t>Wks 1–2 · ~40h</a:t>
            </a:r>
            <a:endParaRPr lang="en-US" sz="950" dirty="0"/>
          </a:p>
        </p:txBody>
      </p:sp>
      <p:sp>
        <p:nvSpPr>
          <p:cNvPr id="6" name="Shape 4"/>
          <p:cNvSpPr/>
          <p:nvPr/>
        </p:nvSpPr>
        <p:spPr>
          <a:xfrm>
            <a:off x="384048" y="1847088"/>
            <a:ext cx="1170432" cy="384048"/>
          </a:xfrm>
          <a:prstGeom prst="roundRect">
            <a:avLst>
              <a:gd name="adj" fmla="val 14286"/>
            </a:avLst>
          </a:prstGeom>
          <a:solidFill>
            <a:srgbClr val="2E3F9E"/>
          </a:solidFill>
          <a:ln w="12700">
            <a:solidFill>
              <a:srgbClr val="253080"/>
            </a:solidFill>
            <a:prstDash val="solid"/>
          </a:ln>
        </p:spPr>
      </p:sp>
      <p:sp>
        <p:nvSpPr>
          <p:cNvPr id="7" name="Text 5"/>
          <p:cNvSpPr/>
          <p:nvPr/>
        </p:nvSpPr>
        <p:spPr>
          <a:xfrm>
            <a:off x="384048" y="1883664"/>
            <a:ext cx="1170432" cy="320040"/>
          </a:xfrm>
          <a:prstGeom prst="rect">
            <a:avLst/>
          </a:prstGeom>
          <a:noFill/>
          <a:ln/>
        </p:spPr>
        <p:txBody>
          <a:bodyPr wrap="square" rtlCol="0" anchor="ctr"/>
          <a:lstStyle/>
          <a:p>
            <a:pPr algn="ctr" indent="0" marL="0">
              <a:buNone/>
            </a:pPr>
            <a:r>
              <a:rPr lang="en-US" sz="1100" dirty="0">
                <a:solidFill>
                  <a:srgbClr val="E8EDF8"/>
                </a:solidFill>
                <a:latin typeface="Calibri" pitchFamily="34" charset="0"/>
                <a:ea typeface="Calibri" pitchFamily="34" charset="-122"/>
                <a:cs typeface="Calibri" pitchFamily="34" charset="-120"/>
              </a:rPr>
              <a:t>JWT RS256</a:t>
            </a:r>
            <a:endParaRPr lang="en-US" sz="1100" dirty="0"/>
          </a:p>
        </p:txBody>
      </p:sp>
      <p:sp>
        <p:nvSpPr>
          <p:cNvPr id="8" name="Shape 6"/>
          <p:cNvSpPr/>
          <p:nvPr/>
        </p:nvSpPr>
        <p:spPr>
          <a:xfrm>
            <a:off x="384048" y="2331720"/>
            <a:ext cx="1170432" cy="384048"/>
          </a:xfrm>
          <a:prstGeom prst="roundRect">
            <a:avLst>
              <a:gd name="adj" fmla="val 14286"/>
            </a:avLst>
          </a:prstGeom>
          <a:solidFill>
            <a:srgbClr val="2E3F9E"/>
          </a:solidFill>
          <a:ln w="12700">
            <a:solidFill>
              <a:srgbClr val="253080"/>
            </a:solidFill>
            <a:prstDash val="solid"/>
          </a:ln>
        </p:spPr>
      </p:sp>
      <p:sp>
        <p:nvSpPr>
          <p:cNvPr id="9" name="Text 7"/>
          <p:cNvSpPr/>
          <p:nvPr/>
        </p:nvSpPr>
        <p:spPr>
          <a:xfrm>
            <a:off x="384048" y="2368296"/>
            <a:ext cx="1170432" cy="320040"/>
          </a:xfrm>
          <a:prstGeom prst="rect">
            <a:avLst/>
          </a:prstGeom>
          <a:noFill/>
          <a:ln/>
        </p:spPr>
        <p:txBody>
          <a:bodyPr wrap="square" rtlCol="0" anchor="ctr"/>
          <a:lstStyle/>
          <a:p>
            <a:pPr algn="ctr" indent="0" marL="0">
              <a:buNone/>
            </a:pPr>
            <a:r>
              <a:rPr lang="en-US" sz="1100" dirty="0">
                <a:solidFill>
                  <a:srgbClr val="E8EDF8"/>
                </a:solidFill>
                <a:latin typeface="Calibri" pitchFamily="34" charset="0"/>
                <a:ea typeface="Calibri" pitchFamily="34" charset="-122"/>
                <a:cs typeface="Calibri" pitchFamily="34" charset="-120"/>
              </a:rPr>
              <a:t>OPA RBAC</a:t>
            </a:r>
            <a:endParaRPr lang="en-US" sz="1100" dirty="0"/>
          </a:p>
        </p:txBody>
      </p:sp>
      <p:sp>
        <p:nvSpPr>
          <p:cNvPr id="10" name="Shape 8"/>
          <p:cNvSpPr/>
          <p:nvPr/>
        </p:nvSpPr>
        <p:spPr>
          <a:xfrm>
            <a:off x="384048" y="2816352"/>
            <a:ext cx="1170432" cy="384048"/>
          </a:xfrm>
          <a:prstGeom prst="roundRect">
            <a:avLst>
              <a:gd name="adj" fmla="val 14286"/>
            </a:avLst>
          </a:prstGeom>
          <a:solidFill>
            <a:srgbClr val="2E3F9E"/>
          </a:solidFill>
          <a:ln w="12700">
            <a:solidFill>
              <a:srgbClr val="253080"/>
            </a:solidFill>
            <a:prstDash val="solid"/>
          </a:ln>
        </p:spPr>
      </p:sp>
      <p:sp>
        <p:nvSpPr>
          <p:cNvPr id="11" name="Text 9"/>
          <p:cNvSpPr/>
          <p:nvPr/>
        </p:nvSpPr>
        <p:spPr>
          <a:xfrm>
            <a:off x="384048" y="2852928"/>
            <a:ext cx="1170432" cy="320040"/>
          </a:xfrm>
          <a:prstGeom prst="rect">
            <a:avLst/>
          </a:prstGeom>
          <a:noFill/>
          <a:ln/>
        </p:spPr>
        <p:txBody>
          <a:bodyPr wrap="square" rtlCol="0" anchor="ctr"/>
          <a:lstStyle/>
          <a:p>
            <a:pPr algn="ctr" indent="0" marL="0">
              <a:buNone/>
            </a:pPr>
            <a:r>
              <a:rPr lang="en-US" sz="1100" dirty="0">
                <a:solidFill>
                  <a:srgbClr val="E8EDF8"/>
                </a:solidFill>
                <a:latin typeface="Calibri" pitchFamily="34" charset="0"/>
                <a:ea typeface="Calibri" pitchFamily="34" charset="-122"/>
                <a:cs typeface="Calibri" pitchFamily="34" charset="-120"/>
              </a:rPr>
              <a:t>Key Vault</a:t>
            </a:r>
            <a:endParaRPr lang="en-US" sz="1100" dirty="0"/>
          </a:p>
        </p:txBody>
      </p:sp>
      <p:sp>
        <p:nvSpPr>
          <p:cNvPr id="12" name="Shape 10"/>
          <p:cNvSpPr/>
          <p:nvPr/>
        </p:nvSpPr>
        <p:spPr>
          <a:xfrm>
            <a:off x="384048" y="3300984"/>
            <a:ext cx="1170432" cy="384048"/>
          </a:xfrm>
          <a:prstGeom prst="roundRect">
            <a:avLst>
              <a:gd name="adj" fmla="val 14286"/>
            </a:avLst>
          </a:prstGeom>
          <a:solidFill>
            <a:srgbClr val="2E3F9E"/>
          </a:solidFill>
          <a:ln w="12700">
            <a:solidFill>
              <a:srgbClr val="253080"/>
            </a:solidFill>
            <a:prstDash val="solid"/>
          </a:ln>
        </p:spPr>
      </p:sp>
      <p:sp>
        <p:nvSpPr>
          <p:cNvPr id="13" name="Text 11"/>
          <p:cNvSpPr/>
          <p:nvPr/>
        </p:nvSpPr>
        <p:spPr>
          <a:xfrm>
            <a:off x="384048" y="3337560"/>
            <a:ext cx="1170432" cy="320040"/>
          </a:xfrm>
          <a:prstGeom prst="rect">
            <a:avLst/>
          </a:prstGeom>
          <a:noFill/>
          <a:ln/>
        </p:spPr>
        <p:txBody>
          <a:bodyPr wrap="square" rtlCol="0" anchor="ctr"/>
          <a:lstStyle/>
          <a:p>
            <a:pPr algn="ctr" indent="0" marL="0">
              <a:buNone/>
            </a:pPr>
            <a:r>
              <a:rPr lang="en-US" sz="1100" dirty="0">
                <a:solidFill>
                  <a:srgbClr val="E8EDF8"/>
                </a:solidFill>
                <a:latin typeface="Calibri" pitchFamily="34" charset="0"/>
                <a:ea typeface="Calibri" pitchFamily="34" charset="-122"/>
                <a:cs typeface="Calibri" pitchFamily="34" charset="-120"/>
              </a:rPr>
              <a:t>TLS</a:t>
            </a:r>
            <a:endParaRPr lang="en-US" sz="1100" dirty="0"/>
          </a:p>
        </p:txBody>
      </p:sp>
      <p:sp>
        <p:nvSpPr>
          <p:cNvPr id="14" name="Shape 12"/>
          <p:cNvSpPr/>
          <p:nvPr/>
        </p:nvSpPr>
        <p:spPr>
          <a:xfrm>
            <a:off x="1719072" y="987552"/>
            <a:ext cx="1353312" cy="2926080"/>
          </a:xfrm>
          <a:prstGeom prst="roundRect">
            <a:avLst>
              <a:gd name="adj" fmla="val 6757"/>
            </a:avLst>
          </a:prstGeom>
          <a:solidFill>
            <a:srgbClr val="253080"/>
          </a:solidFill>
          <a:ln w="19050">
            <a:solidFill>
              <a:srgbClr val="F59E0B"/>
            </a:solidFill>
            <a:prstDash val="solid"/>
          </a:ln>
        </p:spPr>
      </p:sp>
      <p:sp>
        <p:nvSpPr>
          <p:cNvPr id="15" name="Text 13"/>
          <p:cNvSpPr/>
          <p:nvPr/>
        </p:nvSpPr>
        <p:spPr>
          <a:xfrm>
            <a:off x="1719072" y="1051560"/>
            <a:ext cx="1353312" cy="274320"/>
          </a:xfrm>
          <a:prstGeom prst="rect">
            <a:avLst/>
          </a:prstGeom>
          <a:noFill/>
          <a:ln/>
        </p:spPr>
        <p:txBody>
          <a:bodyPr wrap="square" rtlCol="0" anchor="ctr"/>
          <a:lstStyle/>
          <a:p>
            <a:pPr algn="ctr" indent="0" marL="0">
              <a:buNone/>
            </a:pPr>
            <a:r>
              <a:rPr lang="en-US" sz="1200" b="1" dirty="0">
                <a:solidFill>
                  <a:srgbClr val="F59E0B"/>
                </a:solidFill>
                <a:latin typeface="Calibri" pitchFamily="34" charset="0"/>
                <a:ea typeface="Calibri" pitchFamily="34" charset="-122"/>
                <a:cs typeface="Calibri" pitchFamily="34" charset="-120"/>
              </a:rPr>
              <a:t>Phase 2</a:t>
            </a:r>
            <a:endParaRPr lang="en-US" sz="1200" dirty="0"/>
          </a:p>
        </p:txBody>
      </p:sp>
      <p:sp>
        <p:nvSpPr>
          <p:cNvPr id="16" name="Text 14"/>
          <p:cNvSpPr/>
          <p:nvPr/>
        </p:nvSpPr>
        <p:spPr>
          <a:xfrm>
            <a:off x="1719072" y="1316736"/>
            <a:ext cx="1353312" cy="457200"/>
          </a:xfrm>
          <a:prstGeom prst="rect">
            <a:avLst/>
          </a:prstGeom>
          <a:noFill/>
          <a:ln/>
        </p:spPr>
        <p:txBody>
          <a:bodyPr wrap="square" rtlCol="0" anchor="ctr"/>
          <a:lstStyle/>
          <a:p>
            <a:pPr algn="ctr" indent="0" marL="0">
              <a:buNone/>
            </a:pPr>
            <a:r>
              <a:rPr lang="en-US" sz="950" dirty="0">
                <a:solidFill>
                  <a:srgbClr val="8096C4"/>
                </a:solidFill>
                <a:latin typeface="Calibri" pitchFamily="34" charset="0"/>
                <a:ea typeface="Calibri" pitchFamily="34" charset="-122"/>
                <a:cs typeface="Calibri" pitchFamily="34" charset="-120"/>
              </a:rPr>
              <a:t>Observability</a:t>
            </a:r>
            <a:endParaRPr lang="en-US" sz="950" dirty="0"/>
          </a:p>
          <a:p>
            <a:pPr algn="ctr" indent="0" marL="0">
              <a:buNone/>
            </a:pPr>
            <a:r>
              <a:rPr lang="en-US" sz="950" dirty="0">
                <a:solidFill>
                  <a:srgbClr val="8096C4"/>
                </a:solidFill>
                <a:latin typeface="Calibri" pitchFamily="34" charset="0"/>
                <a:ea typeface="Calibri" pitchFamily="34" charset="-122"/>
                <a:cs typeface="Calibri" pitchFamily="34" charset="-120"/>
              </a:rPr>
              <a:t>Wk 3 · ~20h</a:t>
            </a:r>
            <a:endParaRPr lang="en-US" sz="950" dirty="0"/>
          </a:p>
        </p:txBody>
      </p:sp>
      <p:sp>
        <p:nvSpPr>
          <p:cNvPr id="17" name="Shape 15"/>
          <p:cNvSpPr/>
          <p:nvPr/>
        </p:nvSpPr>
        <p:spPr>
          <a:xfrm>
            <a:off x="1810512" y="1847088"/>
            <a:ext cx="1170432" cy="384048"/>
          </a:xfrm>
          <a:prstGeom prst="roundRect">
            <a:avLst>
              <a:gd name="adj" fmla="val 14286"/>
            </a:avLst>
          </a:prstGeom>
          <a:solidFill>
            <a:srgbClr val="2E3F9E"/>
          </a:solidFill>
          <a:ln w="12700">
            <a:solidFill>
              <a:srgbClr val="253080"/>
            </a:solidFill>
            <a:prstDash val="solid"/>
          </a:ln>
        </p:spPr>
      </p:sp>
      <p:sp>
        <p:nvSpPr>
          <p:cNvPr id="18" name="Text 16"/>
          <p:cNvSpPr/>
          <p:nvPr/>
        </p:nvSpPr>
        <p:spPr>
          <a:xfrm>
            <a:off x="1810512" y="1883664"/>
            <a:ext cx="1170432" cy="320040"/>
          </a:xfrm>
          <a:prstGeom prst="rect">
            <a:avLst/>
          </a:prstGeom>
          <a:noFill/>
          <a:ln/>
        </p:spPr>
        <p:txBody>
          <a:bodyPr wrap="square" rtlCol="0" anchor="ctr"/>
          <a:lstStyle/>
          <a:p>
            <a:pPr algn="ctr" indent="0" marL="0">
              <a:buNone/>
            </a:pPr>
            <a:r>
              <a:rPr lang="en-US" sz="1100" dirty="0">
                <a:solidFill>
                  <a:srgbClr val="E8EDF8"/>
                </a:solidFill>
                <a:latin typeface="Calibri" pitchFamily="34" charset="0"/>
                <a:ea typeface="Calibri" pitchFamily="34" charset="-122"/>
                <a:cs typeface="Calibri" pitchFamily="34" charset="-120"/>
              </a:rPr>
              <a:t>Prometheus</a:t>
            </a:r>
            <a:endParaRPr lang="en-US" sz="1100" dirty="0"/>
          </a:p>
        </p:txBody>
      </p:sp>
      <p:sp>
        <p:nvSpPr>
          <p:cNvPr id="19" name="Shape 17"/>
          <p:cNvSpPr/>
          <p:nvPr/>
        </p:nvSpPr>
        <p:spPr>
          <a:xfrm>
            <a:off x="1810512" y="2331720"/>
            <a:ext cx="1170432" cy="384048"/>
          </a:xfrm>
          <a:prstGeom prst="roundRect">
            <a:avLst>
              <a:gd name="adj" fmla="val 14286"/>
            </a:avLst>
          </a:prstGeom>
          <a:solidFill>
            <a:srgbClr val="2E3F9E"/>
          </a:solidFill>
          <a:ln w="12700">
            <a:solidFill>
              <a:srgbClr val="253080"/>
            </a:solidFill>
            <a:prstDash val="solid"/>
          </a:ln>
        </p:spPr>
      </p:sp>
      <p:sp>
        <p:nvSpPr>
          <p:cNvPr id="20" name="Text 18"/>
          <p:cNvSpPr/>
          <p:nvPr/>
        </p:nvSpPr>
        <p:spPr>
          <a:xfrm>
            <a:off x="1810512" y="2368296"/>
            <a:ext cx="1170432" cy="320040"/>
          </a:xfrm>
          <a:prstGeom prst="rect">
            <a:avLst/>
          </a:prstGeom>
          <a:noFill/>
          <a:ln/>
        </p:spPr>
        <p:txBody>
          <a:bodyPr wrap="square" rtlCol="0" anchor="ctr"/>
          <a:lstStyle/>
          <a:p>
            <a:pPr algn="ctr" indent="0" marL="0">
              <a:buNone/>
            </a:pPr>
            <a:r>
              <a:rPr lang="en-US" sz="1100" dirty="0">
                <a:solidFill>
                  <a:srgbClr val="E8EDF8"/>
                </a:solidFill>
                <a:latin typeface="Calibri" pitchFamily="34" charset="0"/>
                <a:ea typeface="Calibri" pitchFamily="34" charset="-122"/>
                <a:cs typeface="Calibri" pitchFamily="34" charset="-120"/>
              </a:rPr>
              <a:t>OTEL spans</a:t>
            </a:r>
            <a:endParaRPr lang="en-US" sz="1100" dirty="0"/>
          </a:p>
        </p:txBody>
      </p:sp>
      <p:sp>
        <p:nvSpPr>
          <p:cNvPr id="21" name="Shape 19"/>
          <p:cNvSpPr/>
          <p:nvPr/>
        </p:nvSpPr>
        <p:spPr>
          <a:xfrm>
            <a:off x="1810512" y="2816352"/>
            <a:ext cx="1170432" cy="384048"/>
          </a:xfrm>
          <a:prstGeom prst="roundRect">
            <a:avLst>
              <a:gd name="adj" fmla="val 14286"/>
            </a:avLst>
          </a:prstGeom>
          <a:solidFill>
            <a:srgbClr val="2E3F9E"/>
          </a:solidFill>
          <a:ln w="12700">
            <a:solidFill>
              <a:srgbClr val="253080"/>
            </a:solidFill>
            <a:prstDash val="solid"/>
          </a:ln>
        </p:spPr>
      </p:sp>
      <p:sp>
        <p:nvSpPr>
          <p:cNvPr id="22" name="Text 20"/>
          <p:cNvSpPr/>
          <p:nvPr/>
        </p:nvSpPr>
        <p:spPr>
          <a:xfrm>
            <a:off x="1810512" y="2852928"/>
            <a:ext cx="1170432" cy="320040"/>
          </a:xfrm>
          <a:prstGeom prst="rect">
            <a:avLst/>
          </a:prstGeom>
          <a:noFill/>
          <a:ln/>
        </p:spPr>
        <p:txBody>
          <a:bodyPr wrap="square" rtlCol="0" anchor="ctr"/>
          <a:lstStyle/>
          <a:p>
            <a:pPr algn="ctr" indent="0" marL="0">
              <a:buNone/>
            </a:pPr>
            <a:r>
              <a:rPr lang="en-US" sz="1100" dirty="0">
                <a:solidFill>
                  <a:srgbClr val="E8EDF8"/>
                </a:solidFill>
                <a:latin typeface="Calibri" pitchFamily="34" charset="0"/>
                <a:ea typeface="Calibri" pitchFamily="34" charset="-122"/>
                <a:cs typeface="Calibri" pitchFamily="34" charset="-120"/>
              </a:rPr>
              <a:t>Grafana</a:t>
            </a:r>
            <a:endParaRPr lang="en-US" sz="1100" dirty="0"/>
          </a:p>
        </p:txBody>
      </p:sp>
      <p:sp>
        <p:nvSpPr>
          <p:cNvPr id="23" name="Shape 21"/>
          <p:cNvSpPr/>
          <p:nvPr/>
        </p:nvSpPr>
        <p:spPr>
          <a:xfrm>
            <a:off x="1810512" y="3300984"/>
            <a:ext cx="1170432" cy="384048"/>
          </a:xfrm>
          <a:prstGeom prst="roundRect">
            <a:avLst>
              <a:gd name="adj" fmla="val 14286"/>
            </a:avLst>
          </a:prstGeom>
          <a:solidFill>
            <a:srgbClr val="2E3F9E"/>
          </a:solidFill>
          <a:ln w="12700">
            <a:solidFill>
              <a:srgbClr val="253080"/>
            </a:solidFill>
            <a:prstDash val="solid"/>
          </a:ln>
        </p:spPr>
      </p:sp>
      <p:sp>
        <p:nvSpPr>
          <p:cNvPr id="24" name="Text 22"/>
          <p:cNvSpPr/>
          <p:nvPr/>
        </p:nvSpPr>
        <p:spPr>
          <a:xfrm>
            <a:off x="1810512" y="3337560"/>
            <a:ext cx="1170432" cy="320040"/>
          </a:xfrm>
          <a:prstGeom prst="rect">
            <a:avLst/>
          </a:prstGeom>
          <a:noFill/>
          <a:ln/>
        </p:spPr>
        <p:txBody>
          <a:bodyPr wrap="square" rtlCol="0" anchor="ctr"/>
          <a:lstStyle/>
          <a:p>
            <a:pPr algn="ctr" indent="0" marL="0">
              <a:buNone/>
            </a:pPr>
            <a:r>
              <a:rPr lang="en-US" sz="1100" dirty="0">
                <a:solidFill>
                  <a:srgbClr val="E8EDF8"/>
                </a:solidFill>
                <a:latin typeface="Calibri" pitchFamily="34" charset="0"/>
                <a:ea typeface="Calibri" pitchFamily="34" charset="-122"/>
                <a:cs typeface="Calibri" pitchFamily="34" charset="-120"/>
              </a:rPr>
              <a:t>PagerDuty</a:t>
            </a:r>
            <a:endParaRPr lang="en-US" sz="1100" dirty="0"/>
          </a:p>
        </p:txBody>
      </p:sp>
      <p:sp>
        <p:nvSpPr>
          <p:cNvPr id="25" name="Shape 23"/>
          <p:cNvSpPr/>
          <p:nvPr/>
        </p:nvSpPr>
        <p:spPr>
          <a:xfrm>
            <a:off x="3145536" y="987552"/>
            <a:ext cx="1353312" cy="2926080"/>
          </a:xfrm>
          <a:prstGeom prst="roundRect">
            <a:avLst>
              <a:gd name="adj" fmla="val 6757"/>
            </a:avLst>
          </a:prstGeom>
          <a:solidFill>
            <a:srgbClr val="253080"/>
          </a:solidFill>
          <a:ln w="19050">
            <a:solidFill>
              <a:srgbClr val="FB923C"/>
            </a:solidFill>
            <a:prstDash val="solid"/>
          </a:ln>
        </p:spPr>
      </p:sp>
      <p:sp>
        <p:nvSpPr>
          <p:cNvPr id="26" name="Text 24"/>
          <p:cNvSpPr/>
          <p:nvPr/>
        </p:nvSpPr>
        <p:spPr>
          <a:xfrm>
            <a:off x="3145536" y="1051560"/>
            <a:ext cx="1353312" cy="274320"/>
          </a:xfrm>
          <a:prstGeom prst="rect">
            <a:avLst/>
          </a:prstGeom>
          <a:noFill/>
          <a:ln/>
        </p:spPr>
        <p:txBody>
          <a:bodyPr wrap="square" rtlCol="0" anchor="ctr"/>
          <a:lstStyle/>
          <a:p>
            <a:pPr algn="ctr" indent="0" marL="0">
              <a:buNone/>
            </a:pPr>
            <a:r>
              <a:rPr lang="en-US" sz="1200" b="1" dirty="0">
                <a:solidFill>
                  <a:srgbClr val="FB923C"/>
                </a:solidFill>
                <a:latin typeface="Calibri" pitchFamily="34" charset="0"/>
                <a:ea typeface="Calibri" pitchFamily="34" charset="-122"/>
                <a:cs typeface="Calibri" pitchFamily="34" charset="-120"/>
              </a:rPr>
              <a:t>Phase 3</a:t>
            </a:r>
            <a:endParaRPr lang="en-US" sz="1200" dirty="0"/>
          </a:p>
        </p:txBody>
      </p:sp>
      <p:sp>
        <p:nvSpPr>
          <p:cNvPr id="27" name="Text 25"/>
          <p:cNvSpPr/>
          <p:nvPr/>
        </p:nvSpPr>
        <p:spPr>
          <a:xfrm>
            <a:off x="3145536" y="1316736"/>
            <a:ext cx="1353312" cy="457200"/>
          </a:xfrm>
          <a:prstGeom prst="rect">
            <a:avLst/>
          </a:prstGeom>
          <a:noFill/>
          <a:ln/>
        </p:spPr>
        <p:txBody>
          <a:bodyPr wrap="square" rtlCol="0" anchor="ctr"/>
          <a:lstStyle/>
          <a:p>
            <a:pPr algn="ctr" indent="0" marL="0">
              <a:buNone/>
            </a:pPr>
            <a:r>
              <a:rPr lang="en-US" sz="950" dirty="0">
                <a:solidFill>
                  <a:srgbClr val="8096C4"/>
                </a:solidFill>
                <a:latin typeface="Calibri" pitchFamily="34" charset="0"/>
                <a:ea typeface="Calibri" pitchFamily="34" charset="-122"/>
                <a:cs typeface="Calibri" pitchFamily="34" charset="-120"/>
              </a:rPr>
              <a:t>Reliability</a:t>
            </a:r>
            <a:endParaRPr lang="en-US" sz="950" dirty="0"/>
          </a:p>
          <a:p>
            <a:pPr algn="ctr" indent="0" marL="0">
              <a:buNone/>
            </a:pPr>
            <a:r>
              <a:rPr lang="en-US" sz="950" dirty="0">
                <a:solidFill>
                  <a:srgbClr val="8096C4"/>
                </a:solidFill>
                <a:latin typeface="Calibri" pitchFamily="34" charset="0"/>
                <a:ea typeface="Calibri" pitchFamily="34" charset="-122"/>
                <a:cs typeface="Calibri" pitchFamily="34" charset="-120"/>
              </a:rPr>
              <a:t>Wks 4–5 · ~30h</a:t>
            </a:r>
            <a:endParaRPr lang="en-US" sz="950" dirty="0"/>
          </a:p>
        </p:txBody>
      </p:sp>
      <p:sp>
        <p:nvSpPr>
          <p:cNvPr id="28" name="Shape 26"/>
          <p:cNvSpPr/>
          <p:nvPr/>
        </p:nvSpPr>
        <p:spPr>
          <a:xfrm>
            <a:off x="3236976" y="1847088"/>
            <a:ext cx="1170432" cy="384048"/>
          </a:xfrm>
          <a:prstGeom prst="roundRect">
            <a:avLst>
              <a:gd name="adj" fmla="val 14286"/>
            </a:avLst>
          </a:prstGeom>
          <a:solidFill>
            <a:srgbClr val="2E3F9E"/>
          </a:solidFill>
          <a:ln w="12700">
            <a:solidFill>
              <a:srgbClr val="253080"/>
            </a:solidFill>
            <a:prstDash val="solid"/>
          </a:ln>
        </p:spPr>
      </p:sp>
      <p:sp>
        <p:nvSpPr>
          <p:cNvPr id="29" name="Text 27"/>
          <p:cNvSpPr/>
          <p:nvPr/>
        </p:nvSpPr>
        <p:spPr>
          <a:xfrm>
            <a:off x="3236976" y="1883664"/>
            <a:ext cx="1170432" cy="320040"/>
          </a:xfrm>
          <a:prstGeom prst="rect">
            <a:avLst/>
          </a:prstGeom>
          <a:noFill/>
          <a:ln/>
        </p:spPr>
        <p:txBody>
          <a:bodyPr wrap="square" rtlCol="0" anchor="ctr"/>
          <a:lstStyle/>
          <a:p>
            <a:pPr algn="ctr" indent="0" marL="0">
              <a:buNone/>
            </a:pPr>
            <a:r>
              <a:rPr lang="en-US" sz="1100" dirty="0">
                <a:solidFill>
                  <a:srgbClr val="E8EDF8"/>
                </a:solidFill>
                <a:latin typeface="Calibri" pitchFamily="34" charset="0"/>
                <a:ea typeface="Calibri" pitchFamily="34" charset="-122"/>
                <a:cs typeface="Calibri" pitchFamily="34" charset="-120"/>
              </a:rPr>
              <a:t>Outbox writer</a:t>
            </a:r>
            <a:endParaRPr lang="en-US" sz="1100" dirty="0"/>
          </a:p>
        </p:txBody>
      </p:sp>
      <p:sp>
        <p:nvSpPr>
          <p:cNvPr id="30" name="Shape 28"/>
          <p:cNvSpPr/>
          <p:nvPr/>
        </p:nvSpPr>
        <p:spPr>
          <a:xfrm>
            <a:off x="3236976" y="2331720"/>
            <a:ext cx="1170432" cy="384048"/>
          </a:xfrm>
          <a:prstGeom prst="roundRect">
            <a:avLst>
              <a:gd name="adj" fmla="val 14286"/>
            </a:avLst>
          </a:prstGeom>
          <a:solidFill>
            <a:srgbClr val="2E3F9E"/>
          </a:solidFill>
          <a:ln w="12700">
            <a:solidFill>
              <a:srgbClr val="253080"/>
            </a:solidFill>
            <a:prstDash val="solid"/>
          </a:ln>
        </p:spPr>
      </p:sp>
      <p:sp>
        <p:nvSpPr>
          <p:cNvPr id="31" name="Text 29"/>
          <p:cNvSpPr/>
          <p:nvPr/>
        </p:nvSpPr>
        <p:spPr>
          <a:xfrm>
            <a:off x="3236976" y="2368296"/>
            <a:ext cx="1170432" cy="320040"/>
          </a:xfrm>
          <a:prstGeom prst="rect">
            <a:avLst/>
          </a:prstGeom>
          <a:noFill/>
          <a:ln/>
        </p:spPr>
        <p:txBody>
          <a:bodyPr wrap="square" rtlCol="0" anchor="ctr"/>
          <a:lstStyle/>
          <a:p>
            <a:pPr algn="ctr" indent="0" marL="0">
              <a:buNone/>
            </a:pPr>
            <a:r>
              <a:rPr lang="en-US" sz="1100" dirty="0">
                <a:solidFill>
                  <a:srgbClr val="E8EDF8"/>
                </a:solidFill>
                <a:latin typeface="Calibri" pitchFamily="34" charset="0"/>
                <a:ea typeface="Calibri" pitchFamily="34" charset="-122"/>
                <a:cs typeface="Calibri" pitchFamily="34" charset="-120"/>
              </a:rPr>
              <a:t>PG replica</a:t>
            </a:r>
            <a:endParaRPr lang="en-US" sz="1100" dirty="0"/>
          </a:p>
        </p:txBody>
      </p:sp>
      <p:sp>
        <p:nvSpPr>
          <p:cNvPr id="32" name="Shape 30"/>
          <p:cNvSpPr/>
          <p:nvPr/>
        </p:nvSpPr>
        <p:spPr>
          <a:xfrm>
            <a:off x="3236976" y="2816352"/>
            <a:ext cx="1170432" cy="384048"/>
          </a:xfrm>
          <a:prstGeom prst="roundRect">
            <a:avLst>
              <a:gd name="adj" fmla="val 14286"/>
            </a:avLst>
          </a:prstGeom>
          <a:solidFill>
            <a:srgbClr val="2E3F9E"/>
          </a:solidFill>
          <a:ln w="12700">
            <a:solidFill>
              <a:srgbClr val="253080"/>
            </a:solidFill>
            <a:prstDash val="solid"/>
          </a:ln>
        </p:spPr>
      </p:sp>
      <p:sp>
        <p:nvSpPr>
          <p:cNvPr id="33" name="Text 31"/>
          <p:cNvSpPr/>
          <p:nvPr/>
        </p:nvSpPr>
        <p:spPr>
          <a:xfrm>
            <a:off x="3236976" y="2852928"/>
            <a:ext cx="1170432" cy="320040"/>
          </a:xfrm>
          <a:prstGeom prst="rect">
            <a:avLst/>
          </a:prstGeom>
          <a:noFill/>
          <a:ln/>
        </p:spPr>
        <p:txBody>
          <a:bodyPr wrap="square" rtlCol="0" anchor="ctr"/>
          <a:lstStyle/>
          <a:p>
            <a:pPr algn="ctr" indent="0" marL="0">
              <a:buNone/>
            </a:pPr>
            <a:r>
              <a:rPr lang="en-US" sz="1100" dirty="0">
                <a:solidFill>
                  <a:srgbClr val="E8EDF8"/>
                </a:solidFill>
                <a:latin typeface="Calibri" pitchFamily="34" charset="0"/>
                <a:ea typeface="Calibri" pitchFamily="34" charset="-122"/>
                <a:cs typeface="Calibri" pitchFamily="34" charset="-120"/>
              </a:rPr>
              <a:t>Redis HA</a:t>
            </a:r>
            <a:endParaRPr lang="en-US" sz="1100" dirty="0"/>
          </a:p>
        </p:txBody>
      </p:sp>
      <p:sp>
        <p:nvSpPr>
          <p:cNvPr id="34" name="Shape 32"/>
          <p:cNvSpPr/>
          <p:nvPr/>
        </p:nvSpPr>
        <p:spPr>
          <a:xfrm>
            <a:off x="3236976" y="3300984"/>
            <a:ext cx="1170432" cy="384048"/>
          </a:xfrm>
          <a:prstGeom prst="roundRect">
            <a:avLst>
              <a:gd name="adj" fmla="val 14286"/>
            </a:avLst>
          </a:prstGeom>
          <a:solidFill>
            <a:srgbClr val="2E3F9E"/>
          </a:solidFill>
          <a:ln w="12700">
            <a:solidFill>
              <a:srgbClr val="253080"/>
            </a:solidFill>
            <a:prstDash val="solid"/>
          </a:ln>
        </p:spPr>
      </p:sp>
      <p:sp>
        <p:nvSpPr>
          <p:cNvPr id="35" name="Text 33"/>
          <p:cNvSpPr/>
          <p:nvPr/>
        </p:nvSpPr>
        <p:spPr>
          <a:xfrm>
            <a:off x="3236976" y="3337560"/>
            <a:ext cx="1170432" cy="320040"/>
          </a:xfrm>
          <a:prstGeom prst="rect">
            <a:avLst/>
          </a:prstGeom>
          <a:noFill/>
          <a:ln/>
        </p:spPr>
        <p:txBody>
          <a:bodyPr wrap="square" rtlCol="0" anchor="ctr"/>
          <a:lstStyle/>
          <a:p>
            <a:pPr algn="ctr" indent="0" marL="0">
              <a:buNone/>
            </a:pPr>
            <a:r>
              <a:rPr lang="en-US" sz="1100" dirty="0">
                <a:solidFill>
                  <a:srgbClr val="E8EDF8"/>
                </a:solidFill>
                <a:latin typeface="Calibri" pitchFamily="34" charset="0"/>
                <a:ea typeface="Calibri" pitchFamily="34" charset="-122"/>
                <a:cs typeface="Calibri" pitchFamily="34" charset="-120"/>
              </a:rPr>
              <a:t>Rate limits</a:t>
            </a:r>
            <a:endParaRPr lang="en-US" sz="1100" dirty="0"/>
          </a:p>
        </p:txBody>
      </p:sp>
      <p:sp>
        <p:nvSpPr>
          <p:cNvPr id="36" name="Shape 34"/>
          <p:cNvSpPr/>
          <p:nvPr/>
        </p:nvSpPr>
        <p:spPr>
          <a:xfrm>
            <a:off x="4572000" y="987552"/>
            <a:ext cx="1353312" cy="2926080"/>
          </a:xfrm>
          <a:prstGeom prst="roundRect">
            <a:avLst>
              <a:gd name="adj" fmla="val 6757"/>
            </a:avLst>
          </a:prstGeom>
          <a:solidFill>
            <a:srgbClr val="253080"/>
          </a:solidFill>
          <a:ln w="19050">
            <a:solidFill>
              <a:srgbClr val="A78BFA"/>
            </a:solidFill>
            <a:prstDash val="solid"/>
          </a:ln>
        </p:spPr>
      </p:sp>
      <p:sp>
        <p:nvSpPr>
          <p:cNvPr id="37" name="Text 35"/>
          <p:cNvSpPr/>
          <p:nvPr/>
        </p:nvSpPr>
        <p:spPr>
          <a:xfrm>
            <a:off x="4572000" y="1051560"/>
            <a:ext cx="1353312" cy="274320"/>
          </a:xfrm>
          <a:prstGeom prst="rect">
            <a:avLst/>
          </a:prstGeom>
          <a:noFill/>
          <a:ln/>
        </p:spPr>
        <p:txBody>
          <a:bodyPr wrap="square" rtlCol="0" anchor="ctr"/>
          <a:lstStyle/>
          <a:p>
            <a:pPr algn="ctr" indent="0" marL="0">
              <a:buNone/>
            </a:pPr>
            <a:r>
              <a:rPr lang="en-US" sz="1200" b="1" dirty="0">
                <a:solidFill>
                  <a:srgbClr val="A78BFA"/>
                </a:solidFill>
                <a:latin typeface="Calibri" pitchFamily="34" charset="0"/>
                <a:ea typeface="Calibri" pitchFamily="34" charset="-122"/>
                <a:cs typeface="Calibri" pitchFamily="34" charset="-120"/>
              </a:rPr>
              <a:t>Phase 4</a:t>
            </a:r>
            <a:endParaRPr lang="en-US" sz="1200" dirty="0"/>
          </a:p>
        </p:txBody>
      </p:sp>
      <p:sp>
        <p:nvSpPr>
          <p:cNvPr id="38" name="Text 36"/>
          <p:cNvSpPr/>
          <p:nvPr/>
        </p:nvSpPr>
        <p:spPr>
          <a:xfrm>
            <a:off x="4572000" y="1316736"/>
            <a:ext cx="1353312" cy="457200"/>
          </a:xfrm>
          <a:prstGeom prst="rect">
            <a:avLst/>
          </a:prstGeom>
          <a:noFill/>
          <a:ln/>
        </p:spPr>
        <p:txBody>
          <a:bodyPr wrap="square" rtlCol="0" anchor="ctr"/>
          <a:lstStyle/>
          <a:p>
            <a:pPr algn="ctr" indent="0" marL="0">
              <a:buNone/>
            </a:pPr>
            <a:r>
              <a:rPr lang="en-US" sz="950" dirty="0">
                <a:solidFill>
                  <a:srgbClr val="8096C4"/>
                </a:solidFill>
                <a:latin typeface="Calibri" pitchFamily="34" charset="0"/>
                <a:ea typeface="Calibri" pitchFamily="34" charset="-122"/>
                <a:cs typeface="Calibri" pitchFamily="34" charset="-120"/>
              </a:rPr>
              <a:t>CI/CD</a:t>
            </a:r>
            <a:endParaRPr lang="en-US" sz="950" dirty="0"/>
          </a:p>
          <a:p>
            <a:pPr algn="ctr" indent="0" marL="0">
              <a:buNone/>
            </a:pPr>
            <a:r>
              <a:rPr lang="en-US" sz="950" dirty="0">
                <a:solidFill>
                  <a:srgbClr val="8096C4"/>
                </a:solidFill>
                <a:latin typeface="Calibri" pitchFamily="34" charset="0"/>
                <a:ea typeface="Calibri" pitchFamily="34" charset="-122"/>
                <a:cs typeface="Calibri" pitchFamily="34" charset="-120"/>
              </a:rPr>
              <a:t>Wks 5–6 · ~20h</a:t>
            </a:r>
            <a:endParaRPr lang="en-US" sz="950" dirty="0"/>
          </a:p>
        </p:txBody>
      </p:sp>
      <p:sp>
        <p:nvSpPr>
          <p:cNvPr id="39" name="Shape 37"/>
          <p:cNvSpPr/>
          <p:nvPr/>
        </p:nvSpPr>
        <p:spPr>
          <a:xfrm>
            <a:off x="4663440" y="1847088"/>
            <a:ext cx="1170432" cy="384048"/>
          </a:xfrm>
          <a:prstGeom prst="roundRect">
            <a:avLst>
              <a:gd name="adj" fmla="val 14286"/>
            </a:avLst>
          </a:prstGeom>
          <a:solidFill>
            <a:srgbClr val="2E3F9E"/>
          </a:solidFill>
          <a:ln w="12700">
            <a:solidFill>
              <a:srgbClr val="253080"/>
            </a:solidFill>
            <a:prstDash val="solid"/>
          </a:ln>
        </p:spPr>
      </p:sp>
      <p:sp>
        <p:nvSpPr>
          <p:cNvPr id="40" name="Text 38"/>
          <p:cNvSpPr/>
          <p:nvPr/>
        </p:nvSpPr>
        <p:spPr>
          <a:xfrm>
            <a:off x="4663440" y="1883664"/>
            <a:ext cx="1170432" cy="320040"/>
          </a:xfrm>
          <a:prstGeom prst="rect">
            <a:avLst/>
          </a:prstGeom>
          <a:noFill/>
          <a:ln/>
        </p:spPr>
        <p:txBody>
          <a:bodyPr wrap="square" rtlCol="0" anchor="ctr"/>
          <a:lstStyle/>
          <a:p>
            <a:pPr algn="ctr" indent="0" marL="0">
              <a:buNone/>
            </a:pPr>
            <a:r>
              <a:rPr lang="en-US" sz="1100" dirty="0">
                <a:solidFill>
                  <a:srgbClr val="E8EDF8"/>
                </a:solidFill>
                <a:latin typeface="Calibri" pitchFamily="34" charset="0"/>
                <a:ea typeface="Calibri" pitchFamily="34" charset="-122"/>
                <a:cs typeface="Calibri" pitchFamily="34" charset="-120"/>
              </a:rPr>
              <a:t>GH Actions</a:t>
            </a:r>
            <a:endParaRPr lang="en-US" sz="1100" dirty="0"/>
          </a:p>
        </p:txBody>
      </p:sp>
      <p:sp>
        <p:nvSpPr>
          <p:cNvPr id="41" name="Shape 39"/>
          <p:cNvSpPr/>
          <p:nvPr/>
        </p:nvSpPr>
        <p:spPr>
          <a:xfrm>
            <a:off x="4663440" y="2331720"/>
            <a:ext cx="1170432" cy="384048"/>
          </a:xfrm>
          <a:prstGeom prst="roundRect">
            <a:avLst>
              <a:gd name="adj" fmla="val 14286"/>
            </a:avLst>
          </a:prstGeom>
          <a:solidFill>
            <a:srgbClr val="2E3F9E"/>
          </a:solidFill>
          <a:ln w="12700">
            <a:solidFill>
              <a:srgbClr val="253080"/>
            </a:solidFill>
            <a:prstDash val="solid"/>
          </a:ln>
        </p:spPr>
      </p:sp>
      <p:sp>
        <p:nvSpPr>
          <p:cNvPr id="42" name="Text 40"/>
          <p:cNvSpPr/>
          <p:nvPr/>
        </p:nvSpPr>
        <p:spPr>
          <a:xfrm>
            <a:off x="4663440" y="2368296"/>
            <a:ext cx="1170432" cy="320040"/>
          </a:xfrm>
          <a:prstGeom prst="rect">
            <a:avLst/>
          </a:prstGeom>
          <a:noFill/>
          <a:ln/>
        </p:spPr>
        <p:txBody>
          <a:bodyPr wrap="square" rtlCol="0" anchor="ctr"/>
          <a:lstStyle/>
          <a:p>
            <a:pPr algn="ctr" indent="0" marL="0">
              <a:buNone/>
            </a:pPr>
            <a:r>
              <a:rPr lang="en-US" sz="1100" dirty="0">
                <a:solidFill>
                  <a:srgbClr val="E8EDF8"/>
                </a:solidFill>
                <a:latin typeface="Calibri" pitchFamily="34" charset="0"/>
                <a:ea typeface="Calibri" pitchFamily="34" charset="-122"/>
                <a:cs typeface="Calibri" pitchFamily="34" charset="-120"/>
              </a:rPr>
              <a:t>Trivy scan</a:t>
            </a:r>
            <a:endParaRPr lang="en-US" sz="1100" dirty="0"/>
          </a:p>
        </p:txBody>
      </p:sp>
      <p:sp>
        <p:nvSpPr>
          <p:cNvPr id="43" name="Shape 41"/>
          <p:cNvSpPr/>
          <p:nvPr/>
        </p:nvSpPr>
        <p:spPr>
          <a:xfrm>
            <a:off x="4663440" y="2816352"/>
            <a:ext cx="1170432" cy="384048"/>
          </a:xfrm>
          <a:prstGeom prst="roundRect">
            <a:avLst>
              <a:gd name="adj" fmla="val 14286"/>
            </a:avLst>
          </a:prstGeom>
          <a:solidFill>
            <a:srgbClr val="2E3F9E"/>
          </a:solidFill>
          <a:ln w="12700">
            <a:solidFill>
              <a:srgbClr val="253080"/>
            </a:solidFill>
            <a:prstDash val="solid"/>
          </a:ln>
        </p:spPr>
      </p:sp>
      <p:sp>
        <p:nvSpPr>
          <p:cNvPr id="44" name="Text 42"/>
          <p:cNvSpPr/>
          <p:nvPr/>
        </p:nvSpPr>
        <p:spPr>
          <a:xfrm>
            <a:off x="4663440" y="2852928"/>
            <a:ext cx="1170432" cy="320040"/>
          </a:xfrm>
          <a:prstGeom prst="rect">
            <a:avLst/>
          </a:prstGeom>
          <a:noFill/>
          <a:ln/>
        </p:spPr>
        <p:txBody>
          <a:bodyPr wrap="square" rtlCol="0" anchor="ctr"/>
          <a:lstStyle/>
          <a:p>
            <a:pPr algn="ctr" indent="0" marL="0">
              <a:buNone/>
            </a:pPr>
            <a:r>
              <a:rPr lang="en-US" sz="1100" dirty="0">
                <a:solidFill>
                  <a:srgbClr val="E8EDF8"/>
                </a:solidFill>
                <a:latin typeface="Calibri" pitchFamily="34" charset="0"/>
                <a:ea typeface="Calibri" pitchFamily="34" charset="-122"/>
                <a:cs typeface="Calibri" pitchFamily="34" charset="-120"/>
              </a:rPr>
              <a:t>Canary</a:t>
            </a:r>
            <a:endParaRPr lang="en-US" sz="1100" dirty="0"/>
          </a:p>
        </p:txBody>
      </p:sp>
      <p:sp>
        <p:nvSpPr>
          <p:cNvPr id="45" name="Shape 43"/>
          <p:cNvSpPr/>
          <p:nvPr/>
        </p:nvSpPr>
        <p:spPr>
          <a:xfrm>
            <a:off x="4663440" y="3300984"/>
            <a:ext cx="1170432" cy="384048"/>
          </a:xfrm>
          <a:prstGeom prst="roundRect">
            <a:avLst>
              <a:gd name="adj" fmla="val 14286"/>
            </a:avLst>
          </a:prstGeom>
          <a:solidFill>
            <a:srgbClr val="2E3F9E"/>
          </a:solidFill>
          <a:ln w="12700">
            <a:solidFill>
              <a:srgbClr val="253080"/>
            </a:solidFill>
            <a:prstDash val="solid"/>
          </a:ln>
        </p:spPr>
      </p:sp>
      <p:sp>
        <p:nvSpPr>
          <p:cNvPr id="46" name="Text 44"/>
          <p:cNvSpPr/>
          <p:nvPr/>
        </p:nvSpPr>
        <p:spPr>
          <a:xfrm>
            <a:off x="4663440" y="3337560"/>
            <a:ext cx="1170432" cy="320040"/>
          </a:xfrm>
          <a:prstGeom prst="rect">
            <a:avLst/>
          </a:prstGeom>
          <a:noFill/>
          <a:ln/>
        </p:spPr>
        <p:txBody>
          <a:bodyPr wrap="square" rtlCol="0" anchor="ctr"/>
          <a:lstStyle/>
          <a:p>
            <a:pPr algn="ctr" indent="0" marL="0">
              <a:buNone/>
            </a:pPr>
            <a:r>
              <a:rPr lang="en-US" sz="1100" dirty="0">
                <a:solidFill>
                  <a:srgbClr val="E8EDF8"/>
                </a:solidFill>
                <a:latin typeface="Calibri" pitchFamily="34" charset="0"/>
                <a:ea typeface="Calibri" pitchFamily="34" charset="-122"/>
                <a:cs typeface="Calibri" pitchFamily="34" charset="-120"/>
              </a:rPr>
              <a:t>Alembic CI</a:t>
            </a:r>
            <a:endParaRPr lang="en-US" sz="1100" dirty="0"/>
          </a:p>
        </p:txBody>
      </p:sp>
      <p:sp>
        <p:nvSpPr>
          <p:cNvPr id="47" name="Shape 45"/>
          <p:cNvSpPr/>
          <p:nvPr/>
        </p:nvSpPr>
        <p:spPr>
          <a:xfrm>
            <a:off x="5998464" y="987552"/>
            <a:ext cx="1353312" cy="2926080"/>
          </a:xfrm>
          <a:prstGeom prst="roundRect">
            <a:avLst>
              <a:gd name="adj" fmla="val 6757"/>
            </a:avLst>
          </a:prstGeom>
          <a:solidFill>
            <a:srgbClr val="253080"/>
          </a:solidFill>
          <a:ln w="19050">
            <a:solidFill>
              <a:srgbClr val="CADCFC"/>
            </a:solidFill>
            <a:prstDash val="solid"/>
          </a:ln>
        </p:spPr>
      </p:sp>
      <p:sp>
        <p:nvSpPr>
          <p:cNvPr id="48" name="Text 46"/>
          <p:cNvSpPr/>
          <p:nvPr/>
        </p:nvSpPr>
        <p:spPr>
          <a:xfrm>
            <a:off x="5998464" y="1051560"/>
            <a:ext cx="1353312" cy="274320"/>
          </a:xfrm>
          <a:prstGeom prst="rect">
            <a:avLst/>
          </a:prstGeom>
          <a:noFill/>
          <a:ln/>
        </p:spPr>
        <p:txBody>
          <a:bodyPr wrap="square" rtlCol="0" anchor="ctr"/>
          <a:lstStyle/>
          <a:p>
            <a:pPr algn="ctr" indent="0" marL="0">
              <a:buNone/>
            </a:pPr>
            <a:r>
              <a:rPr lang="en-US" sz="1200" b="1" dirty="0">
                <a:solidFill>
                  <a:srgbClr val="CADCFC"/>
                </a:solidFill>
                <a:latin typeface="Calibri" pitchFamily="34" charset="0"/>
                <a:ea typeface="Calibri" pitchFamily="34" charset="-122"/>
                <a:cs typeface="Calibri" pitchFamily="34" charset="-120"/>
              </a:rPr>
              <a:t>Phase 5</a:t>
            </a:r>
            <a:endParaRPr lang="en-US" sz="1200" dirty="0"/>
          </a:p>
        </p:txBody>
      </p:sp>
      <p:sp>
        <p:nvSpPr>
          <p:cNvPr id="49" name="Text 47"/>
          <p:cNvSpPr/>
          <p:nvPr/>
        </p:nvSpPr>
        <p:spPr>
          <a:xfrm>
            <a:off x="5998464" y="1316736"/>
            <a:ext cx="1353312" cy="457200"/>
          </a:xfrm>
          <a:prstGeom prst="rect">
            <a:avLst/>
          </a:prstGeom>
          <a:noFill/>
          <a:ln/>
        </p:spPr>
        <p:txBody>
          <a:bodyPr wrap="square" rtlCol="0" anchor="ctr"/>
          <a:lstStyle/>
          <a:p>
            <a:pPr algn="ctr" indent="0" marL="0">
              <a:buNone/>
            </a:pPr>
            <a:r>
              <a:rPr lang="en-US" sz="950" dirty="0">
                <a:solidFill>
                  <a:srgbClr val="8096C4"/>
                </a:solidFill>
                <a:latin typeface="Calibri" pitchFamily="34" charset="0"/>
                <a:ea typeface="Calibri" pitchFamily="34" charset="-122"/>
                <a:cs typeface="Calibri" pitchFamily="34" charset="-120"/>
              </a:rPr>
              <a:t>Compliance</a:t>
            </a:r>
            <a:endParaRPr lang="en-US" sz="950" dirty="0"/>
          </a:p>
          <a:p>
            <a:pPr algn="ctr" indent="0" marL="0">
              <a:buNone/>
            </a:pPr>
            <a:r>
              <a:rPr lang="en-US" sz="950" dirty="0">
                <a:solidFill>
                  <a:srgbClr val="8096C4"/>
                </a:solidFill>
                <a:latin typeface="Calibri" pitchFamily="34" charset="0"/>
                <a:ea typeface="Calibri" pitchFamily="34" charset="-122"/>
                <a:cs typeface="Calibri" pitchFamily="34" charset="-120"/>
              </a:rPr>
              <a:t>Wks 7–8 · ~30h</a:t>
            </a:r>
            <a:endParaRPr lang="en-US" sz="950" dirty="0"/>
          </a:p>
        </p:txBody>
      </p:sp>
      <p:sp>
        <p:nvSpPr>
          <p:cNvPr id="50" name="Shape 48"/>
          <p:cNvSpPr/>
          <p:nvPr/>
        </p:nvSpPr>
        <p:spPr>
          <a:xfrm>
            <a:off x="6089904" y="1847088"/>
            <a:ext cx="1170432" cy="384048"/>
          </a:xfrm>
          <a:prstGeom prst="roundRect">
            <a:avLst>
              <a:gd name="adj" fmla="val 14286"/>
            </a:avLst>
          </a:prstGeom>
          <a:solidFill>
            <a:srgbClr val="2E3F9E"/>
          </a:solidFill>
          <a:ln w="12700">
            <a:solidFill>
              <a:srgbClr val="253080"/>
            </a:solidFill>
            <a:prstDash val="solid"/>
          </a:ln>
        </p:spPr>
      </p:sp>
      <p:sp>
        <p:nvSpPr>
          <p:cNvPr id="51" name="Text 49"/>
          <p:cNvSpPr/>
          <p:nvPr/>
        </p:nvSpPr>
        <p:spPr>
          <a:xfrm>
            <a:off x="6089904" y="1883664"/>
            <a:ext cx="1170432" cy="320040"/>
          </a:xfrm>
          <a:prstGeom prst="rect">
            <a:avLst/>
          </a:prstGeom>
          <a:noFill/>
          <a:ln/>
        </p:spPr>
        <p:txBody>
          <a:bodyPr wrap="square" rtlCol="0" anchor="ctr"/>
          <a:lstStyle/>
          <a:p>
            <a:pPr algn="ctr" indent="0" marL="0">
              <a:buNone/>
            </a:pPr>
            <a:r>
              <a:rPr lang="en-US" sz="1100" dirty="0">
                <a:solidFill>
                  <a:srgbClr val="E8EDF8"/>
                </a:solidFill>
                <a:latin typeface="Calibri" pitchFamily="34" charset="0"/>
                <a:ea typeface="Calibri" pitchFamily="34" charset="-122"/>
                <a:cs typeface="Calibri" pitchFamily="34" charset="-120"/>
              </a:rPr>
              <a:t>Audit log</a:t>
            </a:r>
            <a:endParaRPr lang="en-US" sz="1100" dirty="0"/>
          </a:p>
        </p:txBody>
      </p:sp>
      <p:sp>
        <p:nvSpPr>
          <p:cNvPr id="52" name="Shape 50"/>
          <p:cNvSpPr/>
          <p:nvPr/>
        </p:nvSpPr>
        <p:spPr>
          <a:xfrm>
            <a:off x="6089904" y="2331720"/>
            <a:ext cx="1170432" cy="384048"/>
          </a:xfrm>
          <a:prstGeom prst="roundRect">
            <a:avLst>
              <a:gd name="adj" fmla="val 14286"/>
            </a:avLst>
          </a:prstGeom>
          <a:solidFill>
            <a:srgbClr val="2E3F9E"/>
          </a:solidFill>
          <a:ln w="12700">
            <a:solidFill>
              <a:srgbClr val="253080"/>
            </a:solidFill>
            <a:prstDash val="solid"/>
          </a:ln>
        </p:spPr>
      </p:sp>
      <p:sp>
        <p:nvSpPr>
          <p:cNvPr id="53" name="Text 51"/>
          <p:cNvSpPr/>
          <p:nvPr/>
        </p:nvSpPr>
        <p:spPr>
          <a:xfrm>
            <a:off x="6089904" y="2368296"/>
            <a:ext cx="1170432" cy="320040"/>
          </a:xfrm>
          <a:prstGeom prst="rect">
            <a:avLst/>
          </a:prstGeom>
          <a:noFill/>
          <a:ln/>
        </p:spPr>
        <p:txBody>
          <a:bodyPr wrap="square" rtlCol="0" anchor="ctr"/>
          <a:lstStyle/>
          <a:p>
            <a:pPr algn="ctr" indent="0" marL="0">
              <a:buNone/>
            </a:pPr>
            <a:r>
              <a:rPr lang="en-US" sz="1100" dirty="0">
                <a:solidFill>
                  <a:srgbClr val="E8EDF8"/>
                </a:solidFill>
                <a:latin typeface="Calibri" pitchFamily="34" charset="0"/>
                <a:ea typeface="Calibri" pitchFamily="34" charset="-122"/>
                <a:cs typeface="Calibri" pitchFamily="34" charset="-120"/>
              </a:rPr>
              <a:t>PCI gap</a:t>
            </a:r>
            <a:endParaRPr lang="en-US" sz="1100" dirty="0"/>
          </a:p>
        </p:txBody>
      </p:sp>
      <p:sp>
        <p:nvSpPr>
          <p:cNvPr id="54" name="Shape 52"/>
          <p:cNvSpPr/>
          <p:nvPr/>
        </p:nvSpPr>
        <p:spPr>
          <a:xfrm>
            <a:off x="6089904" y="2816352"/>
            <a:ext cx="1170432" cy="384048"/>
          </a:xfrm>
          <a:prstGeom prst="roundRect">
            <a:avLst>
              <a:gd name="adj" fmla="val 14286"/>
            </a:avLst>
          </a:prstGeom>
          <a:solidFill>
            <a:srgbClr val="2E3F9E"/>
          </a:solidFill>
          <a:ln w="12700">
            <a:solidFill>
              <a:srgbClr val="253080"/>
            </a:solidFill>
            <a:prstDash val="solid"/>
          </a:ln>
        </p:spPr>
      </p:sp>
      <p:sp>
        <p:nvSpPr>
          <p:cNvPr id="55" name="Text 53"/>
          <p:cNvSpPr/>
          <p:nvPr/>
        </p:nvSpPr>
        <p:spPr>
          <a:xfrm>
            <a:off x="6089904" y="2852928"/>
            <a:ext cx="1170432" cy="320040"/>
          </a:xfrm>
          <a:prstGeom prst="rect">
            <a:avLst/>
          </a:prstGeom>
          <a:noFill/>
          <a:ln/>
        </p:spPr>
        <p:txBody>
          <a:bodyPr wrap="square" rtlCol="0" anchor="ctr"/>
          <a:lstStyle/>
          <a:p>
            <a:pPr algn="ctr" indent="0" marL="0">
              <a:buNone/>
            </a:pPr>
            <a:r>
              <a:rPr lang="en-US" sz="1100" dirty="0">
                <a:solidFill>
                  <a:srgbClr val="E8EDF8"/>
                </a:solidFill>
                <a:latin typeface="Calibri" pitchFamily="34" charset="0"/>
                <a:ea typeface="Calibri" pitchFamily="34" charset="-122"/>
                <a:cs typeface="Calibri" pitchFamily="34" charset="-120"/>
              </a:rPr>
              <a:t>Vault PAN</a:t>
            </a:r>
            <a:endParaRPr lang="en-US" sz="1100" dirty="0"/>
          </a:p>
        </p:txBody>
      </p:sp>
      <p:sp>
        <p:nvSpPr>
          <p:cNvPr id="56" name="Shape 54"/>
          <p:cNvSpPr/>
          <p:nvPr/>
        </p:nvSpPr>
        <p:spPr>
          <a:xfrm>
            <a:off x="6089904" y="3300984"/>
            <a:ext cx="1170432" cy="384048"/>
          </a:xfrm>
          <a:prstGeom prst="roundRect">
            <a:avLst>
              <a:gd name="adj" fmla="val 14286"/>
            </a:avLst>
          </a:prstGeom>
          <a:solidFill>
            <a:srgbClr val="2E3F9E"/>
          </a:solidFill>
          <a:ln w="12700">
            <a:solidFill>
              <a:srgbClr val="253080"/>
            </a:solidFill>
            <a:prstDash val="solid"/>
          </a:ln>
        </p:spPr>
      </p:sp>
      <p:sp>
        <p:nvSpPr>
          <p:cNvPr id="57" name="Text 55"/>
          <p:cNvSpPr/>
          <p:nvPr/>
        </p:nvSpPr>
        <p:spPr>
          <a:xfrm>
            <a:off x="6089904" y="3337560"/>
            <a:ext cx="1170432" cy="320040"/>
          </a:xfrm>
          <a:prstGeom prst="rect">
            <a:avLst/>
          </a:prstGeom>
          <a:noFill/>
          <a:ln/>
        </p:spPr>
        <p:txBody>
          <a:bodyPr wrap="square" rtlCol="0" anchor="ctr"/>
          <a:lstStyle/>
          <a:p>
            <a:pPr algn="ctr" indent="0" marL="0">
              <a:buNone/>
            </a:pPr>
            <a:r>
              <a:rPr lang="en-US" sz="1100" dirty="0">
                <a:solidFill>
                  <a:srgbClr val="E8EDF8"/>
                </a:solidFill>
                <a:latin typeface="Calibri" pitchFamily="34" charset="0"/>
                <a:ea typeface="Calibri" pitchFamily="34" charset="-122"/>
                <a:cs typeface="Calibri" pitchFamily="34" charset="-120"/>
              </a:rPr>
              <a:t>GDPR export</a:t>
            </a:r>
            <a:endParaRPr lang="en-US" sz="1100" dirty="0"/>
          </a:p>
        </p:txBody>
      </p:sp>
      <p:sp>
        <p:nvSpPr>
          <p:cNvPr id="58" name="Shape 56"/>
          <p:cNvSpPr/>
          <p:nvPr/>
        </p:nvSpPr>
        <p:spPr>
          <a:xfrm>
            <a:off x="7424928" y="987552"/>
            <a:ext cx="1353312" cy="2926080"/>
          </a:xfrm>
          <a:prstGeom prst="roundRect">
            <a:avLst>
              <a:gd name="adj" fmla="val 6757"/>
            </a:avLst>
          </a:prstGeom>
          <a:solidFill>
            <a:srgbClr val="253080"/>
          </a:solidFill>
          <a:ln w="19050">
            <a:solidFill>
              <a:srgbClr val="22C55E"/>
            </a:solidFill>
            <a:prstDash val="solid"/>
          </a:ln>
        </p:spPr>
      </p:sp>
      <p:sp>
        <p:nvSpPr>
          <p:cNvPr id="59" name="Text 57"/>
          <p:cNvSpPr/>
          <p:nvPr/>
        </p:nvSpPr>
        <p:spPr>
          <a:xfrm>
            <a:off x="7424928" y="1051560"/>
            <a:ext cx="1353312" cy="274320"/>
          </a:xfrm>
          <a:prstGeom prst="rect">
            <a:avLst/>
          </a:prstGeom>
          <a:noFill/>
          <a:ln/>
        </p:spPr>
        <p:txBody>
          <a:bodyPr wrap="square" rtlCol="0" anchor="ctr"/>
          <a:lstStyle/>
          <a:p>
            <a:pPr algn="ctr" indent="0" marL="0">
              <a:buNone/>
            </a:pPr>
            <a:r>
              <a:rPr lang="en-US" sz="1200" b="1" dirty="0">
                <a:solidFill>
                  <a:srgbClr val="22C55E"/>
                </a:solidFill>
                <a:latin typeface="Calibri" pitchFamily="34" charset="0"/>
                <a:ea typeface="Calibri" pitchFamily="34" charset="-122"/>
                <a:cs typeface="Calibri" pitchFamily="34" charset="-120"/>
              </a:rPr>
              <a:t>Phase 6</a:t>
            </a:r>
            <a:endParaRPr lang="en-US" sz="1200" dirty="0"/>
          </a:p>
        </p:txBody>
      </p:sp>
      <p:sp>
        <p:nvSpPr>
          <p:cNvPr id="60" name="Text 58"/>
          <p:cNvSpPr/>
          <p:nvPr/>
        </p:nvSpPr>
        <p:spPr>
          <a:xfrm>
            <a:off x="7424928" y="1316736"/>
            <a:ext cx="1353312" cy="457200"/>
          </a:xfrm>
          <a:prstGeom prst="rect">
            <a:avLst/>
          </a:prstGeom>
          <a:noFill/>
          <a:ln/>
        </p:spPr>
        <p:txBody>
          <a:bodyPr wrap="square" rtlCol="0" anchor="ctr"/>
          <a:lstStyle/>
          <a:p>
            <a:pPr algn="ctr" indent="0" marL="0">
              <a:buNone/>
            </a:pPr>
            <a:r>
              <a:rPr lang="en-US" sz="950" dirty="0">
                <a:solidFill>
                  <a:srgbClr val="8096C4"/>
                </a:solidFill>
                <a:latin typeface="Calibri" pitchFamily="34" charset="0"/>
                <a:ea typeface="Calibri" pitchFamily="34" charset="-122"/>
                <a:cs typeface="Calibri" pitchFamily="34" charset="-120"/>
              </a:rPr>
              <a:t>AI / ML</a:t>
            </a:r>
            <a:endParaRPr lang="en-US" sz="950" dirty="0"/>
          </a:p>
          <a:p>
            <a:pPr algn="ctr" indent="0" marL="0">
              <a:buNone/>
            </a:pPr>
            <a:r>
              <a:rPr lang="en-US" sz="950" dirty="0">
                <a:solidFill>
                  <a:srgbClr val="8096C4"/>
                </a:solidFill>
                <a:latin typeface="Calibri" pitchFamily="34" charset="0"/>
                <a:ea typeface="Calibri" pitchFamily="34" charset="-122"/>
                <a:cs typeface="Calibri" pitchFamily="34" charset="-120"/>
              </a:rPr>
              <a:t>Wks 9–12 · ~40h</a:t>
            </a:r>
            <a:endParaRPr lang="en-US" sz="950" dirty="0"/>
          </a:p>
        </p:txBody>
      </p:sp>
      <p:sp>
        <p:nvSpPr>
          <p:cNvPr id="61" name="Shape 59"/>
          <p:cNvSpPr/>
          <p:nvPr/>
        </p:nvSpPr>
        <p:spPr>
          <a:xfrm>
            <a:off x="7516368" y="1847088"/>
            <a:ext cx="1170432" cy="384048"/>
          </a:xfrm>
          <a:prstGeom prst="roundRect">
            <a:avLst>
              <a:gd name="adj" fmla="val 14286"/>
            </a:avLst>
          </a:prstGeom>
          <a:solidFill>
            <a:srgbClr val="2E3F9E"/>
          </a:solidFill>
          <a:ln w="12700">
            <a:solidFill>
              <a:srgbClr val="253080"/>
            </a:solidFill>
            <a:prstDash val="solid"/>
          </a:ln>
        </p:spPr>
      </p:sp>
      <p:sp>
        <p:nvSpPr>
          <p:cNvPr id="62" name="Text 60"/>
          <p:cNvSpPr/>
          <p:nvPr/>
        </p:nvSpPr>
        <p:spPr>
          <a:xfrm>
            <a:off x="7516368" y="1883664"/>
            <a:ext cx="1170432" cy="320040"/>
          </a:xfrm>
          <a:prstGeom prst="rect">
            <a:avLst/>
          </a:prstGeom>
          <a:noFill/>
          <a:ln/>
        </p:spPr>
        <p:txBody>
          <a:bodyPr wrap="square" rtlCol="0" anchor="ctr"/>
          <a:lstStyle/>
          <a:p>
            <a:pPr algn="ctr" indent="0" marL="0">
              <a:buNone/>
            </a:pPr>
            <a:r>
              <a:rPr lang="en-US" sz="1100" dirty="0">
                <a:solidFill>
                  <a:srgbClr val="E8EDF8"/>
                </a:solidFill>
                <a:latin typeface="Calibri" pitchFamily="34" charset="0"/>
                <a:ea typeface="Calibri" pitchFamily="34" charset="-122"/>
                <a:cs typeface="Calibri" pitchFamily="34" charset="-120"/>
              </a:rPr>
              <a:t>XGBoost</a:t>
            </a:r>
            <a:endParaRPr lang="en-US" sz="1100" dirty="0"/>
          </a:p>
        </p:txBody>
      </p:sp>
      <p:sp>
        <p:nvSpPr>
          <p:cNvPr id="63" name="Shape 61"/>
          <p:cNvSpPr/>
          <p:nvPr/>
        </p:nvSpPr>
        <p:spPr>
          <a:xfrm>
            <a:off x="7516368" y="2331720"/>
            <a:ext cx="1170432" cy="384048"/>
          </a:xfrm>
          <a:prstGeom prst="roundRect">
            <a:avLst>
              <a:gd name="adj" fmla="val 14286"/>
            </a:avLst>
          </a:prstGeom>
          <a:solidFill>
            <a:srgbClr val="2E3F9E"/>
          </a:solidFill>
          <a:ln w="12700">
            <a:solidFill>
              <a:srgbClr val="253080"/>
            </a:solidFill>
            <a:prstDash val="solid"/>
          </a:ln>
        </p:spPr>
      </p:sp>
      <p:sp>
        <p:nvSpPr>
          <p:cNvPr id="64" name="Text 62"/>
          <p:cNvSpPr/>
          <p:nvPr/>
        </p:nvSpPr>
        <p:spPr>
          <a:xfrm>
            <a:off x="7516368" y="2368296"/>
            <a:ext cx="1170432" cy="320040"/>
          </a:xfrm>
          <a:prstGeom prst="rect">
            <a:avLst/>
          </a:prstGeom>
          <a:noFill/>
          <a:ln/>
        </p:spPr>
        <p:txBody>
          <a:bodyPr wrap="square" rtlCol="0" anchor="ctr"/>
          <a:lstStyle/>
          <a:p>
            <a:pPr algn="ctr" indent="0" marL="0">
              <a:buNone/>
            </a:pPr>
            <a:r>
              <a:rPr lang="en-US" sz="1100" dirty="0">
                <a:solidFill>
                  <a:srgbClr val="E8EDF8"/>
                </a:solidFill>
                <a:latin typeface="Calibri" pitchFamily="34" charset="0"/>
                <a:ea typeface="Calibri" pitchFamily="34" charset="-122"/>
                <a:cs typeface="Calibri" pitchFamily="34" charset="-120"/>
              </a:rPr>
              <a:t>MLflow</a:t>
            </a:r>
            <a:endParaRPr lang="en-US" sz="1100" dirty="0"/>
          </a:p>
        </p:txBody>
      </p:sp>
      <p:sp>
        <p:nvSpPr>
          <p:cNvPr id="65" name="Shape 63"/>
          <p:cNvSpPr/>
          <p:nvPr/>
        </p:nvSpPr>
        <p:spPr>
          <a:xfrm>
            <a:off x="7516368" y="2816352"/>
            <a:ext cx="1170432" cy="384048"/>
          </a:xfrm>
          <a:prstGeom prst="roundRect">
            <a:avLst>
              <a:gd name="adj" fmla="val 14286"/>
            </a:avLst>
          </a:prstGeom>
          <a:solidFill>
            <a:srgbClr val="2E3F9E"/>
          </a:solidFill>
          <a:ln w="12700">
            <a:solidFill>
              <a:srgbClr val="253080"/>
            </a:solidFill>
            <a:prstDash val="solid"/>
          </a:ln>
        </p:spPr>
      </p:sp>
      <p:sp>
        <p:nvSpPr>
          <p:cNvPr id="66" name="Text 64"/>
          <p:cNvSpPr/>
          <p:nvPr/>
        </p:nvSpPr>
        <p:spPr>
          <a:xfrm>
            <a:off x="7516368" y="2852928"/>
            <a:ext cx="1170432" cy="320040"/>
          </a:xfrm>
          <a:prstGeom prst="rect">
            <a:avLst/>
          </a:prstGeom>
          <a:noFill/>
          <a:ln/>
        </p:spPr>
        <p:txBody>
          <a:bodyPr wrap="square" rtlCol="0" anchor="ctr"/>
          <a:lstStyle/>
          <a:p>
            <a:pPr algn="ctr" indent="0" marL="0">
              <a:buNone/>
            </a:pPr>
            <a:r>
              <a:rPr lang="en-US" sz="1100" dirty="0">
                <a:solidFill>
                  <a:srgbClr val="E8EDF8"/>
                </a:solidFill>
                <a:latin typeface="Calibri" pitchFamily="34" charset="0"/>
                <a:ea typeface="Calibri" pitchFamily="34" charset="-122"/>
                <a:cs typeface="Calibri" pitchFamily="34" charset="-120"/>
              </a:rPr>
              <a:t>DeepEval</a:t>
            </a:r>
            <a:endParaRPr lang="en-US" sz="1100" dirty="0"/>
          </a:p>
        </p:txBody>
      </p:sp>
      <p:sp>
        <p:nvSpPr>
          <p:cNvPr id="67" name="Shape 65"/>
          <p:cNvSpPr/>
          <p:nvPr/>
        </p:nvSpPr>
        <p:spPr>
          <a:xfrm>
            <a:off x="7516368" y="3300984"/>
            <a:ext cx="1170432" cy="384048"/>
          </a:xfrm>
          <a:prstGeom prst="roundRect">
            <a:avLst>
              <a:gd name="adj" fmla="val 14286"/>
            </a:avLst>
          </a:prstGeom>
          <a:solidFill>
            <a:srgbClr val="2E3F9E"/>
          </a:solidFill>
          <a:ln w="12700">
            <a:solidFill>
              <a:srgbClr val="253080"/>
            </a:solidFill>
            <a:prstDash val="solid"/>
          </a:ln>
        </p:spPr>
      </p:sp>
      <p:sp>
        <p:nvSpPr>
          <p:cNvPr id="68" name="Text 66"/>
          <p:cNvSpPr/>
          <p:nvPr/>
        </p:nvSpPr>
        <p:spPr>
          <a:xfrm>
            <a:off x="7516368" y="3337560"/>
            <a:ext cx="1170432" cy="320040"/>
          </a:xfrm>
          <a:prstGeom prst="rect">
            <a:avLst/>
          </a:prstGeom>
          <a:noFill/>
          <a:ln/>
        </p:spPr>
        <p:txBody>
          <a:bodyPr wrap="square" rtlCol="0" anchor="ctr"/>
          <a:lstStyle/>
          <a:p>
            <a:pPr algn="ctr" indent="0" marL="0">
              <a:buNone/>
            </a:pPr>
            <a:r>
              <a:rPr lang="en-US" sz="1100" dirty="0">
                <a:solidFill>
                  <a:srgbClr val="E8EDF8"/>
                </a:solidFill>
                <a:latin typeface="Calibri" pitchFamily="34" charset="0"/>
                <a:ea typeface="Calibri" pitchFamily="34" charset="-122"/>
                <a:cs typeface="Calibri" pitchFamily="34" charset="-120"/>
              </a:rPr>
              <a:t>Feature store</a:t>
            </a:r>
            <a:endParaRPr lang="en-US" sz="1100" dirty="0"/>
          </a:p>
        </p:txBody>
      </p:sp>
      <p:sp>
        <p:nvSpPr>
          <p:cNvPr id="69" name="Shape 67"/>
          <p:cNvSpPr/>
          <p:nvPr/>
        </p:nvSpPr>
        <p:spPr>
          <a:xfrm>
            <a:off x="292608" y="4005072"/>
            <a:ext cx="4023360" cy="713232"/>
          </a:xfrm>
          <a:prstGeom prst="roundRect">
            <a:avLst>
              <a:gd name="adj" fmla="val 15385"/>
            </a:avLst>
          </a:prstGeom>
          <a:solidFill>
            <a:srgbClr val="2D1010"/>
          </a:solidFill>
          <a:ln w="12700">
            <a:solidFill>
              <a:srgbClr val="EF4444"/>
            </a:solidFill>
            <a:prstDash val="solid"/>
          </a:ln>
          <a:effectLst>
            <a:outerShdw sx="100000" sy="100000" kx="0" ky="0" algn="bl" rotWithShape="0" blurRad="101600" dist="38100" dir="2700000">
              <a:srgbClr val="000000">
                <a:alpha val="30000"/>
              </a:srgbClr>
            </a:outerShdw>
          </a:effectLst>
        </p:spPr>
      </p:sp>
      <p:sp>
        <p:nvSpPr>
          <p:cNvPr id="70" name="Text 68"/>
          <p:cNvSpPr/>
          <p:nvPr/>
        </p:nvSpPr>
        <p:spPr>
          <a:xfrm>
            <a:off x="475488" y="4059936"/>
            <a:ext cx="3657600" cy="594360"/>
          </a:xfrm>
          <a:prstGeom prst="rect">
            <a:avLst/>
          </a:prstGeom>
          <a:noFill/>
          <a:ln/>
        </p:spPr>
        <p:txBody>
          <a:bodyPr wrap="square" rtlCol="0" anchor="ctr"/>
          <a:lstStyle/>
          <a:p>
            <a:pPr indent="0" marL="0">
              <a:buNone/>
            </a:pPr>
            <a:r>
              <a:rPr lang="en-US" sz="1150" b="1" dirty="0">
                <a:solidFill>
                  <a:srgbClr val="FCA5A5"/>
                </a:solidFill>
                <a:latin typeface="Calibri" pitchFamily="34" charset="0"/>
                <a:ea typeface="Calibri" pitchFamily="34" charset="-122"/>
                <a:cs typeface="Calibri" pitchFamily="34" charset="-120"/>
              </a:rPr>
              <a:t>⛔  Phase 1 is a gate — no real transaction value before JWT + secrets management</a:t>
            </a:r>
            <a:endParaRPr lang="en-US" sz="1150" dirty="0"/>
          </a:p>
        </p:txBody>
      </p:sp>
      <p:sp>
        <p:nvSpPr>
          <p:cNvPr id="71" name="Shape 69"/>
          <p:cNvSpPr/>
          <p:nvPr/>
        </p:nvSpPr>
        <p:spPr>
          <a:xfrm>
            <a:off x="4462272" y="4005072"/>
            <a:ext cx="4361688" cy="713232"/>
          </a:xfrm>
          <a:prstGeom prst="roundRect">
            <a:avLst>
              <a:gd name="adj" fmla="val 15385"/>
            </a:avLst>
          </a:prstGeom>
          <a:solidFill>
            <a:srgbClr val="0D2010"/>
          </a:solidFill>
          <a:ln w="12700">
            <a:solidFill>
              <a:srgbClr val="22C55E"/>
            </a:solidFill>
            <a:prstDash val="solid"/>
          </a:ln>
          <a:effectLst>
            <a:outerShdw sx="100000" sy="100000" kx="0" ky="0" algn="bl" rotWithShape="0" blurRad="101600" dist="38100" dir="2700000">
              <a:srgbClr val="000000">
                <a:alpha val="30000"/>
              </a:srgbClr>
            </a:outerShdw>
          </a:effectLst>
        </p:spPr>
      </p:sp>
      <p:sp>
        <p:nvSpPr>
          <p:cNvPr id="72" name="Text 70"/>
          <p:cNvSpPr/>
          <p:nvPr/>
        </p:nvSpPr>
        <p:spPr>
          <a:xfrm>
            <a:off x="4645152" y="4059936"/>
            <a:ext cx="3995928" cy="594360"/>
          </a:xfrm>
          <a:prstGeom prst="rect">
            <a:avLst/>
          </a:prstGeom>
          <a:noFill/>
          <a:ln/>
        </p:spPr>
        <p:txBody>
          <a:bodyPr wrap="square" rtlCol="0" anchor="ctr"/>
          <a:lstStyle/>
          <a:p>
            <a:pPr indent="0" marL="0">
              <a:buNone/>
            </a:pPr>
            <a:r>
              <a:rPr lang="en-US" sz="1150" dirty="0">
                <a:solidFill>
                  <a:srgbClr val="22C55E"/>
                </a:solidFill>
                <a:latin typeface="Calibri" pitchFamily="34" charset="0"/>
                <a:ea typeface="Calibri" pitchFamily="34" charset="-122"/>
                <a:cs typeface="Calibri" pitchFamily="34" charset="-120"/>
              </a:rPr>
              <a:t>✅  Zero code restructuring required — each phase adds middleware and infra around existing domain logic</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Every Design Decision Has a Price</a:t>
            </a:r>
            <a:endParaRPr lang="en-US" sz="3200" dirty="0"/>
          </a:p>
        </p:txBody>
      </p:sp>
      <p:sp>
        <p:nvSpPr>
          <p:cNvPr id="3" name="Shape 1"/>
          <p:cNvSpPr/>
          <p:nvPr/>
        </p:nvSpPr>
        <p:spPr>
          <a:xfrm>
            <a:off x="365760" y="987552"/>
            <a:ext cx="2788920" cy="3794760"/>
          </a:xfrm>
          <a:prstGeom prst="roundRect">
            <a:avLst>
              <a:gd name="adj" fmla="val 3934"/>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4" name="Text 2"/>
          <p:cNvSpPr/>
          <p:nvPr/>
        </p:nvSpPr>
        <p:spPr>
          <a:xfrm>
            <a:off x="502920" y="1060704"/>
            <a:ext cx="2514600" cy="301752"/>
          </a:xfrm>
          <a:prstGeom prst="rect">
            <a:avLst/>
          </a:prstGeom>
          <a:noFill/>
          <a:ln/>
        </p:spPr>
        <p:txBody>
          <a:bodyPr wrap="square" rtlCol="0" anchor="ctr"/>
          <a:lstStyle/>
          <a:p>
            <a:pPr indent="0" marL="0">
              <a:buNone/>
            </a:pPr>
            <a:r>
              <a:rPr lang="en-US" sz="1300" b="1" dirty="0">
                <a:solidFill>
                  <a:srgbClr val="38BDF8"/>
                </a:solidFill>
                <a:latin typeface="Calibri" pitchFamily="34" charset="0"/>
                <a:ea typeface="Calibri" pitchFamily="34" charset="-122"/>
                <a:cs typeface="Calibri" pitchFamily="34" charset="-120"/>
              </a:rPr>
              <a:t>AI Cost Options</a:t>
            </a:r>
            <a:endParaRPr lang="en-US" sz="1300" dirty="0"/>
          </a:p>
        </p:txBody>
      </p:sp>
      <p:sp>
        <p:nvSpPr>
          <p:cNvPr id="5" name="Text 3"/>
          <p:cNvSpPr/>
          <p:nvPr/>
        </p:nvSpPr>
        <p:spPr>
          <a:xfrm>
            <a:off x="502920" y="1463040"/>
            <a:ext cx="251460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Rules only</a:t>
            </a:r>
            <a:endParaRPr lang="en-US" sz="1150" dirty="0"/>
          </a:p>
        </p:txBody>
      </p:sp>
      <p:sp>
        <p:nvSpPr>
          <p:cNvPr id="6" name="Text 4"/>
          <p:cNvSpPr/>
          <p:nvPr/>
        </p:nvSpPr>
        <p:spPr>
          <a:xfrm>
            <a:off x="640080" y="1728216"/>
            <a:ext cx="2331720" cy="256032"/>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Cost: $0</a:t>
            </a:r>
            <a:endParaRPr lang="en-US" sz="1100" dirty="0"/>
          </a:p>
        </p:txBody>
      </p:sp>
      <p:sp>
        <p:nvSpPr>
          <p:cNvPr id="7" name="Text 5"/>
          <p:cNvSpPr/>
          <p:nvPr/>
        </p:nvSpPr>
        <p:spPr>
          <a:xfrm>
            <a:off x="640080" y="1975104"/>
            <a:ext cx="2331720" cy="256032"/>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Latency: &lt;1ms</a:t>
            </a:r>
            <a:endParaRPr lang="en-US" sz="1100" dirty="0"/>
          </a:p>
        </p:txBody>
      </p:sp>
      <p:sp>
        <p:nvSpPr>
          <p:cNvPr id="8" name="Text 6"/>
          <p:cNvSpPr/>
          <p:nvPr/>
        </p:nvSpPr>
        <p:spPr>
          <a:xfrm>
            <a:off x="640080" y="2221992"/>
            <a:ext cx="2331720" cy="256032"/>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Accuracy: deterministic</a:t>
            </a:r>
            <a:endParaRPr lang="en-US" sz="1100" dirty="0"/>
          </a:p>
        </p:txBody>
      </p:sp>
      <p:sp>
        <p:nvSpPr>
          <p:cNvPr id="9" name="Text 7"/>
          <p:cNvSpPr/>
          <p:nvPr/>
        </p:nvSpPr>
        <p:spPr>
          <a:xfrm>
            <a:off x="502920" y="2542032"/>
            <a:ext cx="251460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Rules + LLM</a:t>
            </a:r>
            <a:endParaRPr lang="en-US" sz="1150" dirty="0"/>
          </a:p>
        </p:txBody>
      </p:sp>
      <p:sp>
        <p:nvSpPr>
          <p:cNvPr id="10" name="Text 8"/>
          <p:cNvSpPr/>
          <p:nvPr/>
        </p:nvSpPr>
        <p:spPr>
          <a:xfrm>
            <a:off x="640080" y="2807208"/>
            <a:ext cx="2331720" cy="256032"/>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Cost: ~$0.0002/req</a:t>
            </a:r>
            <a:endParaRPr lang="en-US" sz="1100" dirty="0"/>
          </a:p>
        </p:txBody>
      </p:sp>
      <p:sp>
        <p:nvSpPr>
          <p:cNvPr id="11" name="Text 9"/>
          <p:cNvSpPr/>
          <p:nvPr/>
        </p:nvSpPr>
        <p:spPr>
          <a:xfrm>
            <a:off x="640080" y="3054096"/>
            <a:ext cx="2331720" cy="256032"/>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Latency: 350–700ms</a:t>
            </a:r>
            <a:endParaRPr lang="en-US" sz="1100" dirty="0"/>
          </a:p>
        </p:txBody>
      </p:sp>
      <p:sp>
        <p:nvSpPr>
          <p:cNvPr id="12" name="Text 10"/>
          <p:cNvSpPr/>
          <p:nvPr/>
        </p:nvSpPr>
        <p:spPr>
          <a:xfrm>
            <a:off x="640080" y="3300984"/>
            <a:ext cx="2331720" cy="256032"/>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Risk: LLM dependency</a:t>
            </a:r>
            <a:endParaRPr lang="en-US" sz="1100" dirty="0"/>
          </a:p>
        </p:txBody>
      </p:sp>
      <p:sp>
        <p:nvSpPr>
          <p:cNvPr id="13" name="Text 11"/>
          <p:cNvSpPr/>
          <p:nvPr/>
        </p:nvSpPr>
        <p:spPr>
          <a:xfrm>
            <a:off x="502920" y="3621024"/>
            <a:ext cx="251460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XGBoost</a:t>
            </a:r>
            <a:endParaRPr lang="en-US" sz="1150" dirty="0"/>
          </a:p>
        </p:txBody>
      </p:sp>
      <p:sp>
        <p:nvSpPr>
          <p:cNvPr id="14" name="Text 12"/>
          <p:cNvSpPr/>
          <p:nvPr/>
        </p:nvSpPr>
        <p:spPr>
          <a:xfrm>
            <a:off x="640080" y="3886200"/>
            <a:ext cx="2331720" cy="256032"/>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Cost: $0 on-cluster</a:t>
            </a:r>
            <a:endParaRPr lang="en-US" sz="1100" dirty="0"/>
          </a:p>
        </p:txBody>
      </p:sp>
      <p:sp>
        <p:nvSpPr>
          <p:cNvPr id="15" name="Text 13"/>
          <p:cNvSpPr/>
          <p:nvPr/>
        </p:nvSpPr>
        <p:spPr>
          <a:xfrm>
            <a:off x="640080" y="4133088"/>
            <a:ext cx="2331720" cy="256032"/>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Latency: ~5ms</a:t>
            </a:r>
            <a:endParaRPr lang="en-US" sz="1100" dirty="0"/>
          </a:p>
        </p:txBody>
      </p:sp>
      <p:sp>
        <p:nvSpPr>
          <p:cNvPr id="16" name="Text 14"/>
          <p:cNvSpPr/>
          <p:nvPr/>
        </p:nvSpPr>
        <p:spPr>
          <a:xfrm>
            <a:off x="640080" y="4379976"/>
            <a:ext cx="2331720" cy="256032"/>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Risk: needs labelled data</a:t>
            </a:r>
            <a:endParaRPr lang="en-US" sz="1100" dirty="0"/>
          </a:p>
        </p:txBody>
      </p:sp>
      <p:sp>
        <p:nvSpPr>
          <p:cNvPr id="17" name="Shape 15"/>
          <p:cNvSpPr/>
          <p:nvPr/>
        </p:nvSpPr>
        <p:spPr>
          <a:xfrm>
            <a:off x="3291840" y="987552"/>
            <a:ext cx="2788920" cy="3794760"/>
          </a:xfrm>
          <a:prstGeom prst="roundRect">
            <a:avLst>
              <a:gd name="adj" fmla="val 3934"/>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18" name="Text 16"/>
          <p:cNvSpPr/>
          <p:nvPr/>
        </p:nvSpPr>
        <p:spPr>
          <a:xfrm>
            <a:off x="3429000" y="1060704"/>
            <a:ext cx="2514600" cy="301752"/>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Payment Latency Budget</a:t>
            </a:r>
            <a:endParaRPr lang="en-US" sz="1300" dirty="0"/>
          </a:p>
        </p:txBody>
      </p:sp>
      <p:sp>
        <p:nvSpPr>
          <p:cNvPr id="19" name="Text 17"/>
          <p:cNvSpPr/>
          <p:nvPr/>
        </p:nvSpPr>
        <p:spPr>
          <a:xfrm>
            <a:off x="3429000" y="1463040"/>
            <a:ext cx="251460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Validate</a:t>
            </a:r>
            <a:endParaRPr lang="en-US" sz="1150" dirty="0"/>
          </a:p>
        </p:txBody>
      </p:sp>
      <p:sp>
        <p:nvSpPr>
          <p:cNvPr id="20" name="Text 18"/>
          <p:cNvSpPr/>
          <p:nvPr/>
        </p:nvSpPr>
        <p:spPr>
          <a:xfrm>
            <a:off x="3566160" y="1728216"/>
            <a:ext cx="2331720" cy="256032"/>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~2ms</a:t>
            </a:r>
            <a:endParaRPr lang="en-US" sz="1100" dirty="0"/>
          </a:p>
        </p:txBody>
      </p:sp>
      <p:sp>
        <p:nvSpPr>
          <p:cNvPr id="21" name="Text 19"/>
          <p:cNvSpPr/>
          <p:nvPr/>
        </p:nvSpPr>
        <p:spPr>
          <a:xfrm>
            <a:off x="3429000" y="2048256"/>
            <a:ext cx="251460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Idempotency (Redis)</a:t>
            </a:r>
            <a:endParaRPr lang="en-US" sz="1150" dirty="0"/>
          </a:p>
        </p:txBody>
      </p:sp>
      <p:sp>
        <p:nvSpPr>
          <p:cNvPr id="22" name="Text 20"/>
          <p:cNvSpPr/>
          <p:nvPr/>
        </p:nvSpPr>
        <p:spPr>
          <a:xfrm>
            <a:off x="3566160" y="2313432"/>
            <a:ext cx="2331720" cy="256032"/>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~3ms</a:t>
            </a:r>
            <a:endParaRPr lang="en-US" sz="1100" dirty="0"/>
          </a:p>
        </p:txBody>
      </p:sp>
      <p:sp>
        <p:nvSpPr>
          <p:cNvPr id="23" name="Text 21"/>
          <p:cNvSpPr/>
          <p:nvPr/>
        </p:nvSpPr>
        <p:spPr>
          <a:xfrm>
            <a:off x="3429000" y="2633472"/>
            <a:ext cx="251460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Wallet read (PG)</a:t>
            </a:r>
            <a:endParaRPr lang="en-US" sz="1150" dirty="0"/>
          </a:p>
        </p:txBody>
      </p:sp>
      <p:sp>
        <p:nvSpPr>
          <p:cNvPr id="24" name="Text 22"/>
          <p:cNvSpPr/>
          <p:nvPr/>
        </p:nvSpPr>
        <p:spPr>
          <a:xfrm>
            <a:off x="3566160" y="2898648"/>
            <a:ext cx="2331720" cy="256032"/>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~6ms</a:t>
            </a:r>
            <a:endParaRPr lang="en-US" sz="1100" dirty="0"/>
          </a:p>
        </p:txBody>
      </p:sp>
      <p:sp>
        <p:nvSpPr>
          <p:cNvPr id="25" name="Text 23"/>
          <p:cNvSpPr/>
          <p:nvPr/>
        </p:nvSpPr>
        <p:spPr>
          <a:xfrm>
            <a:off x="3429000" y="3218688"/>
            <a:ext cx="251460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Txn insert (PG)</a:t>
            </a:r>
            <a:endParaRPr lang="en-US" sz="1150" dirty="0"/>
          </a:p>
        </p:txBody>
      </p:sp>
      <p:sp>
        <p:nvSpPr>
          <p:cNvPr id="26" name="Text 24"/>
          <p:cNvSpPr/>
          <p:nvPr/>
        </p:nvSpPr>
        <p:spPr>
          <a:xfrm>
            <a:off x="3566160" y="3483864"/>
            <a:ext cx="2331720" cy="256032"/>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~8ms</a:t>
            </a:r>
            <a:endParaRPr lang="en-US" sz="1100" dirty="0"/>
          </a:p>
        </p:txBody>
      </p:sp>
      <p:sp>
        <p:nvSpPr>
          <p:cNvPr id="27" name="Text 25"/>
          <p:cNvSpPr/>
          <p:nvPr/>
        </p:nvSpPr>
        <p:spPr>
          <a:xfrm>
            <a:off x="3429000" y="3803904"/>
            <a:ext cx="251460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Wallet update (PG)</a:t>
            </a:r>
            <a:endParaRPr lang="en-US" sz="1150" dirty="0"/>
          </a:p>
        </p:txBody>
      </p:sp>
      <p:sp>
        <p:nvSpPr>
          <p:cNvPr id="28" name="Text 26"/>
          <p:cNvSpPr/>
          <p:nvPr/>
        </p:nvSpPr>
        <p:spPr>
          <a:xfrm>
            <a:off x="3566160" y="4069080"/>
            <a:ext cx="2331720" cy="256032"/>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~7ms</a:t>
            </a:r>
            <a:endParaRPr lang="en-US" sz="1100" dirty="0"/>
          </a:p>
        </p:txBody>
      </p:sp>
      <p:sp>
        <p:nvSpPr>
          <p:cNvPr id="29" name="Text 27"/>
          <p:cNvSpPr/>
          <p:nvPr/>
        </p:nvSpPr>
        <p:spPr>
          <a:xfrm>
            <a:off x="3429000" y="4389120"/>
            <a:ext cx="251460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Ledger insert (PG)</a:t>
            </a:r>
            <a:endParaRPr lang="en-US" sz="1150" dirty="0"/>
          </a:p>
        </p:txBody>
      </p:sp>
      <p:sp>
        <p:nvSpPr>
          <p:cNvPr id="30" name="Text 28"/>
          <p:cNvSpPr/>
          <p:nvPr/>
        </p:nvSpPr>
        <p:spPr>
          <a:xfrm>
            <a:off x="3566160" y="4654296"/>
            <a:ext cx="2331720" cy="256032"/>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~8ms</a:t>
            </a:r>
            <a:endParaRPr lang="en-US" sz="1100" dirty="0"/>
          </a:p>
        </p:txBody>
      </p:sp>
      <p:sp>
        <p:nvSpPr>
          <p:cNvPr id="31" name="Text 29"/>
          <p:cNvSpPr/>
          <p:nvPr/>
        </p:nvSpPr>
        <p:spPr>
          <a:xfrm>
            <a:off x="3429000" y="4974336"/>
            <a:ext cx="251460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Total P50</a:t>
            </a:r>
            <a:endParaRPr lang="en-US" sz="1150" dirty="0"/>
          </a:p>
        </p:txBody>
      </p:sp>
      <p:sp>
        <p:nvSpPr>
          <p:cNvPr id="32" name="Text 30"/>
          <p:cNvSpPr/>
          <p:nvPr/>
        </p:nvSpPr>
        <p:spPr>
          <a:xfrm>
            <a:off x="3566160" y="5239512"/>
            <a:ext cx="2331720" cy="256032"/>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~35ms</a:t>
            </a:r>
            <a:endParaRPr lang="en-US" sz="1100" dirty="0"/>
          </a:p>
        </p:txBody>
      </p:sp>
      <p:sp>
        <p:nvSpPr>
          <p:cNvPr id="33" name="Shape 31"/>
          <p:cNvSpPr/>
          <p:nvPr/>
        </p:nvSpPr>
        <p:spPr>
          <a:xfrm>
            <a:off x="6217920" y="987552"/>
            <a:ext cx="2788920" cy="3794760"/>
          </a:xfrm>
          <a:prstGeom prst="roundRect">
            <a:avLst>
              <a:gd name="adj" fmla="val 3934"/>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34" name="Text 32"/>
          <p:cNvSpPr/>
          <p:nvPr/>
        </p:nvSpPr>
        <p:spPr>
          <a:xfrm>
            <a:off x="6355080" y="1060704"/>
            <a:ext cx="2514600" cy="301752"/>
          </a:xfrm>
          <a:prstGeom prst="rect">
            <a:avLst/>
          </a:prstGeom>
          <a:noFill/>
          <a:ln/>
        </p:spPr>
        <p:txBody>
          <a:bodyPr wrap="square"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Vector Store Choice</a:t>
            </a:r>
            <a:endParaRPr lang="en-US" sz="1300" dirty="0"/>
          </a:p>
        </p:txBody>
      </p:sp>
      <p:sp>
        <p:nvSpPr>
          <p:cNvPr id="35" name="Text 33"/>
          <p:cNvSpPr/>
          <p:nvPr/>
        </p:nvSpPr>
        <p:spPr>
          <a:xfrm>
            <a:off x="6355080" y="1463040"/>
            <a:ext cx="251460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pgvector ✓</a:t>
            </a:r>
            <a:endParaRPr lang="en-US" sz="1150" dirty="0"/>
          </a:p>
        </p:txBody>
      </p:sp>
      <p:sp>
        <p:nvSpPr>
          <p:cNvPr id="36" name="Text 34"/>
          <p:cNvSpPr/>
          <p:nvPr/>
        </p:nvSpPr>
        <p:spPr>
          <a:xfrm>
            <a:off x="6492240" y="1728216"/>
            <a:ext cx="2331720" cy="256032"/>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No new infra at 48 chunks</a:t>
            </a:r>
            <a:endParaRPr lang="en-US" sz="1100" dirty="0"/>
          </a:p>
        </p:txBody>
      </p:sp>
      <p:sp>
        <p:nvSpPr>
          <p:cNvPr id="37" name="Text 35"/>
          <p:cNvSpPr/>
          <p:nvPr/>
        </p:nvSpPr>
        <p:spPr>
          <a:xfrm>
            <a:off x="6492240" y="1975104"/>
            <a:ext cx="2331720" cy="256032"/>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ACID guarantees</a:t>
            </a:r>
            <a:endParaRPr lang="en-US" sz="1100" dirty="0"/>
          </a:p>
        </p:txBody>
      </p:sp>
      <p:sp>
        <p:nvSpPr>
          <p:cNvPr id="38" name="Text 36"/>
          <p:cNvSpPr/>
          <p:nvPr/>
        </p:nvSpPr>
        <p:spPr>
          <a:xfrm>
            <a:off x="6492240" y="2221992"/>
            <a:ext cx="2331720" cy="256032"/>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Same backup policy</a:t>
            </a:r>
            <a:endParaRPr lang="en-US" sz="1100" dirty="0"/>
          </a:p>
        </p:txBody>
      </p:sp>
      <p:sp>
        <p:nvSpPr>
          <p:cNvPr id="39" name="Text 37"/>
          <p:cNvSpPr/>
          <p:nvPr/>
        </p:nvSpPr>
        <p:spPr>
          <a:xfrm>
            <a:off x="6355080" y="2542032"/>
            <a:ext cx="251460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Milvus (future)</a:t>
            </a:r>
            <a:endParaRPr lang="en-US" sz="1150" dirty="0"/>
          </a:p>
        </p:txBody>
      </p:sp>
      <p:sp>
        <p:nvSpPr>
          <p:cNvPr id="40" name="Text 38"/>
          <p:cNvSpPr/>
          <p:nvPr/>
        </p:nvSpPr>
        <p:spPr>
          <a:xfrm>
            <a:off x="6492240" y="2807208"/>
            <a:ext cx="2331720" cy="256032"/>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Horizontal scale</a:t>
            </a:r>
            <a:endParaRPr lang="en-US" sz="1100" dirty="0"/>
          </a:p>
        </p:txBody>
      </p:sp>
      <p:sp>
        <p:nvSpPr>
          <p:cNvPr id="41" name="Text 39"/>
          <p:cNvSpPr/>
          <p:nvPr/>
        </p:nvSpPr>
        <p:spPr>
          <a:xfrm>
            <a:off x="6492240" y="3054096"/>
            <a:ext cx="2331720" cy="256032"/>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Purpose-built ANN</a:t>
            </a:r>
            <a:endParaRPr lang="en-US" sz="1100" dirty="0"/>
          </a:p>
        </p:txBody>
      </p:sp>
      <p:sp>
        <p:nvSpPr>
          <p:cNvPr id="42" name="Text 40"/>
          <p:cNvSpPr/>
          <p:nvPr/>
        </p:nvSpPr>
        <p:spPr>
          <a:xfrm>
            <a:off x="6492240" y="3300984"/>
            <a:ext cx="2331720" cy="256032"/>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Operational overhead</a:t>
            </a:r>
            <a:endParaRPr lang="en-US" sz="1100" dirty="0"/>
          </a:p>
        </p:txBody>
      </p:sp>
      <p:sp>
        <p:nvSpPr>
          <p:cNvPr id="43" name="Text 41"/>
          <p:cNvSpPr/>
          <p:nvPr/>
        </p:nvSpPr>
        <p:spPr>
          <a:xfrm>
            <a:off x="6355080" y="3621024"/>
            <a:ext cx="251460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ADR-009 trigger</a:t>
            </a:r>
            <a:endParaRPr lang="en-US" sz="1150" dirty="0"/>
          </a:p>
        </p:txBody>
      </p:sp>
      <p:sp>
        <p:nvSpPr>
          <p:cNvPr id="44" name="Text 42"/>
          <p:cNvSpPr/>
          <p:nvPr/>
        </p:nvSpPr>
        <p:spPr>
          <a:xfrm>
            <a:off x="6492240" y="3886200"/>
            <a:ext cx="2331720" cy="256032"/>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&gt;1M embeddings</a:t>
            </a:r>
            <a:endParaRPr lang="en-US" sz="1100" dirty="0"/>
          </a:p>
        </p:txBody>
      </p:sp>
      <p:sp>
        <p:nvSpPr>
          <p:cNvPr id="45" name="Text 43"/>
          <p:cNvSpPr/>
          <p:nvPr/>
        </p:nvSpPr>
        <p:spPr>
          <a:xfrm>
            <a:off x="6492240" y="4133088"/>
            <a:ext cx="2331720" cy="256032"/>
          </a:xfrm>
          <a:prstGeom prst="rect">
            <a:avLst/>
          </a:prstGeom>
          <a:noFill/>
          <a:ln/>
        </p:spPr>
        <p:txBody>
          <a:bodyPr wrap="square" lIns="50800" tIns="50800" rIns="50800" bIns="50800" rtlCol="0" anchor="t"/>
          <a:lstStyle/>
          <a:p>
            <a:pPr algn="l" indent="0" marL="0">
              <a:buNone/>
            </a:pPr>
            <a:r>
              <a:rPr lang="en-US" sz="1100" dirty="0">
                <a:solidFill>
                  <a:srgbClr val="8096C4"/>
                </a:solidFill>
                <a:latin typeface="Calibri" pitchFamily="34" charset="0"/>
                <a:ea typeface="Calibri" pitchFamily="34" charset="-122"/>
                <a:cs typeface="Calibri" pitchFamily="34" charset="-120"/>
              </a:rPr>
              <a:t>OR P95 &gt; 50ms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5-Minute Live Walkthrough</a:t>
            </a:r>
            <a:endParaRPr lang="en-US" sz="3200" dirty="0"/>
          </a:p>
        </p:txBody>
      </p:sp>
      <p:sp>
        <p:nvSpPr>
          <p:cNvPr id="3" name="Shape 1"/>
          <p:cNvSpPr/>
          <p:nvPr/>
        </p:nvSpPr>
        <p:spPr>
          <a:xfrm>
            <a:off x="320040" y="987552"/>
            <a:ext cx="1618488" cy="2971800"/>
          </a:xfrm>
          <a:prstGeom prst="roundRect">
            <a:avLst>
              <a:gd name="adj" fmla="val 6780"/>
            </a:avLst>
          </a:prstGeom>
          <a:solidFill>
            <a:srgbClr val="253080"/>
          </a:solidFill>
          <a:ln w="12700">
            <a:solidFill>
              <a:srgbClr val="CADCFC"/>
            </a:solidFill>
            <a:prstDash val="solid"/>
          </a:ln>
          <a:effectLst>
            <a:outerShdw sx="100000" sy="100000" kx="0" ky="0" algn="bl" rotWithShape="0" blurRad="101600" dist="38100" dir="2700000">
              <a:srgbClr val="000000">
                <a:alpha val="30000"/>
              </a:srgbClr>
            </a:outerShdw>
          </a:effectLst>
        </p:spPr>
      </p:sp>
      <p:sp>
        <p:nvSpPr>
          <p:cNvPr id="4" name="Text 2"/>
          <p:cNvSpPr/>
          <p:nvPr/>
        </p:nvSpPr>
        <p:spPr>
          <a:xfrm>
            <a:off x="393192" y="1060704"/>
            <a:ext cx="1481328" cy="256032"/>
          </a:xfrm>
          <a:prstGeom prst="rect">
            <a:avLst/>
          </a:prstGeom>
          <a:noFill/>
          <a:ln/>
        </p:spPr>
        <p:txBody>
          <a:bodyPr wrap="square" rtlCol="0" anchor="ctr"/>
          <a:lstStyle/>
          <a:p>
            <a:pPr algn="ctr" indent="0" marL="0">
              <a:buNone/>
            </a:pPr>
            <a:r>
              <a:rPr lang="en-US" sz="1050" b="1" dirty="0">
                <a:solidFill>
                  <a:srgbClr val="CADCFC"/>
                </a:solidFill>
                <a:latin typeface="Courier New" pitchFamily="34" charset="0"/>
                <a:ea typeface="Courier New" pitchFamily="34" charset="-122"/>
                <a:cs typeface="Courier New" pitchFamily="34" charset="-120"/>
              </a:rPr>
              <a:t>T+0:00</a:t>
            </a:r>
            <a:endParaRPr lang="en-US" sz="1050" dirty="0"/>
          </a:p>
        </p:txBody>
      </p:sp>
      <p:sp>
        <p:nvSpPr>
          <p:cNvPr id="5" name="Text 3"/>
          <p:cNvSpPr/>
          <p:nvPr/>
        </p:nvSpPr>
        <p:spPr>
          <a:xfrm>
            <a:off x="393192" y="1335024"/>
            <a:ext cx="1481328"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System Overview</a:t>
            </a:r>
            <a:endParaRPr lang="en-US" sz="1200" dirty="0"/>
          </a:p>
        </p:txBody>
      </p:sp>
      <p:sp>
        <p:nvSpPr>
          <p:cNvPr id="6" name="Text 4"/>
          <p:cNvSpPr/>
          <p:nvPr/>
        </p:nvSpPr>
        <p:spPr>
          <a:xfrm>
            <a:off x="411480" y="1664208"/>
            <a:ext cx="1444752" cy="2148840"/>
          </a:xfrm>
          <a:prstGeom prst="rect">
            <a:avLst/>
          </a:prstGeom>
          <a:noFill/>
          <a:ln/>
        </p:spPr>
        <p:txBody>
          <a:bodyPr wrap="square" rtlCol="0" anchor="ctr"/>
          <a:lstStyle/>
          <a:p>
            <a:pPr algn="l" indent="0" marL="0">
              <a:buNone/>
            </a:pPr>
            <a:r>
              <a:rPr lang="en-US" sz="1100" dirty="0">
                <a:solidFill>
                  <a:srgbClr val="E8EDF8"/>
                </a:solidFill>
                <a:latin typeface="Calibri" pitchFamily="34" charset="0"/>
                <a:ea typeface="Calibri" pitchFamily="34" charset="-122"/>
                <a:cs typeface="Calibri" pitchFamily="34" charset="-120"/>
              </a:rPr>
              <a:t>make ps → 5 containers healthy</a:t>
            </a:r>
            <a:endParaRPr lang="en-US" sz="1100" dirty="0"/>
          </a:p>
          <a:p>
            <a:pPr algn="l" indent="0" marL="0">
              <a:buNone/>
            </a:pPr>
            <a:r>
              <a:rPr lang="en-US" sz="1100" dirty="0">
                <a:solidFill>
                  <a:srgbClr val="E8EDF8"/>
                </a:solidFill>
                <a:latin typeface="Calibri" pitchFamily="34" charset="0"/>
                <a:ea typeface="Calibri" pitchFamily="34" charset="-122"/>
                <a:cs typeface="Calibri" pitchFamily="34" charset="-120"/>
              </a:rPr>
              <a:t>"Five containers. One command."</a:t>
            </a:r>
            <a:endParaRPr lang="en-US" sz="1100" dirty="0"/>
          </a:p>
        </p:txBody>
      </p:sp>
      <p:sp>
        <p:nvSpPr>
          <p:cNvPr id="7" name="Shape 5"/>
          <p:cNvSpPr/>
          <p:nvPr/>
        </p:nvSpPr>
        <p:spPr>
          <a:xfrm>
            <a:off x="2057400" y="987552"/>
            <a:ext cx="1618488" cy="2971800"/>
          </a:xfrm>
          <a:prstGeom prst="roundRect">
            <a:avLst>
              <a:gd name="adj" fmla="val 6780"/>
            </a:avLst>
          </a:prstGeom>
          <a:solidFill>
            <a:srgbClr val="253080"/>
          </a:solidFill>
          <a:ln w="12700">
            <a:solidFill>
              <a:srgbClr val="38BDF8"/>
            </a:solidFill>
            <a:prstDash val="solid"/>
          </a:ln>
          <a:effectLst>
            <a:outerShdw sx="100000" sy="100000" kx="0" ky="0" algn="bl" rotWithShape="0" blurRad="101600" dist="38100" dir="2700000">
              <a:srgbClr val="000000">
                <a:alpha val="30000"/>
              </a:srgbClr>
            </a:outerShdw>
          </a:effectLst>
        </p:spPr>
      </p:sp>
      <p:sp>
        <p:nvSpPr>
          <p:cNvPr id="8" name="Text 6"/>
          <p:cNvSpPr/>
          <p:nvPr/>
        </p:nvSpPr>
        <p:spPr>
          <a:xfrm>
            <a:off x="2130552" y="1060704"/>
            <a:ext cx="1481328" cy="256032"/>
          </a:xfrm>
          <a:prstGeom prst="rect">
            <a:avLst/>
          </a:prstGeom>
          <a:noFill/>
          <a:ln/>
        </p:spPr>
        <p:txBody>
          <a:bodyPr wrap="square" rtlCol="0" anchor="ctr"/>
          <a:lstStyle/>
          <a:p>
            <a:pPr algn="ctr" indent="0" marL="0">
              <a:buNone/>
            </a:pPr>
            <a:r>
              <a:rPr lang="en-US" sz="1050" b="1" dirty="0">
                <a:solidFill>
                  <a:srgbClr val="38BDF8"/>
                </a:solidFill>
                <a:latin typeface="Courier New" pitchFamily="34" charset="0"/>
                <a:ea typeface="Courier New" pitchFamily="34" charset="-122"/>
                <a:cs typeface="Courier New" pitchFamily="34" charset="-120"/>
              </a:rPr>
              <a:t>T+0:45</a:t>
            </a:r>
            <a:endParaRPr lang="en-US" sz="1050" dirty="0"/>
          </a:p>
        </p:txBody>
      </p:sp>
      <p:sp>
        <p:nvSpPr>
          <p:cNvPr id="9" name="Text 7"/>
          <p:cNvSpPr/>
          <p:nvPr/>
        </p:nvSpPr>
        <p:spPr>
          <a:xfrm>
            <a:off x="2130552" y="1335024"/>
            <a:ext cx="1481328"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Transaction Monitor</a:t>
            </a:r>
            <a:endParaRPr lang="en-US" sz="1200" dirty="0"/>
          </a:p>
        </p:txBody>
      </p:sp>
      <p:sp>
        <p:nvSpPr>
          <p:cNvPr id="10" name="Text 8"/>
          <p:cNvSpPr/>
          <p:nvPr/>
        </p:nvSpPr>
        <p:spPr>
          <a:xfrm>
            <a:off x="2148840" y="1664208"/>
            <a:ext cx="1444752" cy="2148840"/>
          </a:xfrm>
          <a:prstGeom prst="rect">
            <a:avLst/>
          </a:prstGeom>
          <a:noFill/>
          <a:ln/>
        </p:spPr>
        <p:txBody>
          <a:bodyPr wrap="square" rtlCol="0" anchor="ctr"/>
          <a:lstStyle/>
          <a:p>
            <a:pPr algn="l" indent="0" marL="0">
              <a:buNone/>
            </a:pPr>
            <a:r>
              <a:rPr lang="en-US" sz="1100" dirty="0">
                <a:solidFill>
                  <a:srgbClr val="E8EDF8"/>
                </a:solidFill>
                <a:latin typeface="Calibri" pitchFamily="34" charset="0"/>
                <a:ea typeface="Calibri" pitchFamily="34" charset="-122"/>
                <a:cs typeface="Calibri" pitchFamily="34" charset="-120"/>
              </a:rPr>
              <a:t>Risk spine: cyan / amber / red</a:t>
            </a:r>
            <a:endParaRPr lang="en-US" sz="1100" dirty="0"/>
          </a:p>
          <a:p>
            <a:pPr algn="l" indent="0" marL="0">
              <a:buNone/>
            </a:pPr>
            <a:r>
              <a:rPr lang="en-US" sz="1100" dirty="0">
                <a:solidFill>
                  <a:srgbClr val="E8EDF8"/>
                </a:solidFill>
                <a:latin typeface="Calibri" pitchFamily="34" charset="0"/>
                <a:ea typeface="Calibri" pitchFamily="34" charset="-122"/>
                <a:cs typeface="Calibri" pitchFamily="34" charset="-120"/>
              </a:rPr>
              <a:t>Filter flagged: 711 rows</a:t>
            </a:r>
            <a:endParaRPr lang="en-US" sz="1100" dirty="0"/>
          </a:p>
          <a:p>
            <a:pPr algn="l" indent="0" marL="0">
              <a:buNone/>
            </a:pPr>
            <a:r>
              <a:rPr lang="en-US" sz="1100" dirty="0">
                <a:solidFill>
                  <a:srgbClr val="E8EDF8"/>
                </a:solidFill>
                <a:latin typeface="Calibri" pitchFamily="34" charset="0"/>
                <a:ea typeface="Calibri" pitchFamily="34" charset="-122"/>
                <a:cs typeface="Calibri" pitchFamily="34" charset="-120"/>
              </a:rPr>
              <a:t>Click row → detail drawer</a:t>
            </a:r>
            <a:endParaRPr lang="en-US" sz="1100" dirty="0"/>
          </a:p>
        </p:txBody>
      </p:sp>
      <p:sp>
        <p:nvSpPr>
          <p:cNvPr id="11" name="Shape 9"/>
          <p:cNvSpPr/>
          <p:nvPr/>
        </p:nvSpPr>
        <p:spPr>
          <a:xfrm>
            <a:off x="3794760" y="987552"/>
            <a:ext cx="1618488" cy="2971800"/>
          </a:xfrm>
          <a:prstGeom prst="roundRect">
            <a:avLst>
              <a:gd name="adj" fmla="val 6780"/>
            </a:avLst>
          </a:prstGeom>
          <a:solidFill>
            <a:srgbClr val="253080"/>
          </a:solidFill>
          <a:ln w="12700">
            <a:solidFill>
              <a:srgbClr val="F59E0B"/>
            </a:solidFill>
            <a:prstDash val="solid"/>
          </a:ln>
          <a:effectLst>
            <a:outerShdw sx="100000" sy="100000" kx="0" ky="0" algn="bl" rotWithShape="0" blurRad="101600" dist="38100" dir="2700000">
              <a:srgbClr val="000000">
                <a:alpha val="30000"/>
              </a:srgbClr>
            </a:outerShdw>
          </a:effectLst>
        </p:spPr>
      </p:sp>
      <p:sp>
        <p:nvSpPr>
          <p:cNvPr id="12" name="Text 10"/>
          <p:cNvSpPr/>
          <p:nvPr/>
        </p:nvSpPr>
        <p:spPr>
          <a:xfrm>
            <a:off x="3867912" y="1060704"/>
            <a:ext cx="1481328" cy="256032"/>
          </a:xfrm>
          <a:prstGeom prst="rect">
            <a:avLst/>
          </a:prstGeom>
          <a:noFill/>
          <a:ln/>
        </p:spPr>
        <p:txBody>
          <a:bodyPr wrap="square" rtlCol="0" anchor="ctr"/>
          <a:lstStyle/>
          <a:p>
            <a:pPr algn="ctr" indent="0" marL="0">
              <a:buNone/>
            </a:pPr>
            <a:r>
              <a:rPr lang="en-US" sz="1050" b="1" dirty="0">
                <a:solidFill>
                  <a:srgbClr val="F59E0B"/>
                </a:solidFill>
                <a:latin typeface="Courier New" pitchFamily="34" charset="0"/>
                <a:ea typeface="Courier New" pitchFamily="34" charset="-122"/>
                <a:cs typeface="Courier New" pitchFamily="34" charset="-120"/>
              </a:rPr>
              <a:t>T+1:45</a:t>
            </a:r>
            <a:endParaRPr lang="en-US" sz="1050" dirty="0"/>
          </a:p>
        </p:txBody>
      </p:sp>
      <p:sp>
        <p:nvSpPr>
          <p:cNvPr id="13" name="Text 11"/>
          <p:cNvSpPr/>
          <p:nvPr/>
        </p:nvSpPr>
        <p:spPr>
          <a:xfrm>
            <a:off x="3867912" y="1335024"/>
            <a:ext cx="1481328"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Fraud Scoring</a:t>
            </a:r>
            <a:endParaRPr lang="en-US" sz="1200" dirty="0"/>
          </a:p>
        </p:txBody>
      </p:sp>
      <p:sp>
        <p:nvSpPr>
          <p:cNvPr id="14" name="Text 12"/>
          <p:cNvSpPr/>
          <p:nvPr/>
        </p:nvSpPr>
        <p:spPr>
          <a:xfrm>
            <a:off x="3886200" y="1664208"/>
            <a:ext cx="1444752" cy="2148840"/>
          </a:xfrm>
          <a:prstGeom prst="rect">
            <a:avLst/>
          </a:prstGeom>
          <a:noFill/>
          <a:ln/>
        </p:spPr>
        <p:txBody>
          <a:bodyPr wrap="square" rtlCol="0" anchor="ctr"/>
          <a:lstStyle/>
          <a:p>
            <a:pPr algn="l" indent="0" marL="0">
              <a:buNone/>
            </a:pPr>
            <a:r>
              <a:rPr lang="en-US" sz="1100" dirty="0">
                <a:solidFill>
                  <a:srgbClr val="E8EDF8"/>
                </a:solidFill>
                <a:latin typeface="Calibri" pitchFamily="34" charset="0"/>
                <a:ea typeface="Calibri" pitchFamily="34" charset="-122"/>
                <a:cs typeface="Calibri" pitchFamily="34" charset="-120"/>
              </a:rPr>
              <a:t>Score now → loading skeleton</a:t>
            </a:r>
            <a:endParaRPr lang="en-US" sz="1100" dirty="0"/>
          </a:p>
          <a:p>
            <a:pPr algn="l" indent="0" marL="0">
              <a:buNone/>
            </a:pPr>
            <a:r>
              <a:rPr lang="en-US" sz="1100" dirty="0">
                <a:solidFill>
                  <a:srgbClr val="E8EDF8"/>
                </a:solidFill>
                <a:latin typeface="Calibri" pitchFamily="34" charset="0"/>
                <a:ea typeface="Calibri" pitchFamily="34" charset="-122"/>
                <a:cs typeface="Calibri" pitchFamily="34" charset="-120"/>
              </a:rPr>
              <a:t>Animated meter 0→N</a:t>
            </a:r>
            <a:endParaRPr lang="en-US" sz="1100" dirty="0"/>
          </a:p>
          <a:p>
            <a:pPr algn="l" indent="0" marL="0">
              <a:buNone/>
            </a:pPr>
            <a:r>
              <a:rPr lang="en-US" sz="1100" dirty="0">
                <a:solidFill>
                  <a:srgbClr val="E8EDF8"/>
                </a:solidFill>
                <a:latin typeface="Calibri" pitchFamily="34" charset="0"/>
                <a:ea typeface="Calibri" pitchFamily="34" charset="-122"/>
                <a:cs typeface="Calibri" pitchFamily="34" charset="-120"/>
              </a:rPr>
              <a:t>Rule hits + evidence</a:t>
            </a:r>
            <a:endParaRPr lang="en-US" sz="1100" dirty="0"/>
          </a:p>
          <a:p>
            <a:pPr algn="l" indent="0" marL="0">
              <a:buNone/>
            </a:pPr>
            <a:r>
              <a:rPr lang="en-US" sz="1100" dirty="0">
                <a:solidFill>
                  <a:srgbClr val="E8EDF8"/>
                </a:solidFill>
                <a:latin typeface="Calibri" pitchFamily="34" charset="0"/>
                <a:ea typeface="Calibri" pitchFamily="34" charset="-122"/>
                <a:cs typeface="Calibri" pitchFamily="34" charset="-120"/>
              </a:rPr>
              <a:t>curl high-risk: 100 REJECT</a:t>
            </a:r>
            <a:endParaRPr lang="en-US" sz="1100" dirty="0"/>
          </a:p>
        </p:txBody>
      </p:sp>
      <p:sp>
        <p:nvSpPr>
          <p:cNvPr id="15" name="Shape 13"/>
          <p:cNvSpPr/>
          <p:nvPr/>
        </p:nvSpPr>
        <p:spPr>
          <a:xfrm>
            <a:off x="5532120" y="987552"/>
            <a:ext cx="1618488" cy="2971800"/>
          </a:xfrm>
          <a:prstGeom prst="roundRect">
            <a:avLst>
              <a:gd name="adj" fmla="val 6780"/>
            </a:avLst>
          </a:prstGeom>
          <a:solidFill>
            <a:srgbClr val="253080"/>
          </a:solidFill>
          <a:ln w="12700">
            <a:solidFill>
              <a:srgbClr val="22C55E"/>
            </a:solidFill>
            <a:prstDash val="solid"/>
          </a:ln>
          <a:effectLst>
            <a:outerShdw sx="100000" sy="100000" kx="0" ky="0" algn="bl" rotWithShape="0" blurRad="101600" dist="38100" dir="2700000">
              <a:srgbClr val="000000">
                <a:alpha val="30000"/>
              </a:srgbClr>
            </a:outerShdw>
          </a:effectLst>
        </p:spPr>
      </p:sp>
      <p:sp>
        <p:nvSpPr>
          <p:cNvPr id="16" name="Text 14"/>
          <p:cNvSpPr/>
          <p:nvPr/>
        </p:nvSpPr>
        <p:spPr>
          <a:xfrm>
            <a:off x="5605272" y="1060704"/>
            <a:ext cx="1481328" cy="256032"/>
          </a:xfrm>
          <a:prstGeom prst="rect">
            <a:avLst/>
          </a:prstGeom>
          <a:noFill/>
          <a:ln/>
        </p:spPr>
        <p:txBody>
          <a:bodyPr wrap="square" rtlCol="0" anchor="ctr"/>
          <a:lstStyle/>
          <a:p>
            <a:pPr algn="ctr" indent="0" marL="0">
              <a:buNone/>
            </a:pPr>
            <a:r>
              <a:rPr lang="en-US" sz="1050" b="1" dirty="0">
                <a:solidFill>
                  <a:srgbClr val="22C55E"/>
                </a:solidFill>
                <a:latin typeface="Courier New" pitchFamily="34" charset="0"/>
                <a:ea typeface="Courier New" pitchFamily="34" charset="-122"/>
                <a:cs typeface="Courier New" pitchFamily="34" charset="-120"/>
              </a:rPr>
              <a:t>T+3:30</a:t>
            </a:r>
            <a:endParaRPr lang="en-US" sz="1050" dirty="0"/>
          </a:p>
        </p:txBody>
      </p:sp>
      <p:sp>
        <p:nvSpPr>
          <p:cNvPr id="17" name="Text 15"/>
          <p:cNvSpPr/>
          <p:nvPr/>
        </p:nvSpPr>
        <p:spPr>
          <a:xfrm>
            <a:off x="5605272" y="1335024"/>
            <a:ext cx="1481328"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RAG Assistant</a:t>
            </a:r>
            <a:endParaRPr lang="en-US" sz="1200" dirty="0"/>
          </a:p>
        </p:txBody>
      </p:sp>
      <p:sp>
        <p:nvSpPr>
          <p:cNvPr id="18" name="Text 16"/>
          <p:cNvSpPr/>
          <p:nvPr/>
        </p:nvSpPr>
        <p:spPr>
          <a:xfrm>
            <a:off x="5623560" y="1664208"/>
            <a:ext cx="1444752" cy="2148840"/>
          </a:xfrm>
          <a:prstGeom prst="rect">
            <a:avLst/>
          </a:prstGeom>
          <a:noFill/>
          <a:ln/>
        </p:spPr>
        <p:txBody>
          <a:bodyPr wrap="square" rtlCol="0" anchor="ctr"/>
          <a:lstStyle/>
          <a:p>
            <a:pPr algn="l" indent="0" marL="0">
              <a:buNone/>
            </a:pPr>
            <a:r>
              <a:rPr lang="en-US" sz="1100" dirty="0">
                <a:solidFill>
                  <a:srgbClr val="E8EDF8"/>
                </a:solidFill>
                <a:latin typeface="Calibri" pitchFamily="34" charset="0"/>
                <a:ea typeface="Calibri" pitchFamily="34" charset="-122"/>
                <a:cs typeface="Calibri" pitchFamily="34" charset="-120"/>
              </a:rPr>
              <a:t>Chip: How long UPI refund?</a:t>
            </a:r>
            <a:endParaRPr lang="en-US" sz="1100" dirty="0"/>
          </a:p>
          <a:p>
            <a:pPr algn="l" indent="0" marL="0">
              <a:buNone/>
            </a:pPr>
            <a:r>
              <a:rPr lang="en-US" sz="1100" dirty="0">
                <a:solidFill>
                  <a:srgbClr val="E8EDF8"/>
                </a:solidFill>
                <a:latin typeface="Calibri" pitchFamily="34" charset="0"/>
                <a:ea typeface="Calibri" pitchFamily="34" charset="-122"/>
                <a:cs typeface="Calibri" pitchFamily="34" charset="-120"/>
              </a:rPr>
              <a:t>search_mode: vector · 0.87</a:t>
            </a:r>
            <a:endParaRPr lang="en-US" sz="1100" dirty="0"/>
          </a:p>
          <a:p>
            <a:pPr algn="l" indent="0" marL="0">
              <a:buNone/>
            </a:pPr>
            <a:r>
              <a:rPr lang="en-US" sz="1100" dirty="0">
                <a:solidFill>
                  <a:srgbClr val="E8EDF8"/>
                </a:solidFill>
                <a:latin typeface="Calibri" pitchFamily="34" charset="0"/>
                <a:ea typeface="Calibri" pitchFamily="34" charset="-122"/>
                <a:cs typeface="Calibri" pitchFamily="34" charset="-120"/>
              </a:rPr>
              <a:t>Free-form: chargeback evidence</a:t>
            </a:r>
            <a:endParaRPr lang="en-US" sz="1100" dirty="0"/>
          </a:p>
        </p:txBody>
      </p:sp>
      <p:sp>
        <p:nvSpPr>
          <p:cNvPr id="19" name="Shape 17"/>
          <p:cNvSpPr/>
          <p:nvPr/>
        </p:nvSpPr>
        <p:spPr>
          <a:xfrm>
            <a:off x="7269480" y="987552"/>
            <a:ext cx="1618488" cy="2971800"/>
          </a:xfrm>
          <a:prstGeom prst="roundRect">
            <a:avLst>
              <a:gd name="adj" fmla="val 6780"/>
            </a:avLst>
          </a:prstGeom>
          <a:solidFill>
            <a:srgbClr val="253080"/>
          </a:solidFill>
          <a:ln w="12700">
            <a:solidFill>
              <a:srgbClr val="8096C4"/>
            </a:solidFill>
            <a:prstDash val="solid"/>
          </a:ln>
          <a:effectLst>
            <a:outerShdw sx="100000" sy="100000" kx="0" ky="0" algn="bl" rotWithShape="0" blurRad="101600" dist="38100" dir="2700000">
              <a:srgbClr val="000000">
                <a:alpha val="30000"/>
              </a:srgbClr>
            </a:outerShdw>
          </a:effectLst>
        </p:spPr>
      </p:sp>
      <p:sp>
        <p:nvSpPr>
          <p:cNvPr id="20" name="Text 18"/>
          <p:cNvSpPr/>
          <p:nvPr/>
        </p:nvSpPr>
        <p:spPr>
          <a:xfrm>
            <a:off x="7342632" y="1060704"/>
            <a:ext cx="1481328" cy="256032"/>
          </a:xfrm>
          <a:prstGeom prst="rect">
            <a:avLst/>
          </a:prstGeom>
          <a:noFill/>
          <a:ln/>
        </p:spPr>
        <p:txBody>
          <a:bodyPr wrap="square" rtlCol="0" anchor="ctr"/>
          <a:lstStyle/>
          <a:p>
            <a:pPr algn="ctr" indent="0" marL="0">
              <a:buNone/>
            </a:pPr>
            <a:r>
              <a:rPr lang="en-US" sz="1050" b="1" dirty="0">
                <a:solidFill>
                  <a:srgbClr val="8096C4"/>
                </a:solidFill>
                <a:latin typeface="Courier New" pitchFamily="34" charset="0"/>
                <a:ea typeface="Courier New" pitchFamily="34" charset="-122"/>
                <a:cs typeface="Courier New" pitchFamily="34" charset="-120"/>
              </a:rPr>
              <a:t>T+4:30</a:t>
            </a:r>
            <a:endParaRPr lang="en-US" sz="1050" dirty="0"/>
          </a:p>
        </p:txBody>
      </p:sp>
      <p:sp>
        <p:nvSpPr>
          <p:cNvPr id="21" name="Text 19"/>
          <p:cNvSpPr/>
          <p:nvPr/>
        </p:nvSpPr>
        <p:spPr>
          <a:xfrm>
            <a:off x="7342632" y="1335024"/>
            <a:ext cx="1481328"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Architecture</a:t>
            </a:r>
            <a:endParaRPr lang="en-US" sz="1200" dirty="0"/>
          </a:p>
        </p:txBody>
      </p:sp>
      <p:sp>
        <p:nvSpPr>
          <p:cNvPr id="22" name="Text 20"/>
          <p:cNvSpPr/>
          <p:nvPr/>
        </p:nvSpPr>
        <p:spPr>
          <a:xfrm>
            <a:off x="7360920" y="1664208"/>
            <a:ext cx="1444752" cy="2148840"/>
          </a:xfrm>
          <a:prstGeom prst="rect">
            <a:avLst/>
          </a:prstGeom>
          <a:noFill/>
          <a:ln/>
        </p:spPr>
        <p:txBody>
          <a:bodyPr wrap="square" rtlCol="0" anchor="ctr"/>
          <a:lstStyle/>
          <a:p>
            <a:pPr algn="l" indent="0" marL="0">
              <a:buNone/>
            </a:pPr>
            <a:r>
              <a:rPr lang="en-US" sz="1100" dirty="0">
                <a:solidFill>
                  <a:srgbClr val="E8EDF8"/>
                </a:solidFill>
                <a:latin typeface="Calibri" pitchFamily="34" charset="0"/>
                <a:ea typeface="Calibri" pitchFamily="34" charset="-122"/>
                <a:cs typeface="Calibri" pitchFamily="34" charset="-120"/>
              </a:rPr>
              <a:t>0 imbalanced / 10,045</a:t>
            </a:r>
            <a:endParaRPr lang="en-US" sz="1100" dirty="0"/>
          </a:p>
          <a:p>
            <a:pPr algn="l" indent="0" marL="0">
              <a:buNone/>
            </a:pPr>
            <a:r>
              <a:rPr lang="en-US" sz="1100" dirty="0">
                <a:solidFill>
                  <a:srgbClr val="E8EDF8"/>
                </a:solidFill>
                <a:latin typeface="Calibri" pitchFamily="34" charset="0"/>
                <a:ea typeface="Calibri" pitchFamily="34" charset="-122"/>
                <a:cs typeface="Calibri" pitchFamily="34" charset="-120"/>
              </a:rPr>
              <a:t>Idempotency verified</a:t>
            </a:r>
            <a:endParaRPr lang="en-US" sz="1100" dirty="0"/>
          </a:p>
          <a:p>
            <a:pPr algn="l" indent="0" marL="0">
              <a:buNone/>
            </a:pPr>
            <a:r>
              <a:rPr lang="en-US" sz="1100" dirty="0">
                <a:solidFill>
                  <a:srgbClr val="E8EDF8"/>
                </a:solidFill>
                <a:latin typeface="Calibri" pitchFamily="34" charset="0"/>
                <a:ea typeface="Calibri" pitchFamily="34" charset="-122"/>
                <a:cs typeface="Calibri" pitchFamily="34" charset="-120"/>
              </a:rPr>
              <a:t>Graceful degradation demo</a:t>
            </a:r>
            <a:endParaRPr lang="en-US" sz="1100" dirty="0"/>
          </a:p>
        </p:txBody>
      </p:sp>
      <p:sp>
        <p:nvSpPr>
          <p:cNvPr id="23" name="Shape 21"/>
          <p:cNvSpPr/>
          <p:nvPr/>
        </p:nvSpPr>
        <p:spPr>
          <a:xfrm>
            <a:off x="320040" y="4041648"/>
            <a:ext cx="8503920" cy="713232"/>
          </a:xfrm>
          <a:prstGeom prst="roundRect">
            <a:avLst>
              <a:gd name="adj" fmla="val 15385"/>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24" name="Text 22"/>
          <p:cNvSpPr/>
          <p:nvPr/>
        </p:nvSpPr>
        <p:spPr>
          <a:xfrm>
            <a:off x="502920" y="4087368"/>
            <a:ext cx="8138160" cy="347472"/>
          </a:xfrm>
          <a:prstGeom prst="rect">
            <a:avLst/>
          </a:prstGeom>
          <a:noFill/>
          <a:ln/>
        </p:spPr>
        <p:txBody>
          <a:bodyPr wrap="square" lIns="50800" tIns="50800" rIns="50800" bIns="50800" rtlCol="0" anchor="t"/>
          <a:lstStyle/>
          <a:p>
            <a:pPr algn="l" indent="0" marL="0">
              <a:buNone/>
            </a:pPr>
            <a:r>
              <a:rPr lang="en-US" sz="950" dirty="0">
                <a:solidFill>
                  <a:srgbClr val="38BDF8"/>
                </a:solidFill>
                <a:latin typeface="Courier New" pitchFamily="34" charset="0"/>
                <a:ea typeface="Courier New" pitchFamily="34" charset="-122"/>
                <a:cs typeface="Courier New" pitchFamily="34" charset="-120"/>
              </a:rPr>
              <a:t>curl -X POST localhost:8100/v1/fraud/score  -d  '{"merchant_id":"m_gambling_xyz","amount":"500000.00","currency":"INR","payment_method":"bank_transfer","metadata":{"country_receiver":"KP","is_new_device":true,"prior_failures":5,"hour_of_day":3}}'</a:t>
            </a:r>
            <a:endParaRPr lang="en-US" sz="950" dirty="0"/>
          </a:p>
        </p:txBody>
      </p:sp>
      <p:sp>
        <p:nvSpPr>
          <p:cNvPr id="25" name="Text 23"/>
          <p:cNvSpPr/>
          <p:nvPr/>
        </p:nvSpPr>
        <p:spPr>
          <a:xfrm>
            <a:off x="502920" y="4462272"/>
            <a:ext cx="8138160" cy="256032"/>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Result  →  score: 100  ·  decision: REJECT  ·  6 rules fired  (large INR + gambling + KP + new device + 03:00 + new account)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Where This Goes Next</a:t>
            </a:r>
            <a:endParaRPr lang="en-US" sz="3200" dirty="0"/>
          </a:p>
        </p:txBody>
      </p:sp>
      <p:sp>
        <p:nvSpPr>
          <p:cNvPr id="3" name="Shape 1"/>
          <p:cNvSpPr/>
          <p:nvPr/>
        </p:nvSpPr>
        <p:spPr>
          <a:xfrm>
            <a:off x="365760" y="987552"/>
            <a:ext cx="4663440" cy="3840480"/>
          </a:xfrm>
          <a:prstGeom prst="roundRect">
            <a:avLst>
              <a:gd name="adj" fmla="val 2857"/>
            </a:avLst>
          </a:prstGeom>
          <a:solidFill>
            <a:srgbClr val="253080"/>
          </a:solidFill>
          <a:ln w="12700">
            <a:solidFill>
              <a:srgbClr val="2E3F9E"/>
            </a:solidFill>
            <a:prstDash val="solid"/>
          </a:ln>
          <a:effectLst>
            <a:outerShdw sx="100000" sy="100000" kx="0" ky="0" algn="bl" rotWithShape="0" blurRad="101600" dist="38100" dir="2700000">
              <a:srgbClr val="000000">
                <a:alpha val="30000"/>
              </a:srgbClr>
            </a:outerShdw>
          </a:effectLst>
        </p:spPr>
      </p:sp>
      <p:sp>
        <p:nvSpPr>
          <p:cNvPr id="4" name="Text 2"/>
          <p:cNvSpPr/>
          <p:nvPr/>
        </p:nvSpPr>
        <p:spPr>
          <a:xfrm>
            <a:off x="594360" y="1060704"/>
            <a:ext cx="4206240" cy="301752"/>
          </a:xfrm>
          <a:prstGeom prst="rect">
            <a:avLst/>
          </a:prstGeom>
          <a:noFill/>
          <a:ln/>
        </p:spPr>
        <p:txBody>
          <a:bodyPr wrap="square"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Production Roadmap</a:t>
            </a:r>
            <a:endParaRPr lang="en-US" sz="1300" dirty="0"/>
          </a:p>
        </p:txBody>
      </p:sp>
      <p:sp>
        <p:nvSpPr>
          <p:cNvPr id="5" name="Shape 3"/>
          <p:cNvSpPr/>
          <p:nvPr/>
        </p:nvSpPr>
        <p:spPr>
          <a:xfrm>
            <a:off x="594360" y="1517904"/>
            <a:ext cx="219456" cy="219456"/>
          </a:xfrm>
          <a:prstGeom prst="ellipse">
            <a:avLst/>
          </a:prstGeom>
          <a:solidFill>
            <a:srgbClr val="22C55E"/>
          </a:solidFill>
          <a:ln w="12700">
            <a:solidFill>
              <a:srgbClr val="22C55E"/>
            </a:solidFill>
            <a:prstDash val="solid"/>
          </a:ln>
        </p:spPr>
      </p:sp>
      <p:sp>
        <p:nvSpPr>
          <p:cNvPr id="6" name="Text 4"/>
          <p:cNvSpPr/>
          <p:nvPr/>
        </p:nvSpPr>
        <p:spPr>
          <a:xfrm>
            <a:off x="594360" y="1517904"/>
            <a:ext cx="219456" cy="219456"/>
          </a:xfrm>
          <a:prstGeom prst="rect">
            <a:avLst/>
          </a:prstGeom>
          <a:noFill/>
          <a:ln/>
        </p:spPr>
        <p:txBody>
          <a:bodyPr wrap="square" rtlCol="0" anchor="ctr"/>
          <a:lstStyle/>
          <a:p>
            <a:pPr algn="ctr" indent="0" marL="0">
              <a:buNone/>
            </a:pPr>
            <a:r>
              <a:rPr lang="en-US" sz="900" b="1" dirty="0">
                <a:solidFill>
                  <a:srgbClr val="1E2761"/>
                </a:solidFill>
                <a:latin typeface="Calibri" pitchFamily="34" charset="0"/>
                <a:ea typeface="Calibri" pitchFamily="34" charset="-122"/>
                <a:cs typeface="Calibri" pitchFamily="34" charset="-120"/>
              </a:rPr>
              <a:t>1</a:t>
            </a:r>
            <a:endParaRPr lang="en-US" sz="900" dirty="0"/>
          </a:p>
        </p:txBody>
      </p:sp>
      <p:sp>
        <p:nvSpPr>
          <p:cNvPr id="7" name="Text 5"/>
          <p:cNvSpPr/>
          <p:nvPr/>
        </p:nvSpPr>
        <p:spPr>
          <a:xfrm>
            <a:off x="914400" y="1517904"/>
            <a:ext cx="3977640" cy="256032"/>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Authentication: JWT RS256 + OPA RBAC</a:t>
            </a:r>
            <a:endParaRPr lang="en-US" sz="1150" dirty="0"/>
          </a:p>
        </p:txBody>
      </p:sp>
      <p:sp>
        <p:nvSpPr>
          <p:cNvPr id="8" name="Shape 6"/>
          <p:cNvSpPr/>
          <p:nvPr/>
        </p:nvSpPr>
        <p:spPr>
          <a:xfrm>
            <a:off x="594360" y="1883664"/>
            <a:ext cx="219456" cy="219456"/>
          </a:xfrm>
          <a:prstGeom prst="ellipse">
            <a:avLst/>
          </a:prstGeom>
          <a:solidFill>
            <a:srgbClr val="22C55E"/>
          </a:solidFill>
          <a:ln w="12700">
            <a:solidFill>
              <a:srgbClr val="22C55E"/>
            </a:solidFill>
            <a:prstDash val="solid"/>
          </a:ln>
        </p:spPr>
      </p:sp>
      <p:sp>
        <p:nvSpPr>
          <p:cNvPr id="9" name="Text 7"/>
          <p:cNvSpPr/>
          <p:nvPr/>
        </p:nvSpPr>
        <p:spPr>
          <a:xfrm>
            <a:off x="594360" y="1883664"/>
            <a:ext cx="219456" cy="219456"/>
          </a:xfrm>
          <a:prstGeom prst="rect">
            <a:avLst/>
          </a:prstGeom>
          <a:noFill/>
          <a:ln/>
        </p:spPr>
        <p:txBody>
          <a:bodyPr wrap="square" rtlCol="0" anchor="ctr"/>
          <a:lstStyle/>
          <a:p>
            <a:pPr algn="ctr" indent="0" marL="0">
              <a:buNone/>
            </a:pPr>
            <a:r>
              <a:rPr lang="en-US" sz="900" b="1" dirty="0">
                <a:solidFill>
                  <a:srgbClr val="1E2761"/>
                </a:solidFill>
                <a:latin typeface="Calibri" pitchFamily="34" charset="0"/>
                <a:ea typeface="Calibri" pitchFamily="34" charset="-122"/>
                <a:cs typeface="Calibri" pitchFamily="34" charset="-120"/>
              </a:rPr>
              <a:t>2</a:t>
            </a:r>
            <a:endParaRPr lang="en-US" sz="900" dirty="0"/>
          </a:p>
        </p:txBody>
      </p:sp>
      <p:sp>
        <p:nvSpPr>
          <p:cNvPr id="10" name="Text 8"/>
          <p:cNvSpPr/>
          <p:nvPr/>
        </p:nvSpPr>
        <p:spPr>
          <a:xfrm>
            <a:off x="914400" y="1883664"/>
            <a:ext cx="3977640" cy="256032"/>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Observability: Prometheus + OTEL + Grafana</a:t>
            </a:r>
            <a:endParaRPr lang="en-US" sz="1150" dirty="0"/>
          </a:p>
        </p:txBody>
      </p:sp>
      <p:sp>
        <p:nvSpPr>
          <p:cNvPr id="11" name="Shape 9"/>
          <p:cNvSpPr/>
          <p:nvPr/>
        </p:nvSpPr>
        <p:spPr>
          <a:xfrm>
            <a:off x="594360" y="2249424"/>
            <a:ext cx="219456" cy="219456"/>
          </a:xfrm>
          <a:prstGeom prst="ellipse">
            <a:avLst/>
          </a:prstGeom>
          <a:solidFill>
            <a:srgbClr val="22C55E"/>
          </a:solidFill>
          <a:ln w="12700">
            <a:solidFill>
              <a:srgbClr val="22C55E"/>
            </a:solidFill>
            <a:prstDash val="solid"/>
          </a:ln>
        </p:spPr>
      </p:sp>
      <p:sp>
        <p:nvSpPr>
          <p:cNvPr id="12" name="Text 10"/>
          <p:cNvSpPr/>
          <p:nvPr/>
        </p:nvSpPr>
        <p:spPr>
          <a:xfrm>
            <a:off x="594360" y="2249424"/>
            <a:ext cx="219456" cy="219456"/>
          </a:xfrm>
          <a:prstGeom prst="rect">
            <a:avLst/>
          </a:prstGeom>
          <a:noFill/>
          <a:ln/>
        </p:spPr>
        <p:txBody>
          <a:bodyPr wrap="square" rtlCol="0" anchor="ctr"/>
          <a:lstStyle/>
          <a:p>
            <a:pPr algn="ctr" indent="0" marL="0">
              <a:buNone/>
            </a:pPr>
            <a:r>
              <a:rPr lang="en-US" sz="900" b="1" dirty="0">
                <a:solidFill>
                  <a:srgbClr val="1E2761"/>
                </a:solidFill>
                <a:latin typeface="Calibri" pitchFamily="34" charset="0"/>
                <a:ea typeface="Calibri" pitchFamily="34" charset="-122"/>
                <a:cs typeface="Calibri" pitchFamily="34" charset="-120"/>
              </a:rPr>
              <a:t>3</a:t>
            </a:r>
            <a:endParaRPr lang="en-US" sz="900" dirty="0"/>
          </a:p>
        </p:txBody>
      </p:sp>
      <p:sp>
        <p:nvSpPr>
          <p:cNvPr id="13" name="Text 11"/>
          <p:cNvSpPr/>
          <p:nvPr/>
        </p:nvSpPr>
        <p:spPr>
          <a:xfrm>
            <a:off x="914400" y="2249424"/>
            <a:ext cx="3977640" cy="256032"/>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Transactional outbox → Redis Streams</a:t>
            </a:r>
            <a:endParaRPr lang="en-US" sz="1150" dirty="0"/>
          </a:p>
        </p:txBody>
      </p:sp>
      <p:sp>
        <p:nvSpPr>
          <p:cNvPr id="14" name="Shape 12"/>
          <p:cNvSpPr/>
          <p:nvPr/>
        </p:nvSpPr>
        <p:spPr>
          <a:xfrm>
            <a:off x="594360" y="2615184"/>
            <a:ext cx="219456" cy="219456"/>
          </a:xfrm>
          <a:prstGeom prst="ellipse">
            <a:avLst/>
          </a:prstGeom>
          <a:solidFill>
            <a:srgbClr val="22C55E"/>
          </a:solidFill>
          <a:ln w="12700">
            <a:solidFill>
              <a:srgbClr val="22C55E"/>
            </a:solidFill>
            <a:prstDash val="solid"/>
          </a:ln>
        </p:spPr>
      </p:sp>
      <p:sp>
        <p:nvSpPr>
          <p:cNvPr id="15" name="Text 13"/>
          <p:cNvSpPr/>
          <p:nvPr/>
        </p:nvSpPr>
        <p:spPr>
          <a:xfrm>
            <a:off x="594360" y="2615184"/>
            <a:ext cx="219456" cy="219456"/>
          </a:xfrm>
          <a:prstGeom prst="rect">
            <a:avLst/>
          </a:prstGeom>
          <a:noFill/>
          <a:ln/>
        </p:spPr>
        <p:txBody>
          <a:bodyPr wrap="square" rtlCol="0" anchor="ctr"/>
          <a:lstStyle/>
          <a:p>
            <a:pPr algn="ctr" indent="0" marL="0">
              <a:buNone/>
            </a:pPr>
            <a:r>
              <a:rPr lang="en-US" sz="900" b="1" dirty="0">
                <a:solidFill>
                  <a:srgbClr val="1E2761"/>
                </a:solidFill>
                <a:latin typeface="Calibri" pitchFamily="34" charset="0"/>
                <a:ea typeface="Calibri" pitchFamily="34" charset="-122"/>
                <a:cs typeface="Calibri" pitchFamily="34" charset="-120"/>
              </a:rPr>
              <a:t>4</a:t>
            </a:r>
            <a:endParaRPr lang="en-US" sz="900" dirty="0"/>
          </a:p>
        </p:txBody>
      </p:sp>
      <p:sp>
        <p:nvSpPr>
          <p:cNvPr id="16" name="Text 14"/>
          <p:cNvSpPr/>
          <p:nvPr/>
        </p:nvSpPr>
        <p:spPr>
          <a:xfrm>
            <a:off x="914400" y="2615184"/>
            <a:ext cx="3977640" cy="256032"/>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Postgres HA: sync replication + backup</a:t>
            </a:r>
            <a:endParaRPr lang="en-US" sz="1150" dirty="0"/>
          </a:p>
        </p:txBody>
      </p:sp>
      <p:sp>
        <p:nvSpPr>
          <p:cNvPr id="17" name="Shape 15"/>
          <p:cNvSpPr/>
          <p:nvPr/>
        </p:nvSpPr>
        <p:spPr>
          <a:xfrm>
            <a:off x="594360" y="2980944"/>
            <a:ext cx="219456" cy="219456"/>
          </a:xfrm>
          <a:prstGeom prst="ellipse">
            <a:avLst/>
          </a:prstGeom>
          <a:solidFill>
            <a:srgbClr val="F59E0B"/>
          </a:solidFill>
          <a:ln w="12700">
            <a:solidFill>
              <a:srgbClr val="F59E0B"/>
            </a:solidFill>
            <a:prstDash val="solid"/>
          </a:ln>
        </p:spPr>
      </p:sp>
      <p:sp>
        <p:nvSpPr>
          <p:cNvPr id="18" name="Text 16"/>
          <p:cNvSpPr/>
          <p:nvPr/>
        </p:nvSpPr>
        <p:spPr>
          <a:xfrm>
            <a:off x="594360" y="2980944"/>
            <a:ext cx="219456" cy="219456"/>
          </a:xfrm>
          <a:prstGeom prst="rect">
            <a:avLst/>
          </a:prstGeom>
          <a:noFill/>
          <a:ln/>
        </p:spPr>
        <p:txBody>
          <a:bodyPr wrap="square" rtlCol="0" anchor="ctr"/>
          <a:lstStyle/>
          <a:p>
            <a:pPr algn="ctr" indent="0" marL="0">
              <a:buNone/>
            </a:pPr>
            <a:r>
              <a:rPr lang="en-US" sz="900" b="1" dirty="0">
                <a:solidFill>
                  <a:srgbClr val="1E2761"/>
                </a:solidFill>
                <a:latin typeface="Calibri" pitchFamily="34" charset="0"/>
                <a:ea typeface="Calibri" pitchFamily="34" charset="-122"/>
                <a:cs typeface="Calibri" pitchFamily="34" charset="-120"/>
              </a:rPr>
              <a:t>5</a:t>
            </a:r>
            <a:endParaRPr lang="en-US" sz="900" dirty="0"/>
          </a:p>
        </p:txBody>
      </p:sp>
      <p:sp>
        <p:nvSpPr>
          <p:cNvPr id="19" name="Text 17"/>
          <p:cNvSpPr/>
          <p:nvPr/>
        </p:nvSpPr>
        <p:spPr>
          <a:xfrm>
            <a:off x="914400" y="2980944"/>
            <a:ext cx="3977640" cy="256032"/>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CI/CD: GitHub Actions + Trivy + canary</a:t>
            </a:r>
            <a:endParaRPr lang="en-US" sz="1150" dirty="0"/>
          </a:p>
        </p:txBody>
      </p:sp>
      <p:sp>
        <p:nvSpPr>
          <p:cNvPr id="20" name="Shape 18"/>
          <p:cNvSpPr/>
          <p:nvPr/>
        </p:nvSpPr>
        <p:spPr>
          <a:xfrm>
            <a:off x="594360" y="3346704"/>
            <a:ext cx="219456" cy="219456"/>
          </a:xfrm>
          <a:prstGeom prst="ellipse">
            <a:avLst/>
          </a:prstGeom>
          <a:solidFill>
            <a:srgbClr val="F59E0B"/>
          </a:solidFill>
          <a:ln w="12700">
            <a:solidFill>
              <a:srgbClr val="F59E0B"/>
            </a:solidFill>
            <a:prstDash val="solid"/>
          </a:ln>
        </p:spPr>
      </p:sp>
      <p:sp>
        <p:nvSpPr>
          <p:cNvPr id="21" name="Text 19"/>
          <p:cNvSpPr/>
          <p:nvPr/>
        </p:nvSpPr>
        <p:spPr>
          <a:xfrm>
            <a:off x="594360" y="3346704"/>
            <a:ext cx="219456" cy="219456"/>
          </a:xfrm>
          <a:prstGeom prst="rect">
            <a:avLst/>
          </a:prstGeom>
          <a:noFill/>
          <a:ln/>
        </p:spPr>
        <p:txBody>
          <a:bodyPr wrap="square" rtlCol="0" anchor="ctr"/>
          <a:lstStyle/>
          <a:p>
            <a:pPr algn="ctr" indent="0" marL="0">
              <a:buNone/>
            </a:pPr>
            <a:r>
              <a:rPr lang="en-US" sz="900" b="1" dirty="0">
                <a:solidFill>
                  <a:srgbClr val="1E2761"/>
                </a:solidFill>
                <a:latin typeface="Calibri" pitchFamily="34" charset="0"/>
                <a:ea typeface="Calibri" pitchFamily="34" charset="-122"/>
                <a:cs typeface="Calibri" pitchFamily="34" charset="-120"/>
              </a:rPr>
              <a:t>6</a:t>
            </a:r>
            <a:endParaRPr lang="en-US" sz="900" dirty="0"/>
          </a:p>
        </p:txBody>
      </p:sp>
      <p:sp>
        <p:nvSpPr>
          <p:cNvPr id="22" name="Text 20"/>
          <p:cNvSpPr/>
          <p:nvPr/>
        </p:nvSpPr>
        <p:spPr>
          <a:xfrm>
            <a:off x="914400" y="3346704"/>
            <a:ext cx="3977640" cy="256032"/>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PCI-DSS: Vault Transit PAN tokenisation</a:t>
            </a:r>
            <a:endParaRPr lang="en-US" sz="1150" dirty="0"/>
          </a:p>
        </p:txBody>
      </p:sp>
      <p:sp>
        <p:nvSpPr>
          <p:cNvPr id="23" name="Shape 21"/>
          <p:cNvSpPr/>
          <p:nvPr/>
        </p:nvSpPr>
        <p:spPr>
          <a:xfrm>
            <a:off x="594360" y="3712464"/>
            <a:ext cx="219456" cy="219456"/>
          </a:xfrm>
          <a:prstGeom prst="ellipse">
            <a:avLst/>
          </a:prstGeom>
          <a:solidFill>
            <a:srgbClr val="F59E0B"/>
          </a:solidFill>
          <a:ln w="12700">
            <a:solidFill>
              <a:srgbClr val="F59E0B"/>
            </a:solidFill>
            <a:prstDash val="solid"/>
          </a:ln>
        </p:spPr>
      </p:sp>
      <p:sp>
        <p:nvSpPr>
          <p:cNvPr id="24" name="Text 22"/>
          <p:cNvSpPr/>
          <p:nvPr/>
        </p:nvSpPr>
        <p:spPr>
          <a:xfrm>
            <a:off x="594360" y="3712464"/>
            <a:ext cx="219456" cy="219456"/>
          </a:xfrm>
          <a:prstGeom prst="rect">
            <a:avLst/>
          </a:prstGeom>
          <a:noFill/>
          <a:ln/>
        </p:spPr>
        <p:txBody>
          <a:bodyPr wrap="square" rtlCol="0" anchor="ctr"/>
          <a:lstStyle/>
          <a:p>
            <a:pPr algn="ctr" indent="0" marL="0">
              <a:buNone/>
            </a:pPr>
            <a:r>
              <a:rPr lang="en-US" sz="900" b="1" dirty="0">
                <a:solidFill>
                  <a:srgbClr val="1E2761"/>
                </a:solidFill>
                <a:latin typeface="Calibri" pitchFamily="34" charset="0"/>
                <a:ea typeface="Calibri" pitchFamily="34" charset="-122"/>
                <a:cs typeface="Calibri" pitchFamily="34" charset="-120"/>
              </a:rPr>
              <a:t>7</a:t>
            </a:r>
            <a:endParaRPr lang="en-US" sz="900" dirty="0"/>
          </a:p>
        </p:txBody>
      </p:sp>
      <p:sp>
        <p:nvSpPr>
          <p:cNvPr id="25" name="Text 23"/>
          <p:cNvSpPr/>
          <p:nvPr/>
        </p:nvSpPr>
        <p:spPr>
          <a:xfrm>
            <a:off x="914400" y="3712464"/>
            <a:ext cx="3977640" cy="256032"/>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XGBoost fraud model + MLflow tracking</a:t>
            </a:r>
            <a:endParaRPr lang="en-US" sz="1150" dirty="0"/>
          </a:p>
        </p:txBody>
      </p:sp>
      <p:sp>
        <p:nvSpPr>
          <p:cNvPr id="26" name="Shape 24"/>
          <p:cNvSpPr/>
          <p:nvPr/>
        </p:nvSpPr>
        <p:spPr>
          <a:xfrm>
            <a:off x="594360" y="4078224"/>
            <a:ext cx="219456" cy="219456"/>
          </a:xfrm>
          <a:prstGeom prst="ellipse">
            <a:avLst/>
          </a:prstGeom>
          <a:solidFill>
            <a:srgbClr val="8096C4"/>
          </a:solidFill>
          <a:ln w="12700">
            <a:solidFill>
              <a:srgbClr val="8096C4"/>
            </a:solidFill>
            <a:prstDash val="solid"/>
          </a:ln>
        </p:spPr>
      </p:sp>
      <p:sp>
        <p:nvSpPr>
          <p:cNvPr id="27" name="Text 25"/>
          <p:cNvSpPr/>
          <p:nvPr/>
        </p:nvSpPr>
        <p:spPr>
          <a:xfrm>
            <a:off x="594360" y="4078224"/>
            <a:ext cx="219456" cy="219456"/>
          </a:xfrm>
          <a:prstGeom prst="rect">
            <a:avLst/>
          </a:prstGeom>
          <a:noFill/>
          <a:ln/>
        </p:spPr>
        <p:txBody>
          <a:bodyPr wrap="square" rtlCol="0" anchor="ctr"/>
          <a:lstStyle/>
          <a:p>
            <a:pPr algn="ctr" indent="0" marL="0">
              <a:buNone/>
            </a:pPr>
            <a:r>
              <a:rPr lang="en-US" sz="900" b="1" dirty="0">
                <a:solidFill>
                  <a:srgbClr val="1E2761"/>
                </a:solidFill>
                <a:latin typeface="Calibri" pitchFamily="34" charset="0"/>
                <a:ea typeface="Calibri" pitchFamily="34" charset="-122"/>
                <a:cs typeface="Calibri" pitchFamily="34" charset="-120"/>
              </a:rPr>
              <a:t>8</a:t>
            </a:r>
            <a:endParaRPr lang="en-US" sz="900" dirty="0"/>
          </a:p>
        </p:txBody>
      </p:sp>
      <p:sp>
        <p:nvSpPr>
          <p:cNvPr id="28" name="Text 26"/>
          <p:cNvSpPr/>
          <p:nvPr/>
        </p:nvSpPr>
        <p:spPr>
          <a:xfrm>
            <a:off x="914400" y="4078224"/>
            <a:ext cx="3977640" cy="256032"/>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Kubernetes (AKS): 14 microservices, multi-region</a:t>
            </a:r>
            <a:endParaRPr lang="en-US" sz="1150" dirty="0"/>
          </a:p>
        </p:txBody>
      </p:sp>
      <p:sp>
        <p:nvSpPr>
          <p:cNvPr id="29" name="Shape 27"/>
          <p:cNvSpPr/>
          <p:nvPr/>
        </p:nvSpPr>
        <p:spPr>
          <a:xfrm>
            <a:off x="594360" y="4443984"/>
            <a:ext cx="219456" cy="219456"/>
          </a:xfrm>
          <a:prstGeom prst="ellipse">
            <a:avLst/>
          </a:prstGeom>
          <a:solidFill>
            <a:srgbClr val="8096C4"/>
          </a:solidFill>
          <a:ln w="12700">
            <a:solidFill>
              <a:srgbClr val="8096C4"/>
            </a:solidFill>
            <a:prstDash val="solid"/>
          </a:ln>
        </p:spPr>
      </p:sp>
      <p:sp>
        <p:nvSpPr>
          <p:cNvPr id="30" name="Text 28"/>
          <p:cNvSpPr/>
          <p:nvPr/>
        </p:nvSpPr>
        <p:spPr>
          <a:xfrm>
            <a:off x="594360" y="4443984"/>
            <a:ext cx="219456" cy="219456"/>
          </a:xfrm>
          <a:prstGeom prst="rect">
            <a:avLst/>
          </a:prstGeom>
          <a:noFill/>
          <a:ln/>
        </p:spPr>
        <p:txBody>
          <a:bodyPr wrap="square" rtlCol="0" anchor="ctr"/>
          <a:lstStyle/>
          <a:p>
            <a:pPr algn="ctr" indent="0" marL="0">
              <a:buNone/>
            </a:pPr>
            <a:r>
              <a:rPr lang="en-US" sz="900" b="1" dirty="0">
                <a:solidFill>
                  <a:srgbClr val="1E2761"/>
                </a:solidFill>
                <a:latin typeface="Calibri" pitchFamily="34" charset="0"/>
                <a:ea typeface="Calibri" pitchFamily="34" charset="-122"/>
                <a:cs typeface="Calibri" pitchFamily="34" charset="-120"/>
              </a:rPr>
              <a:t>9</a:t>
            </a:r>
            <a:endParaRPr lang="en-US" sz="900" dirty="0"/>
          </a:p>
        </p:txBody>
      </p:sp>
      <p:sp>
        <p:nvSpPr>
          <p:cNvPr id="31" name="Text 29"/>
          <p:cNvSpPr/>
          <p:nvPr/>
        </p:nvSpPr>
        <p:spPr>
          <a:xfrm>
            <a:off x="914400" y="4443984"/>
            <a:ext cx="3977640" cy="256032"/>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LangGraph multi-agent: fraud + settlement</a:t>
            </a:r>
            <a:endParaRPr lang="en-US" sz="1150" dirty="0"/>
          </a:p>
        </p:txBody>
      </p:sp>
      <p:sp>
        <p:nvSpPr>
          <p:cNvPr id="32" name="Shape 30"/>
          <p:cNvSpPr/>
          <p:nvPr/>
        </p:nvSpPr>
        <p:spPr>
          <a:xfrm>
            <a:off x="5166360" y="987552"/>
            <a:ext cx="3611880" cy="3127248"/>
          </a:xfrm>
          <a:prstGeom prst="roundRect">
            <a:avLst>
              <a:gd name="adj" fmla="val 3509"/>
            </a:avLst>
          </a:prstGeom>
          <a:solidFill>
            <a:srgbClr val="253080"/>
          </a:solidFill>
          <a:ln w="12700">
            <a:solidFill>
              <a:srgbClr val="CADCFC"/>
            </a:solidFill>
            <a:prstDash val="solid"/>
          </a:ln>
          <a:effectLst>
            <a:outerShdw sx="100000" sy="100000" kx="0" ky="0" algn="bl" rotWithShape="0" blurRad="101600" dist="38100" dir="2700000">
              <a:srgbClr val="000000">
                <a:alpha val="30000"/>
              </a:srgbClr>
            </a:outerShdw>
          </a:effectLst>
        </p:spPr>
      </p:sp>
      <p:sp>
        <p:nvSpPr>
          <p:cNvPr id="33" name="Text 31"/>
          <p:cNvSpPr/>
          <p:nvPr/>
        </p:nvSpPr>
        <p:spPr>
          <a:xfrm>
            <a:off x="5349240" y="1060704"/>
            <a:ext cx="3246120" cy="301752"/>
          </a:xfrm>
          <a:prstGeom prst="rect">
            <a:avLst/>
          </a:prstGeom>
          <a:noFill/>
          <a:ln/>
        </p:spPr>
        <p:txBody>
          <a:bodyPr wrap="square"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What This Demonstrates</a:t>
            </a:r>
            <a:endParaRPr lang="en-US" sz="1300" dirty="0"/>
          </a:p>
        </p:txBody>
      </p:sp>
      <p:sp>
        <p:nvSpPr>
          <p:cNvPr id="34" name="Shape 32"/>
          <p:cNvSpPr/>
          <p:nvPr/>
        </p:nvSpPr>
        <p:spPr>
          <a:xfrm>
            <a:off x="5353812" y="1536192"/>
            <a:ext cx="118872" cy="118872"/>
          </a:xfrm>
          <a:prstGeom prst="ellipse">
            <a:avLst/>
          </a:prstGeom>
          <a:solidFill>
            <a:srgbClr val="22C55E"/>
          </a:solidFill>
          <a:ln w="12700">
            <a:solidFill>
              <a:srgbClr val="22C55E"/>
            </a:solidFill>
            <a:prstDash val="solid"/>
          </a:ln>
        </p:spPr>
      </p:sp>
      <p:sp>
        <p:nvSpPr>
          <p:cNvPr id="35" name="Text 33"/>
          <p:cNvSpPr/>
          <p:nvPr/>
        </p:nvSpPr>
        <p:spPr>
          <a:xfrm>
            <a:off x="5596128" y="1453896"/>
            <a:ext cx="3017520" cy="365760"/>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Production architecture — not a tutorial</a:t>
            </a:r>
            <a:endParaRPr lang="en-US" sz="1150" dirty="0"/>
          </a:p>
        </p:txBody>
      </p:sp>
      <p:sp>
        <p:nvSpPr>
          <p:cNvPr id="36" name="Shape 34"/>
          <p:cNvSpPr/>
          <p:nvPr/>
        </p:nvSpPr>
        <p:spPr>
          <a:xfrm>
            <a:off x="5353812" y="1929384"/>
            <a:ext cx="118872" cy="118872"/>
          </a:xfrm>
          <a:prstGeom prst="ellipse">
            <a:avLst/>
          </a:prstGeom>
          <a:solidFill>
            <a:srgbClr val="22C55E"/>
          </a:solidFill>
          <a:ln w="12700">
            <a:solidFill>
              <a:srgbClr val="22C55E"/>
            </a:solidFill>
            <a:prstDash val="solid"/>
          </a:ln>
        </p:spPr>
      </p:sp>
      <p:sp>
        <p:nvSpPr>
          <p:cNvPr id="37" name="Text 35"/>
          <p:cNvSpPr/>
          <p:nvPr/>
        </p:nvSpPr>
        <p:spPr>
          <a:xfrm>
            <a:off x="5596128" y="1847088"/>
            <a:ext cx="3017520" cy="365760"/>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12 ADRs — why, not just what</a:t>
            </a:r>
            <a:endParaRPr lang="en-US" sz="1150" dirty="0"/>
          </a:p>
        </p:txBody>
      </p:sp>
      <p:sp>
        <p:nvSpPr>
          <p:cNvPr id="38" name="Shape 36"/>
          <p:cNvSpPr/>
          <p:nvPr/>
        </p:nvSpPr>
        <p:spPr>
          <a:xfrm>
            <a:off x="5353812" y="2322576"/>
            <a:ext cx="118872" cy="118872"/>
          </a:xfrm>
          <a:prstGeom prst="ellipse">
            <a:avLst/>
          </a:prstGeom>
          <a:solidFill>
            <a:srgbClr val="22C55E"/>
          </a:solidFill>
          <a:ln w="12700">
            <a:solidFill>
              <a:srgbClr val="22C55E"/>
            </a:solidFill>
            <a:prstDash val="solid"/>
          </a:ln>
        </p:spPr>
      </p:sp>
      <p:sp>
        <p:nvSpPr>
          <p:cNvPr id="39" name="Text 37"/>
          <p:cNvSpPr/>
          <p:nvPr/>
        </p:nvSpPr>
        <p:spPr>
          <a:xfrm>
            <a:off x="5596128" y="2240280"/>
            <a:ext cx="3017520" cy="365760"/>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Hexagonal design — every domain extraction-ready</a:t>
            </a:r>
            <a:endParaRPr lang="en-US" sz="1150" dirty="0"/>
          </a:p>
        </p:txBody>
      </p:sp>
      <p:sp>
        <p:nvSpPr>
          <p:cNvPr id="40" name="Shape 38"/>
          <p:cNvSpPr/>
          <p:nvPr/>
        </p:nvSpPr>
        <p:spPr>
          <a:xfrm>
            <a:off x="5353812" y="2715768"/>
            <a:ext cx="118872" cy="118872"/>
          </a:xfrm>
          <a:prstGeom prst="ellipse">
            <a:avLst/>
          </a:prstGeom>
          <a:solidFill>
            <a:srgbClr val="22C55E"/>
          </a:solidFill>
          <a:ln w="12700">
            <a:solidFill>
              <a:srgbClr val="22C55E"/>
            </a:solidFill>
            <a:prstDash val="solid"/>
          </a:ln>
        </p:spPr>
      </p:sp>
      <p:sp>
        <p:nvSpPr>
          <p:cNvPr id="41" name="Text 39"/>
          <p:cNvSpPr/>
          <p:nvPr/>
        </p:nvSpPr>
        <p:spPr>
          <a:xfrm>
            <a:off x="5596128" y="2633472"/>
            <a:ext cx="3017520" cy="365760"/>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AI that degrades gracefully</a:t>
            </a:r>
            <a:endParaRPr lang="en-US" sz="1150" dirty="0"/>
          </a:p>
        </p:txBody>
      </p:sp>
      <p:sp>
        <p:nvSpPr>
          <p:cNvPr id="42" name="Shape 40"/>
          <p:cNvSpPr/>
          <p:nvPr/>
        </p:nvSpPr>
        <p:spPr>
          <a:xfrm>
            <a:off x="5353812" y="3108960"/>
            <a:ext cx="118872" cy="118872"/>
          </a:xfrm>
          <a:prstGeom prst="ellipse">
            <a:avLst/>
          </a:prstGeom>
          <a:solidFill>
            <a:srgbClr val="22C55E"/>
          </a:solidFill>
          <a:ln w="12700">
            <a:solidFill>
              <a:srgbClr val="22C55E"/>
            </a:solidFill>
            <a:prstDash val="solid"/>
          </a:ln>
        </p:spPr>
      </p:sp>
      <p:sp>
        <p:nvSpPr>
          <p:cNvPr id="43" name="Text 41"/>
          <p:cNvSpPr/>
          <p:nvPr/>
        </p:nvSpPr>
        <p:spPr>
          <a:xfrm>
            <a:off x="5596128" y="3026664"/>
            <a:ext cx="3017520" cy="365760"/>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Double-entry ledger — 0 imbalanced / 10,045</a:t>
            </a:r>
            <a:endParaRPr lang="en-US" sz="1150" dirty="0"/>
          </a:p>
        </p:txBody>
      </p:sp>
      <p:sp>
        <p:nvSpPr>
          <p:cNvPr id="44" name="Shape 42"/>
          <p:cNvSpPr/>
          <p:nvPr/>
        </p:nvSpPr>
        <p:spPr>
          <a:xfrm>
            <a:off x="5353812" y="3502152"/>
            <a:ext cx="118872" cy="118872"/>
          </a:xfrm>
          <a:prstGeom prst="ellipse">
            <a:avLst/>
          </a:prstGeom>
          <a:solidFill>
            <a:srgbClr val="22C55E"/>
          </a:solidFill>
          <a:ln w="12700">
            <a:solidFill>
              <a:srgbClr val="22C55E"/>
            </a:solidFill>
            <a:prstDash val="solid"/>
          </a:ln>
        </p:spPr>
      </p:sp>
      <p:sp>
        <p:nvSpPr>
          <p:cNvPr id="45" name="Text 43"/>
          <p:cNvSpPr/>
          <p:nvPr/>
        </p:nvSpPr>
        <p:spPr>
          <a:xfrm>
            <a:off x="5596128" y="3419856"/>
            <a:ext cx="3017520" cy="365760"/>
          </a:xfrm>
          <a:prstGeom prst="rect">
            <a:avLst/>
          </a:prstGeom>
          <a:noFill/>
          <a:ln/>
        </p:spPr>
        <p:txBody>
          <a:bodyPr wrap="square" lIns="50800" tIns="50800" rIns="50800" bIns="50800" rtlCol="0" anchor="t"/>
          <a:lstStyle/>
          <a:p>
            <a:pPr algn="l" indent="0" marL="0">
              <a:buNone/>
            </a:pPr>
            <a:r>
              <a:rPr lang="en-US" sz="1150" dirty="0">
                <a:solidFill>
                  <a:srgbClr val="E8EDF8"/>
                </a:solidFill>
                <a:latin typeface="Calibri" pitchFamily="34" charset="0"/>
                <a:ea typeface="Calibri" pitchFamily="34" charset="-122"/>
                <a:cs typeface="Calibri" pitchFamily="34" charset="-120"/>
              </a:rPr>
              <a:t>Honest gaps — documented, not hidden</a:t>
            </a:r>
            <a:endParaRPr lang="en-US" sz="1150" dirty="0"/>
          </a:p>
        </p:txBody>
      </p:sp>
      <p:sp>
        <p:nvSpPr>
          <p:cNvPr id="46" name="Shape 44"/>
          <p:cNvSpPr/>
          <p:nvPr/>
        </p:nvSpPr>
        <p:spPr>
          <a:xfrm>
            <a:off x="365760" y="4846320"/>
            <a:ext cx="8412480" cy="201168"/>
          </a:xfrm>
          <a:prstGeom prst="roundRect">
            <a:avLst>
              <a:gd name="adj" fmla="val 54545"/>
            </a:avLst>
          </a:prstGeom>
          <a:solidFill>
            <a:srgbClr val="0D2020"/>
          </a:solidFill>
          <a:ln w="12700">
            <a:solidFill>
              <a:srgbClr val="CADCFC"/>
            </a:solidFill>
            <a:prstDash val="solid"/>
          </a:ln>
          <a:effectLst>
            <a:outerShdw sx="100000" sy="100000" kx="0" ky="0" algn="bl" rotWithShape="0" blurRad="101600" dist="38100" dir="2700000">
              <a:srgbClr val="000000">
                <a:alpha val="30000"/>
              </a:srgbClr>
            </a:outerShdw>
          </a:effectLst>
        </p:spPr>
      </p:sp>
      <p:sp>
        <p:nvSpPr>
          <p:cNvPr id="47" name="Text 45"/>
          <p:cNvSpPr/>
          <p:nvPr/>
        </p:nvSpPr>
        <p:spPr>
          <a:xfrm>
            <a:off x="594360" y="4855464"/>
            <a:ext cx="7955280" cy="182880"/>
          </a:xfrm>
          <a:prstGeom prst="rect">
            <a:avLst/>
          </a:prstGeom>
          <a:noFill/>
          <a:ln/>
        </p:spPr>
        <p:txBody>
          <a:bodyPr wrap="square" rtlCol="0" anchor="ctr"/>
          <a:lstStyle/>
          <a:p>
            <a:pPr algn="ctr" indent="0" marL="0">
              <a:buNone/>
            </a:pPr>
            <a:r>
              <a:rPr lang="en-US" sz="1100" i="1" dirty="0">
                <a:solidFill>
                  <a:srgbClr val="CADCFC"/>
                </a:solidFill>
                <a:latin typeface="Calibri" pitchFamily="34" charset="0"/>
                <a:ea typeface="Calibri" pitchFamily="34" charset="-122"/>
                <a:cs typeface="Calibri" pitchFamily="34" charset="-120"/>
              </a:rPr>
              <a:t>"The correct answer to 'is this production-ready?' is: the architecture is right, the gaps are known, and the path is clear."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Payment Gateway Platform</dc:title>
  <dc:subject>Capstone Presentation</dc:subject>
  <dc:creator>Jayachandran</dc:creator>
  <cp:lastModifiedBy>Jayachandran</cp:lastModifiedBy>
  <cp:revision>1</cp:revision>
  <dcterms:created xsi:type="dcterms:W3CDTF">2026-06-21T10:23:21Z</dcterms:created>
  <dcterms:modified xsi:type="dcterms:W3CDTF">2026-06-21T10:23:21Z</dcterms:modified>
</cp:coreProperties>
</file>